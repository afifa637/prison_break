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libri (MS)" charset="1" panose="020F0502020204030204"/>
      <p:regular r:id="rId31"/>
    </p:embeddedFont>
    <p:embeddedFont>
      <p:font typeface="TT Rounds Condensed" charset="1" panose="02000506030000020003"/>
      <p:regular r:id="rId32"/>
    </p:embeddedFont>
    <p:embeddedFont>
      <p:font typeface="Calibri (MS) Bold" charset="1" panose="020F0702030404030204"/>
      <p:regular r:id="rId33"/>
    </p:embeddedFont>
    <p:embeddedFont>
      <p:font typeface="Canva Sans" charset="1" panose="020B0503030501040103"/>
      <p:regular r:id="rId34"/>
    </p:embeddedFont>
    <p:embeddedFont>
      <p:font typeface="Arial Bold" charset="1" panose="020B0704020202020204"/>
      <p:regular r:id="rId36"/>
    </p:embeddedFont>
    <p:embeddedFont>
      <p:font typeface="Times New Roman" charset="1" panose="02020603050405020304"/>
      <p:regular r:id="rId39"/>
    </p:embeddedFont>
    <p:embeddedFont>
      <p:font typeface="Consolas" charset="1" panose="020B0609020204030204"/>
      <p:regular r:id="rId44"/>
    </p:embeddedFont>
    <p:embeddedFont>
      <p:font typeface="Canva Sans Bold" charset="1" panose="020B0803030501040103"/>
      <p:regular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notesMasters/notesMaster1.xml" Type="http://schemas.openxmlformats.org/officeDocument/2006/relationships/notesMaster"/><Relationship Id="rId29" Target="theme/theme2.xml" Type="http://schemas.openxmlformats.org/officeDocument/2006/relationships/theme"/><Relationship Id="rId3" Target="viewProps.xml" Type="http://schemas.openxmlformats.org/officeDocument/2006/relationships/viewProps"/><Relationship Id="rId30" Target="notesSlides/notesSlide1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2.xml" Type="http://schemas.openxmlformats.org/officeDocument/2006/relationships/notesSlide"/><Relationship Id="rId36" Target="fonts/font36.fntdata" Type="http://schemas.openxmlformats.org/officeDocument/2006/relationships/font"/><Relationship Id="rId37" Target="notesSlides/notesSlide3.xml" Type="http://schemas.openxmlformats.org/officeDocument/2006/relationships/notesSlide"/><Relationship Id="rId38" Target="notesSlides/notesSlide4.xml" Type="http://schemas.openxmlformats.org/officeDocument/2006/relationships/notes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fonts/font44.fntdata" Type="http://schemas.openxmlformats.org/officeDocument/2006/relationships/font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notesSlides/notesSlide13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4.xml" Type="http://schemas.openxmlformats.org/officeDocument/2006/relationships/notesSlide"/><Relationship Id="rId51" Target="fonts/font51.fntdata" Type="http://schemas.openxmlformats.org/officeDocument/2006/relationships/font"/><Relationship Id="rId52" Target="notesSlides/notesSlide15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8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9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10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13" Target="../media/image14.png" Type="http://schemas.openxmlformats.org/officeDocument/2006/relationships/image"/><Relationship Id="rId14" Target="../media/image15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20.png" Type="http://schemas.openxmlformats.org/officeDocument/2006/relationships/image"/><Relationship Id="rId16" Target="../media/image21.svg" Type="http://schemas.openxmlformats.org/officeDocument/2006/relationships/image"/><Relationship Id="rId17" Target="../media/image22.png" Type="http://schemas.openxmlformats.org/officeDocument/2006/relationships/image"/><Relationship Id="rId18" Target="../media/image23.svg" Type="http://schemas.openxmlformats.org/officeDocument/2006/relationships/image"/><Relationship Id="rId19" Target="../media/image24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25.sv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31.png" Type="http://schemas.openxmlformats.org/officeDocument/2006/relationships/image"/><Relationship Id="rId12" Target="../media/image32.svg" Type="http://schemas.openxmlformats.org/officeDocument/2006/relationships/image"/><Relationship Id="rId13" Target="../media/image33.png" Type="http://schemas.openxmlformats.org/officeDocument/2006/relationships/image"/><Relationship Id="rId14" Target="../media/image34.svg" Type="http://schemas.openxmlformats.org/officeDocument/2006/relationships/image"/><Relationship Id="rId15" Target="../media/image35.png" Type="http://schemas.openxmlformats.org/officeDocument/2006/relationships/image"/><Relationship Id="rId16" Target="../media/image36.svg" Type="http://schemas.openxmlformats.org/officeDocument/2006/relationships/image"/><Relationship Id="rId17" Target="../media/image37.png" Type="http://schemas.openxmlformats.org/officeDocument/2006/relationships/image"/><Relationship Id="rId18" Target="../media/image38.svg" Type="http://schemas.openxmlformats.org/officeDocument/2006/relationships/image"/><Relationship Id="rId19" Target="../media/image39.pn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40.svg" Type="http://schemas.openxmlformats.org/officeDocument/2006/relationships/image"/><Relationship Id="rId21" Target="../media/image41.png" Type="http://schemas.openxmlformats.org/officeDocument/2006/relationships/image"/><Relationship Id="rId22" Target="../media/image42.svg" Type="http://schemas.openxmlformats.org/officeDocument/2006/relationships/image"/><Relationship Id="rId23" Target="../media/image43.png" Type="http://schemas.openxmlformats.org/officeDocument/2006/relationships/image"/><Relationship Id="rId24" Target="../media/image44.sv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media/image47.png" Type="http://schemas.openxmlformats.org/officeDocument/2006/relationships/image"/><Relationship Id="rId14" Target="../media/image48.svg" Type="http://schemas.openxmlformats.org/officeDocument/2006/relationships/image"/><Relationship Id="rId15" Target="../media/image49.png" Type="http://schemas.openxmlformats.org/officeDocument/2006/relationships/image"/><Relationship Id="rId16" Target="../media/image50.svg" Type="http://schemas.openxmlformats.org/officeDocument/2006/relationships/image"/><Relationship Id="rId17" Target="../media/image51.png" Type="http://schemas.openxmlformats.org/officeDocument/2006/relationships/image"/><Relationship Id="rId18" Target="../media/image52.svg" Type="http://schemas.openxmlformats.org/officeDocument/2006/relationships/image"/><Relationship Id="rId19" Target="../media/image53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54.png" Type="http://schemas.openxmlformats.org/officeDocument/2006/relationships/image"/><Relationship Id="rId21" Target="../media/image55.svg" Type="http://schemas.openxmlformats.org/officeDocument/2006/relationships/image"/><Relationship Id="rId22" Target="../media/image56.png" Type="http://schemas.openxmlformats.org/officeDocument/2006/relationships/image"/><Relationship Id="rId23" Target="../media/image57.svg" Type="http://schemas.openxmlformats.org/officeDocument/2006/relationships/image"/><Relationship Id="rId24" Target="../media/image58.png" Type="http://schemas.openxmlformats.org/officeDocument/2006/relationships/image"/><Relationship Id="rId25" Target="../media/image59.sv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0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63.png" Type="http://schemas.openxmlformats.org/officeDocument/2006/relationships/image"/><Relationship Id="rId12" Target="../media/image64.svg" Type="http://schemas.openxmlformats.org/officeDocument/2006/relationships/image"/><Relationship Id="rId13" Target="../media/image65.png" Type="http://schemas.openxmlformats.org/officeDocument/2006/relationships/image"/><Relationship Id="rId14" Target="../media/image66.svg" Type="http://schemas.openxmlformats.org/officeDocument/2006/relationships/image"/><Relationship Id="rId15" Target="../media/image67.png" Type="http://schemas.openxmlformats.org/officeDocument/2006/relationships/image"/><Relationship Id="rId16" Target="../media/image68.svg" Type="http://schemas.openxmlformats.org/officeDocument/2006/relationships/image"/><Relationship Id="rId17" Target="../media/image69.png" Type="http://schemas.openxmlformats.org/officeDocument/2006/relationships/image"/><Relationship Id="rId18" Target="../media/image70.svg" Type="http://schemas.openxmlformats.org/officeDocument/2006/relationships/image"/><Relationship Id="rId19" Target="../media/image71.png" Type="http://schemas.openxmlformats.org/officeDocument/2006/relationships/image"/><Relationship Id="rId2" Target="../notesSlides/notesSlide6.xml" Type="http://schemas.openxmlformats.org/officeDocument/2006/relationships/notesSlide"/><Relationship Id="rId20" Target="../media/image72.svg" Type="http://schemas.openxmlformats.org/officeDocument/2006/relationships/image"/><Relationship Id="rId21" Target="../media/image73.png" Type="http://schemas.openxmlformats.org/officeDocument/2006/relationships/image"/><Relationship Id="rId22" Target="../media/image74.svg" Type="http://schemas.openxmlformats.org/officeDocument/2006/relationships/image"/><Relationship Id="rId23" Target="../media/image75.png" Type="http://schemas.openxmlformats.org/officeDocument/2006/relationships/image"/><Relationship Id="rId24" Target="../media/image76.svg" Type="http://schemas.openxmlformats.org/officeDocument/2006/relationships/image"/><Relationship Id="rId25" Target="../media/image77.png" Type="http://schemas.openxmlformats.org/officeDocument/2006/relationships/image"/><Relationship Id="rId26" Target="../media/image78.png" Type="http://schemas.openxmlformats.org/officeDocument/2006/relationships/image"/><Relationship Id="rId27" Target="../media/image79.svg" Type="http://schemas.openxmlformats.org/officeDocument/2006/relationships/image"/><Relationship Id="rId28" Target="../media/image80.png" Type="http://schemas.openxmlformats.org/officeDocument/2006/relationships/image"/><Relationship Id="rId29" Target="../media/image81.sv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2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83.png" Type="http://schemas.openxmlformats.org/officeDocument/2006/relationships/image"/><Relationship Id="rId12" Target="../media/image84.svg" Type="http://schemas.openxmlformats.org/officeDocument/2006/relationships/image"/><Relationship Id="rId13" Target="../media/image85.png" Type="http://schemas.openxmlformats.org/officeDocument/2006/relationships/image"/><Relationship Id="rId14" Target="../media/image86.svg" Type="http://schemas.openxmlformats.org/officeDocument/2006/relationships/image"/><Relationship Id="rId15" Target="../media/image87.png" Type="http://schemas.openxmlformats.org/officeDocument/2006/relationships/image"/><Relationship Id="rId16" Target="../media/image88.svg" Type="http://schemas.openxmlformats.org/officeDocument/2006/relationships/image"/><Relationship Id="rId17" Target="../media/image89.png" Type="http://schemas.openxmlformats.org/officeDocument/2006/relationships/image"/><Relationship Id="rId18" Target="../media/image90.svg" Type="http://schemas.openxmlformats.org/officeDocument/2006/relationships/image"/><Relationship Id="rId19" Target="../media/image91.png" Type="http://schemas.openxmlformats.org/officeDocument/2006/relationships/image"/><Relationship Id="rId2" Target="../notesSlides/notesSlide7.xml" Type="http://schemas.openxmlformats.org/officeDocument/2006/relationships/notesSlide"/><Relationship Id="rId20" Target="../media/image92.svg" Type="http://schemas.openxmlformats.org/officeDocument/2006/relationships/image"/><Relationship Id="rId21" Target="../media/image93.png" Type="http://schemas.openxmlformats.org/officeDocument/2006/relationships/image"/><Relationship Id="rId22" Target="../media/image94.svg" Type="http://schemas.openxmlformats.org/officeDocument/2006/relationships/image"/><Relationship Id="rId23" Target="../media/image95.png" Type="http://schemas.openxmlformats.org/officeDocument/2006/relationships/image"/><Relationship Id="rId24" Target="../media/image96.svg" Type="http://schemas.openxmlformats.org/officeDocument/2006/relationships/image"/><Relationship Id="rId25" Target="../media/image97.png" Type="http://schemas.openxmlformats.org/officeDocument/2006/relationships/image"/><Relationship Id="rId26" Target="../media/image98.svg" Type="http://schemas.openxmlformats.org/officeDocument/2006/relationships/image"/><Relationship Id="rId27" Target="../media/image99.png" Type="http://schemas.openxmlformats.org/officeDocument/2006/relationships/image"/><Relationship Id="rId28" Target="../media/image100.sv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4.jpeg" Type="http://schemas.openxmlformats.org/officeDocument/2006/relationships/image"/><Relationship Id="rId12" Target="../media/image106.png" Type="http://schemas.openxmlformats.org/officeDocument/2006/relationships/image"/><Relationship Id="rId13" Target="../media/image107.svg" Type="http://schemas.openxmlformats.org/officeDocument/2006/relationships/image"/><Relationship Id="rId14" Target="../media/image108.png" Type="http://schemas.openxmlformats.org/officeDocument/2006/relationships/image"/><Relationship Id="rId15" Target="../media/image109.svg" Type="http://schemas.openxmlformats.org/officeDocument/2006/relationships/image"/><Relationship Id="rId16" Target="../media/image110.png" Type="http://schemas.openxmlformats.org/officeDocument/2006/relationships/image"/><Relationship Id="rId17" Target="../media/image111.svg" Type="http://schemas.openxmlformats.org/officeDocument/2006/relationships/image"/><Relationship Id="rId18" Target="../media/image112.png" Type="http://schemas.openxmlformats.org/officeDocument/2006/relationships/image"/><Relationship Id="rId19" Target="../media/image113.svg" Type="http://schemas.openxmlformats.org/officeDocument/2006/relationships/image"/><Relationship Id="rId2" Target="../notesSlides/notesSlide8.xml" Type="http://schemas.openxmlformats.org/officeDocument/2006/relationships/notesSlide"/><Relationship Id="rId20" Target="../media/image114.png" Type="http://schemas.openxmlformats.org/officeDocument/2006/relationships/image"/><Relationship Id="rId21" Target="../media/image115.svg" Type="http://schemas.openxmlformats.org/officeDocument/2006/relationships/image"/><Relationship Id="rId22" Target="../media/image116.png" Type="http://schemas.openxmlformats.org/officeDocument/2006/relationships/image"/><Relationship Id="rId23" Target="../media/image117.svg" Type="http://schemas.openxmlformats.org/officeDocument/2006/relationships/image"/><Relationship Id="rId24" Target="../media/image77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101.png" Type="http://schemas.openxmlformats.org/officeDocument/2006/relationships/image"/><Relationship Id="rId6" Target="../media/image102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Relationship Id="rId9" Target="../media/image10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8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121.png" Type="http://schemas.openxmlformats.org/officeDocument/2006/relationships/image"/><Relationship Id="rId12" Target="../media/image122.svg" Type="http://schemas.openxmlformats.org/officeDocument/2006/relationships/image"/><Relationship Id="rId13" Target="../media/image123.png" Type="http://schemas.openxmlformats.org/officeDocument/2006/relationships/image"/><Relationship Id="rId14" Target="../media/image124.svg" Type="http://schemas.openxmlformats.org/officeDocument/2006/relationships/image"/><Relationship Id="rId15" Target="../media/image125.png" Type="http://schemas.openxmlformats.org/officeDocument/2006/relationships/image"/><Relationship Id="rId16" Target="../media/image126.svg" Type="http://schemas.openxmlformats.org/officeDocument/2006/relationships/image"/><Relationship Id="rId17" Target="../media/image127.png" Type="http://schemas.openxmlformats.org/officeDocument/2006/relationships/image"/><Relationship Id="rId18" Target="../media/image128.svg" Type="http://schemas.openxmlformats.org/officeDocument/2006/relationships/image"/><Relationship Id="rId19" Target="../media/image129.png" Type="http://schemas.openxmlformats.org/officeDocument/2006/relationships/image"/><Relationship Id="rId2" Target="../notesSlides/notesSlide9.xml" Type="http://schemas.openxmlformats.org/officeDocument/2006/relationships/notesSlide"/><Relationship Id="rId20" Target="../media/image130.svg" Type="http://schemas.openxmlformats.org/officeDocument/2006/relationships/image"/><Relationship Id="rId21" Target="../media/image131.png" Type="http://schemas.openxmlformats.org/officeDocument/2006/relationships/image"/><Relationship Id="rId22" Target="../media/image132.svg" Type="http://schemas.openxmlformats.org/officeDocument/2006/relationships/image"/><Relationship Id="rId23" Target="../media/image133.png" Type="http://schemas.openxmlformats.org/officeDocument/2006/relationships/image"/><Relationship Id="rId24" Target="../media/image134.svg" Type="http://schemas.openxmlformats.org/officeDocument/2006/relationships/image"/><Relationship Id="rId25" Target="../media/image135.png" Type="http://schemas.openxmlformats.org/officeDocument/2006/relationships/image"/><Relationship Id="rId26" Target="../media/image136.svg" Type="http://schemas.openxmlformats.org/officeDocument/2006/relationships/image"/><Relationship Id="rId27" Target="../media/image77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119.png" Type="http://schemas.openxmlformats.org/officeDocument/2006/relationships/image"/><Relationship Id="rId8" Target="../media/image120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7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142.png" Type="http://schemas.openxmlformats.org/officeDocument/2006/relationships/image"/><Relationship Id="rId12" Target="../media/image143.svg" Type="http://schemas.openxmlformats.org/officeDocument/2006/relationships/image"/><Relationship Id="rId13" Target="../media/image144.png" Type="http://schemas.openxmlformats.org/officeDocument/2006/relationships/image"/><Relationship Id="rId14" Target="../media/image145.svg" Type="http://schemas.openxmlformats.org/officeDocument/2006/relationships/image"/><Relationship Id="rId15" Target="../media/image146.png" Type="http://schemas.openxmlformats.org/officeDocument/2006/relationships/image"/><Relationship Id="rId16" Target="../media/image147.svg" Type="http://schemas.openxmlformats.org/officeDocument/2006/relationships/image"/><Relationship Id="rId17" Target="../media/image148.png" Type="http://schemas.openxmlformats.org/officeDocument/2006/relationships/image"/><Relationship Id="rId18" Target="../media/image149.svg" Type="http://schemas.openxmlformats.org/officeDocument/2006/relationships/image"/><Relationship Id="rId19" Target="../media/image150.pn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151.svg" Type="http://schemas.openxmlformats.org/officeDocument/2006/relationships/image"/><Relationship Id="rId21" Target="../media/image152.png" Type="http://schemas.openxmlformats.org/officeDocument/2006/relationships/image"/><Relationship Id="rId22" Target="../media/image153.svg" Type="http://schemas.openxmlformats.org/officeDocument/2006/relationships/image"/><Relationship Id="rId23" Target="../media/image154.png" Type="http://schemas.openxmlformats.org/officeDocument/2006/relationships/image"/><Relationship Id="rId24" Target="../media/image155.svg" Type="http://schemas.openxmlformats.org/officeDocument/2006/relationships/image"/><Relationship Id="rId25" Target="../media/image156.png" Type="http://schemas.openxmlformats.org/officeDocument/2006/relationships/image"/><Relationship Id="rId26" Target="../media/image157.svg" Type="http://schemas.openxmlformats.org/officeDocument/2006/relationships/image"/><Relationship Id="rId27" Target="../media/image158.png" Type="http://schemas.openxmlformats.org/officeDocument/2006/relationships/image"/><Relationship Id="rId28" Target="../media/image159.svg" Type="http://schemas.openxmlformats.org/officeDocument/2006/relationships/image"/><Relationship Id="rId29" Target="../media/image160.png" Type="http://schemas.openxmlformats.org/officeDocument/2006/relationships/image"/><Relationship Id="rId3" Target="../media/image6.png" Type="http://schemas.openxmlformats.org/officeDocument/2006/relationships/image"/><Relationship Id="rId30" Target="../media/image161.svg" Type="http://schemas.openxmlformats.org/officeDocument/2006/relationships/image"/><Relationship Id="rId31" Target="../media/image162.png" Type="http://schemas.openxmlformats.org/officeDocument/2006/relationships/image"/><Relationship Id="rId32" Target="../media/image163.svg" Type="http://schemas.openxmlformats.org/officeDocument/2006/relationships/image"/><Relationship Id="rId33" Target="../media/image164.png" Type="http://schemas.openxmlformats.org/officeDocument/2006/relationships/image"/><Relationship Id="rId34" Target="../media/image165.svg" Type="http://schemas.openxmlformats.org/officeDocument/2006/relationships/image"/><Relationship Id="rId4" Target="../media/image7.png" Type="http://schemas.openxmlformats.org/officeDocument/2006/relationships/image"/><Relationship Id="rId5" Target="../media/image138.png" Type="http://schemas.openxmlformats.org/officeDocument/2006/relationships/image"/><Relationship Id="rId6" Target="../media/image139.svg" Type="http://schemas.openxmlformats.org/officeDocument/2006/relationships/image"/><Relationship Id="rId7" Target="../media/image140.png" Type="http://schemas.openxmlformats.org/officeDocument/2006/relationships/image"/><Relationship Id="rId8" Target="../media/image14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166.png" Type="http://schemas.openxmlformats.org/officeDocument/2006/relationships/image"/><Relationship Id="rId12" Target="../media/image167.svg" Type="http://schemas.openxmlformats.org/officeDocument/2006/relationships/image"/><Relationship Id="rId13" Target="../media/image168.png" Type="http://schemas.openxmlformats.org/officeDocument/2006/relationships/image"/><Relationship Id="rId14" Target="../media/image169.svg" Type="http://schemas.openxmlformats.org/officeDocument/2006/relationships/image"/><Relationship Id="rId15" Target="../media/image170.png" Type="http://schemas.openxmlformats.org/officeDocument/2006/relationships/image"/><Relationship Id="rId16" Target="../media/image171.svg" Type="http://schemas.openxmlformats.org/officeDocument/2006/relationships/image"/><Relationship Id="rId17" Target="../media/image172.png" Type="http://schemas.openxmlformats.org/officeDocument/2006/relationships/image"/><Relationship Id="rId18" Target="../media/image173.svg" Type="http://schemas.openxmlformats.org/officeDocument/2006/relationships/image"/><Relationship Id="rId19" Target="../media/image174.png" Type="http://schemas.openxmlformats.org/officeDocument/2006/relationships/image"/><Relationship Id="rId2" Target="../notesSlides/notesSlide11.xml" Type="http://schemas.openxmlformats.org/officeDocument/2006/relationships/notesSlide"/><Relationship Id="rId20" Target="../media/image175.svg" Type="http://schemas.openxmlformats.org/officeDocument/2006/relationships/image"/><Relationship Id="rId21" Target="../media/image176.png" Type="http://schemas.openxmlformats.org/officeDocument/2006/relationships/image"/><Relationship Id="rId22" Target="../media/image177.svg" Type="http://schemas.openxmlformats.org/officeDocument/2006/relationships/image"/><Relationship Id="rId23" Target="../media/image178.png" Type="http://schemas.openxmlformats.org/officeDocument/2006/relationships/image"/><Relationship Id="rId24" Target="../media/image179.svg" Type="http://schemas.openxmlformats.org/officeDocument/2006/relationships/image"/><Relationship Id="rId25" Target="../media/image180.png" Type="http://schemas.openxmlformats.org/officeDocument/2006/relationships/image"/><Relationship Id="rId26" Target="../media/image181.svg" Type="http://schemas.openxmlformats.org/officeDocument/2006/relationships/image"/><Relationship Id="rId27" Target="../media/image182.png" Type="http://schemas.openxmlformats.org/officeDocument/2006/relationships/image"/><Relationship Id="rId28" Target="../media/image183.svg" Type="http://schemas.openxmlformats.org/officeDocument/2006/relationships/image"/><Relationship Id="rId29" Target="../media/image184.png" Type="http://schemas.openxmlformats.org/officeDocument/2006/relationships/image"/><Relationship Id="rId3" Target="../media/image6.png" Type="http://schemas.openxmlformats.org/officeDocument/2006/relationships/image"/><Relationship Id="rId30" Target="../media/image185.sv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186.png" Type="http://schemas.openxmlformats.org/officeDocument/2006/relationships/image"/><Relationship Id="rId12" Target="../media/image187.svg" Type="http://schemas.openxmlformats.org/officeDocument/2006/relationships/image"/><Relationship Id="rId13" Target="../media/image188.png" Type="http://schemas.openxmlformats.org/officeDocument/2006/relationships/image"/><Relationship Id="rId14" Target="../media/image189.svg" Type="http://schemas.openxmlformats.org/officeDocument/2006/relationships/image"/><Relationship Id="rId15" Target="../media/image190.png" Type="http://schemas.openxmlformats.org/officeDocument/2006/relationships/image"/><Relationship Id="rId16" Target="../media/image191.svg" Type="http://schemas.openxmlformats.org/officeDocument/2006/relationships/image"/><Relationship Id="rId17" Target="../media/image192.png" Type="http://schemas.openxmlformats.org/officeDocument/2006/relationships/image"/><Relationship Id="rId18" Target="../media/image193.svg" Type="http://schemas.openxmlformats.org/officeDocument/2006/relationships/image"/><Relationship Id="rId19" Target="../media/image194.png" Type="http://schemas.openxmlformats.org/officeDocument/2006/relationships/image"/><Relationship Id="rId2" Target="../notesSlides/notesSlide12.xml" Type="http://schemas.openxmlformats.org/officeDocument/2006/relationships/notesSlide"/><Relationship Id="rId20" Target="../media/image195.svg" Type="http://schemas.openxmlformats.org/officeDocument/2006/relationships/image"/><Relationship Id="rId21" Target="../media/image196.png" Type="http://schemas.openxmlformats.org/officeDocument/2006/relationships/image"/><Relationship Id="rId22" Target="../media/image197.svg" Type="http://schemas.openxmlformats.org/officeDocument/2006/relationships/image"/><Relationship Id="rId23" Target="../media/image198.png" Type="http://schemas.openxmlformats.org/officeDocument/2006/relationships/image"/><Relationship Id="rId24" Target="../media/image199.svg" Type="http://schemas.openxmlformats.org/officeDocument/2006/relationships/image"/><Relationship Id="rId25" Target="../media/image200.png" Type="http://schemas.openxmlformats.org/officeDocument/2006/relationships/image"/><Relationship Id="rId26" Target="../media/image201.sv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202.png" Type="http://schemas.openxmlformats.org/officeDocument/2006/relationships/image"/><Relationship Id="rId12" Target="../media/image203.svg" Type="http://schemas.openxmlformats.org/officeDocument/2006/relationships/image"/><Relationship Id="rId13" Target="../media/image204.png" Type="http://schemas.openxmlformats.org/officeDocument/2006/relationships/image"/><Relationship Id="rId14" Target="../media/image205.svg" Type="http://schemas.openxmlformats.org/officeDocument/2006/relationships/image"/><Relationship Id="rId15" Target="../media/image206.png" Type="http://schemas.openxmlformats.org/officeDocument/2006/relationships/image"/><Relationship Id="rId16" Target="../media/image207.svg" Type="http://schemas.openxmlformats.org/officeDocument/2006/relationships/image"/><Relationship Id="rId17" Target="../media/image208.png" Type="http://schemas.openxmlformats.org/officeDocument/2006/relationships/image"/><Relationship Id="rId18" Target="../media/image209.svg" Type="http://schemas.openxmlformats.org/officeDocument/2006/relationships/image"/><Relationship Id="rId19" Target="../media/image210.png" Type="http://schemas.openxmlformats.org/officeDocument/2006/relationships/image"/><Relationship Id="rId2" Target="../notesSlides/notesSlide13.xml" Type="http://schemas.openxmlformats.org/officeDocument/2006/relationships/notesSlide"/><Relationship Id="rId20" Target="../media/image211.svg" Type="http://schemas.openxmlformats.org/officeDocument/2006/relationships/image"/><Relationship Id="rId21" Target="../media/image212.png" Type="http://schemas.openxmlformats.org/officeDocument/2006/relationships/image"/><Relationship Id="rId22" Target="../media/image213.sv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jpeg" Type="http://schemas.openxmlformats.org/officeDocument/2006/relationships/image"/><Relationship Id="rId11" Target="../media/image214.png" Type="http://schemas.openxmlformats.org/officeDocument/2006/relationships/image"/><Relationship Id="rId12" Target="../media/image215.svg" Type="http://schemas.openxmlformats.org/officeDocument/2006/relationships/image"/><Relationship Id="rId13" Target="../media/image216.png" Type="http://schemas.openxmlformats.org/officeDocument/2006/relationships/image"/><Relationship Id="rId14" Target="../media/image217.svg" Type="http://schemas.openxmlformats.org/officeDocument/2006/relationships/image"/><Relationship Id="rId15" Target="../media/image218.png" Type="http://schemas.openxmlformats.org/officeDocument/2006/relationships/image"/><Relationship Id="rId16" Target="../media/image219.svg" Type="http://schemas.openxmlformats.org/officeDocument/2006/relationships/image"/><Relationship Id="rId17" Target="../media/image220.png" Type="http://schemas.openxmlformats.org/officeDocument/2006/relationships/image"/><Relationship Id="rId18" Target="../media/image221.svg" Type="http://schemas.openxmlformats.org/officeDocument/2006/relationships/image"/><Relationship Id="rId19" Target="../media/image222.png" Type="http://schemas.openxmlformats.org/officeDocument/2006/relationships/image"/><Relationship Id="rId2" Target="../notesSlides/notesSlide14.xml" Type="http://schemas.openxmlformats.org/officeDocument/2006/relationships/notesSlide"/><Relationship Id="rId20" Target="../media/image223.svg" Type="http://schemas.openxmlformats.org/officeDocument/2006/relationships/image"/><Relationship Id="rId21" Target="../media/image224.png" Type="http://schemas.openxmlformats.org/officeDocument/2006/relationships/image"/><Relationship Id="rId22" Target="../media/image225.svg" Type="http://schemas.openxmlformats.org/officeDocument/2006/relationships/image"/><Relationship Id="rId23" Target="../media/image226.png" Type="http://schemas.openxmlformats.org/officeDocument/2006/relationships/image"/><Relationship Id="rId24" Target="../media/image227.svg" Type="http://schemas.openxmlformats.org/officeDocument/2006/relationships/image"/><Relationship Id="rId25" Target="../media/image228.png" Type="http://schemas.openxmlformats.org/officeDocument/2006/relationships/image"/><Relationship Id="rId26" Target="../media/image229.svg" Type="http://schemas.openxmlformats.org/officeDocument/2006/relationships/image"/><Relationship Id="rId27" Target="../media/image230.png" Type="http://schemas.openxmlformats.org/officeDocument/2006/relationships/image"/><Relationship Id="rId28" Target="../media/image231.sv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4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8.png" Type="http://schemas.openxmlformats.org/officeDocument/2006/relationships/image"/><Relationship Id="rId12" Target="../media/image9.svg" Type="http://schemas.openxmlformats.org/officeDocument/2006/relationships/image"/><Relationship Id="rId13" Target="../media/image10.png" Type="http://schemas.openxmlformats.org/officeDocument/2006/relationships/image"/><Relationship Id="rId14" Target="../media/image11.svg" Type="http://schemas.openxmlformats.org/officeDocument/2006/relationships/image"/><Relationship Id="rId2" Target="../media/image232.png" Type="http://schemas.openxmlformats.org/officeDocument/2006/relationships/image"/><Relationship Id="rId3" Target="../media/image233.svg" Type="http://schemas.openxmlformats.org/officeDocument/2006/relationships/image"/><Relationship Id="rId4" Target="../media/image4.jpeg" Type="http://schemas.openxmlformats.org/officeDocument/2006/relationships/image"/><Relationship Id="rId5" Target="../media/image5.jpeg" Type="http://schemas.openxmlformats.org/officeDocument/2006/relationships/image"/><Relationship Id="rId6" Target="../media/image234.png" Type="http://schemas.openxmlformats.org/officeDocument/2006/relationships/image"/><Relationship Id="rId7" Target="../media/image235.svg" Type="http://schemas.openxmlformats.org/officeDocument/2006/relationships/image"/><Relationship Id="rId8" Target="../media/image236.png" Type="http://schemas.openxmlformats.org/officeDocument/2006/relationships/image"/><Relationship Id="rId9" Target="../media/image237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62" t="0" r="-156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-12697" y="6388103"/>
            <a:ext cx="18313336" cy="3911536"/>
          </a:xfrm>
          <a:custGeom>
            <a:avLst/>
            <a:gdLst/>
            <a:ahLst/>
            <a:cxnLst/>
            <a:rect r="r" b="b" t="t" l="l"/>
            <a:pathLst>
              <a:path h="3911536" w="18313336">
                <a:moveTo>
                  <a:pt x="0" y="0"/>
                </a:moveTo>
                <a:lnTo>
                  <a:pt x="18313337" y="0"/>
                </a:lnTo>
                <a:lnTo>
                  <a:pt x="18313337" y="3911537"/>
                </a:lnTo>
                <a:lnTo>
                  <a:pt x="0" y="3911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31520" y="6437376"/>
            <a:ext cx="16824960" cy="694944"/>
            <a:chOff x="0" y="0"/>
            <a:chExt cx="22433280" cy="92659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926592"/>
            </a:xfrm>
            <a:custGeom>
              <a:avLst/>
              <a:gdLst/>
              <a:ahLst/>
              <a:cxnLst/>
              <a:rect r="r" b="b" t="t" l="l"/>
              <a:pathLst>
                <a:path h="92659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21414" r="0" b="-42141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31520" y="6394514"/>
            <a:ext cx="16824960" cy="737806"/>
            <a:chOff x="0" y="0"/>
            <a:chExt cx="22433280" cy="9837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433280" cy="983742"/>
            </a:xfrm>
            <a:custGeom>
              <a:avLst/>
              <a:gdLst/>
              <a:ahLst/>
              <a:cxnLst/>
              <a:rect r="r" b="b" t="t" l="l"/>
              <a:pathLst>
                <a:path h="98374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4337" r="0" b="-39433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243328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E0E0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CSE 3209  ·  Artificial Intelligence Laboratory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1520" y="7132320"/>
            <a:ext cx="16824960" cy="585216"/>
            <a:chOff x="0" y="0"/>
            <a:chExt cx="22433280" cy="780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33280" cy="780288"/>
            </a:xfrm>
            <a:custGeom>
              <a:avLst/>
              <a:gdLst/>
              <a:ahLst/>
              <a:cxnLst/>
              <a:rect r="r" b="b" t="t" l="l"/>
              <a:pathLst>
                <a:path h="78028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09804" r="0" b="-509806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743200" y="7827264"/>
            <a:ext cx="12801600" cy="694944"/>
            <a:chOff x="0" y="0"/>
            <a:chExt cx="1706880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8685" r="0" b="-30868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43200" y="7812976"/>
            <a:ext cx="12801600" cy="709232"/>
            <a:chOff x="0" y="0"/>
            <a:chExt cx="17068800" cy="94564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945642"/>
            </a:xfrm>
            <a:custGeom>
              <a:avLst/>
              <a:gdLst/>
              <a:ahLst/>
              <a:cxnLst/>
              <a:rect r="r" b="b" t="t" l="l"/>
              <a:pathLst>
                <a:path h="94564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45642"/>
                  </a:lnTo>
                  <a:lnTo>
                    <a:pt x="0" y="94564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1704" r="0" b="-3017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70688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spc="-24">
                  <a:solidFill>
                    <a:srgbClr val="FFFFFF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Presented By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743200" y="8503920"/>
            <a:ext cx="12801600" cy="950976"/>
            <a:chOff x="0" y="0"/>
            <a:chExt cx="17068800" cy="126796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0688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2116" r="0" b="-212116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743200" y="8425339"/>
            <a:ext cx="12801600" cy="1029557"/>
            <a:chOff x="0" y="0"/>
            <a:chExt cx="17068800" cy="13727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68800" cy="1372743"/>
            </a:xfrm>
            <a:custGeom>
              <a:avLst/>
              <a:gdLst/>
              <a:ahLst/>
              <a:cxnLst/>
              <a:rect r="r" b="b" t="t" l="l"/>
              <a:pathLst>
                <a:path h="1372743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72743"/>
                  </a:lnTo>
                  <a:lnTo>
                    <a:pt x="0" y="1372743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92278" r="0" b="-19227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7068800" cy="1477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2107067  |  2107078  |  2107087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743200" y="9546336"/>
            <a:ext cx="12801600" cy="548640"/>
            <a:chOff x="0" y="0"/>
            <a:chExt cx="1706880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04335" r="0" b="-404335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383" y="1724663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7" y="0"/>
                </a:lnTo>
                <a:lnTo>
                  <a:pt x="38658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67863" y="172466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7" y="0"/>
                </a:lnTo>
                <a:lnTo>
                  <a:pt x="64261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Objectives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44503" y="1998983"/>
            <a:ext cx="8254936" cy="1707833"/>
          </a:xfrm>
          <a:custGeom>
            <a:avLst/>
            <a:gdLst/>
            <a:ahLst/>
            <a:cxnLst/>
            <a:rect r="r" b="b" t="t" l="l"/>
            <a:pathLst>
              <a:path h="1707833" w="8254936">
                <a:moveTo>
                  <a:pt x="0" y="0"/>
                </a:moveTo>
                <a:lnTo>
                  <a:pt x="8254937" y="0"/>
                </a:lnTo>
                <a:lnTo>
                  <a:pt x="82549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4503" y="1998983"/>
            <a:ext cx="903161" cy="1707833"/>
          </a:xfrm>
          <a:custGeom>
            <a:avLst/>
            <a:gdLst/>
            <a:ahLst/>
            <a:cxnLst/>
            <a:rect r="r" b="b" t="t" l="l"/>
            <a:pathLst>
              <a:path h="1707833" w="903161">
                <a:moveTo>
                  <a:pt x="0" y="0"/>
                </a:moveTo>
                <a:lnTo>
                  <a:pt x="903161" y="0"/>
                </a:lnTo>
                <a:lnTo>
                  <a:pt x="903161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57200" y="2340864"/>
            <a:ext cx="877824" cy="950976"/>
            <a:chOff x="0" y="0"/>
            <a:chExt cx="1170432" cy="1267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70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9091" t="0" r="-89092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57200" y="2326576"/>
            <a:ext cx="877824" cy="965264"/>
            <a:chOff x="0" y="0"/>
            <a:chExt cx="1170432" cy="12870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70432" cy="1287018"/>
            </a:xfrm>
            <a:custGeom>
              <a:avLst/>
              <a:gdLst/>
              <a:ahLst/>
              <a:cxnLst/>
              <a:rect r="r" b="b" t="t" l="l"/>
              <a:pathLst>
                <a:path h="128701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1083" t="0" r="-9108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17043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17904" y="2194560"/>
            <a:ext cx="6986016" cy="1280160"/>
            <a:chOff x="0" y="0"/>
            <a:chExt cx="9314688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14688" cy="1706880"/>
            </a:xfrm>
            <a:custGeom>
              <a:avLst/>
              <a:gdLst/>
              <a:ahLst/>
              <a:cxnLst/>
              <a:rect r="r" b="b" t="t" l="l"/>
              <a:pathLst>
                <a:path h="17068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6258" r="0" b="-5625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517904" y="2158841"/>
            <a:ext cx="6986016" cy="1315879"/>
            <a:chOff x="0" y="0"/>
            <a:chExt cx="9314688" cy="175450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314688" cy="1754505"/>
            </a:xfrm>
            <a:custGeom>
              <a:avLst/>
              <a:gdLst/>
              <a:ahLst/>
              <a:cxnLst/>
              <a:rect r="r" b="b" t="t" l="l"/>
              <a:pathLst>
                <a:path h="1754505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446" r="0" b="-5344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314688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Grid-based prison escape simulation in Godot Engine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44503" y="3919223"/>
            <a:ext cx="8254936" cy="1707833"/>
          </a:xfrm>
          <a:custGeom>
            <a:avLst/>
            <a:gdLst/>
            <a:ahLst/>
            <a:cxnLst/>
            <a:rect r="r" b="b" t="t" l="l"/>
            <a:pathLst>
              <a:path h="1707833" w="8254936">
                <a:moveTo>
                  <a:pt x="0" y="0"/>
                </a:moveTo>
                <a:lnTo>
                  <a:pt x="8254937" y="0"/>
                </a:lnTo>
                <a:lnTo>
                  <a:pt x="82549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44503" y="3919223"/>
            <a:ext cx="903161" cy="1707833"/>
          </a:xfrm>
          <a:custGeom>
            <a:avLst/>
            <a:gdLst/>
            <a:ahLst/>
            <a:cxnLst/>
            <a:rect r="r" b="b" t="t" l="l"/>
            <a:pathLst>
              <a:path h="1707833" w="903161">
                <a:moveTo>
                  <a:pt x="0" y="0"/>
                </a:moveTo>
                <a:lnTo>
                  <a:pt x="903161" y="0"/>
                </a:lnTo>
                <a:lnTo>
                  <a:pt x="903161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457200" y="4261104"/>
            <a:ext cx="877824" cy="950976"/>
            <a:chOff x="0" y="0"/>
            <a:chExt cx="1170432" cy="12679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0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9091" t="0" r="-89092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7200" y="4246816"/>
            <a:ext cx="877824" cy="965264"/>
            <a:chOff x="0" y="0"/>
            <a:chExt cx="1170432" cy="12870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70432" cy="1287018"/>
            </a:xfrm>
            <a:custGeom>
              <a:avLst/>
              <a:gdLst/>
              <a:ahLst/>
              <a:cxnLst/>
              <a:rect r="r" b="b" t="t" l="l"/>
              <a:pathLst>
                <a:path h="128701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1083" t="0" r="-9108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17043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17904" y="4114800"/>
            <a:ext cx="6986016" cy="1280160"/>
            <a:chOff x="0" y="0"/>
            <a:chExt cx="9314688" cy="17068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314688" cy="1706880"/>
            </a:xfrm>
            <a:custGeom>
              <a:avLst/>
              <a:gdLst/>
              <a:ahLst/>
              <a:cxnLst/>
              <a:rect r="r" b="b" t="t" l="l"/>
              <a:pathLst>
                <a:path h="17068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6258" r="0" b="-56258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17904" y="4079081"/>
            <a:ext cx="6986016" cy="1315879"/>
            <a:chOff x="0" y="0"/>
            <a:chExt cx="9314688" cy="175450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314688" cy="1754505"/>
            </a:xfrm>
            <a:custGeom>
              <a:avLst/>
              <a:gdLst/>
              <a:ahLst/>
              <a:cxnLst/>
              <a:rect r="r" b="b" t="t" l="l"/>
              <a:pathLst>
                <a:path h="1754505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446" r="0" b="-5344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9314688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Police/Hunter agent using Fuzzy Logic Inference System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444503" y="5839463"/>
            <a:ext cx="8254936" cy="1707833"/>
          </a:xfrm>
          <a:custGeom>
            <a:avLst/>
            <a:gdLst/>
            <a:ahLst/>
            <a:cxnLst/>
            <a:rect r="r" b="b" t="t" l="l"/>
            <a:pathLst>
              <a:path h="1707833" w="8254936">
                <a:moveTo>
                  <a:pt x="0" y="0"/>
                </a:moveTo>
                <a:lnTo>
                  <a:pt x="8254937" y="0"/>
                </a:lnTo>
                <a:lnTo>
                  <a:pt x="82549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444503" y="5839463"/>
            <a:ext cx="903161" cy="1707833"/>
          </a:xfrm>
          <a:custGeom>
            <a:avLst/>
            <a:gdLst/>
            <a:ahLst/>
            <a:cxnLst/>
            <a:rect r="r" b="b" t="t" l="l"/>
            <a:pathLst>
              <a:path h="1707833" w="903161">
                <a:moveTo>
                  <a:pt x="0" y="0"/>
                </a:moveTo>
                <a:lnTo>
                  <a:pt x="903161" y="0"/>
                </a:lnTo>
                <a:lnTo>
                  <a:pt x="903161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57200" y="6181344"/>
            <a:ext cx="877824" cy="950976"/>
            <a:chOff x="0" y="0"/>
            <a:chExt cx="1170432" cy="126796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70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9091" t="0" r="-89092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457200" y="6167056"/>
            <a:ext cx="877824" cy="965264"/>
            <a:chOff x="0" y="0"/>
            <a:chExt cx="1170432" cy="128701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70432" cy="1287018"/>
            </a:xfrm>
            <a:custGeom>
              <a:avLst/>
              <a:gdLst/>
              <a:ahLst/>
              <a:cxnLst/>
              <a:rect r="r" b="b" t="t" l="l"/>
              <a:pathLst>
                <a:path h="128701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1083" t="0" r="-9108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7043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517904" y="6035040"/>
            <a:ext cx="6986016" cy="1280160"/>
            <a:chOff x="0" y="0"/>
            <a:chExt cx="9314688" cy="17068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14688" cy="1706880"/>
            </a:xfrm>
            <a:custGeom>
              <a:avLst/>
              <a:gdLst/>
              <a:ahLst/>
              <a:cxnLst/>
              <a:rect r="r" b="b" t="t" l="l"/>
              <a:pathLst>
                <a:path h="17068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6258" r="0" b="-56258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517904" y="5999321"/>
            <a:ext cx="6986016" cy="1315879"/>
            <a:chOff x="0" y="0"/>
            <a:chExt cx="9314688" cy="17545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314688" cy="1754505"/>
            </a:xfrm>
            <a:custGeom>
              <a:avLst/>
              <a:gdLst/>
              <a:ahLst/>
              <a:cxnLst/>
              <a:rect r="r" b="b" t="t" l="l"/>
              <a:pathLst>
                <a:path h="1754505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446" r="0" b="-53446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9314688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 Prisoner controlled by Minimax + Alpha-Beta Pruning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444503" y="7759703"/>
            <a:ext cx="8254936" cy="1707833"/>
          </a:xfrm>
          <a:custGeom>
            <a:avLst/>
            <a:gdLst/>
            <a:ahLst/>
            <a:cxnLst/>
            <a:rect r="r" b="b" t="t" l="l"/>
            <a:pathLst>
              <a:path h="1707833" w="8254936">
                <a:moveTo>
                  <a:pt x="0" y="0"/>
                </a:moveTo>
                <a:lnTo>
                  <a:pt x="8254937" y="0"/>
                </a:lnTo>
                <a:lnTo>
                  <a:pt x="82549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444503" y="7759703"/>
            <a:ext cx="903161" cy="1707833"/>
          </a:xfrm>
          <a:custGeom>
            <a:avLst/>
            <a:gdLst/>
            <a:ahLst/>
            <a:cxnLst/>
            <a:rect r="r" b="b" t="t" l="l"/>
            <a:pathLst>
              <a:path h="1707833" w="903161">
                <a:moveTo>
                  <a:pt x="0" y="0"/>
                </a:moveTo>
                <a:lnTo>
                  <a:pt x="903161" y="0"/>
                </a:lnTo>
                <a:lnTo>
                  <a:pt x="903161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457200" y="8101584"/>
            <a:ext cx="877824" cy="950976"/>
            <a:chOff x="0" y="0"/>
            <a:chExt cx="1170432" cy="12679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70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9091" t="0" r="-89092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57200" y="8087296"/>
            <a:ext cx="877824" cy="965264"/>
            <a:chOff x="0" y="0"/>
            <a:chExt cx="1170432" cy="12870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70432" cy="1287018"/>
            </a:xfrm>
            <a:custGeom>
              <a:avLst/>
              <a:gdLst/>
              <a:ahLst/>
              <a:cxnLst/>
              <a:rect r="r" b="b" t="t" l="l"/>
              <a:pathLst>
                <a:path h="128701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1083" t="0" r="-9108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17043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04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17904" y="7955280"/>
            <a:ext cx="6986016" cy="1280160"/>
            <a:chOff x="0" y="0"/>
            <a:chExt cx="9314688" cy="17068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314688" cy="1706880"/>
            </a:xfrm>
            <a:custGeom>
              <a:avLst/>
              <a:gdLst/>
              <a:ahLst/>
              <a:cxnLst/>
              <a:rect r="r" b="b" t="t" l="l"/>
              <a:pathLst>
                <a:path h="17068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6258" r="0" b="-56258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517904" y="7919561"/>
            <a:ext cx="6986016" cy="1315879"/>
            <a:chOff x="0" y="0"/>
            <a:chExt cx="9314688" cy="175450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314688" cy="1754505"/>
            </a:xfrm>
            <a:custGeom>
              <a:avLst/>
              <a:gdLst/>
              <a:ahLst/>
              <a:cxnLst/>
              <a:rect r="r" b="b" t="t" l="l"/>
              <a:pathLst>
                <a:path h="1754505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446" r="0" b="-5344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9314688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Blue Prisoner controlled by Monte Carlo Tree Search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497063" y="1998983"/>
            <a:ext cx="8254937" cy="1707833"/>
          </a:xfrm>
          <a:custGeom>
            <a:avLst/>
            <a:gdLst/>
            <a:ahLst/>
            <a:cxnLst/>
            <a:rect r="r" b="b" t="t" l="l"/>
            <a:pathLst>
              <a:path h="1707833" w="8254937">
                <a:moveTo>
                  <a:pt x="0" y="0"/>
                </a:moveTo>
                <a:lnTo>
                  <a:pt x="8254937" y="0"/>
                </a:lnTo>
                <a:lnTo>
                  <a:pt x="82549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9497063" y="1998983"/>
            <a:ext cx="903161" cy="1707833"/>
          </a:xfrm>
          <a:custGeom>
            <a:avLst/>
            <a:gdLst/>
            <a:ahLst/>
            <a:cxnLst/>
            <a:rect r="r" b="b" t="t" l="l"/>
            <a:pathLst>
              <a:path h="1707833" w="903161">
                <a:moveTo>
                  <a:pt x="0" y="0"/>
                </a:moveTo>
                <a:lnTo>
                  <a:pt x="903161" y="0"/>
                </a:lnTo>
                <a:lnTo>
                  <a:pt x="903161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9509760" y="2340864"/>
            <a:ext cx="877824" cy="950976"/>
            <a:chOff x="0" y="0"/>
            <a:chExt cx="1170432" cy="126796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70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9091" t="0" r="-89092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509760" y="2326576"/>
            <a:ext cx="877824" cy="965264"/>
            <a:chOff x="0" y="0"/>
            <a:chExt cx="1170432" cy="128701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70432" cy="1287018"/>
            </a:xfrm>
            <a:custGeom>
              <a:avLst/>
              <a:gdLst/>
              <a:ahLst/>
              <a:cxnLst/>
              <a:rect r="r" b="b" t="t" l="l"/>
              <a:pathLst>
                <a:path h="128701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1083" t="0" r="-91083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117043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05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570464" y="2194560"/>
            <a:ext cx="6986016" cy="1280160"/>
            <a:chOff x="0" y="0"/>
            <a:chExt cx="9314688" cy="17068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314688" cy="1706880"/>
            </a:xfrm>
            <a:custGeom>
              <a:avLst/>
              <a:gdLst/>
              <a:ahLst/>
              <a:cxnLst/>
              <a:rect r="r" b="b" t="t" l="l"/>
              <a:pathLst>
                <a:path h="17068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6258" r="0" b="-56258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570464" y="2158841"/>
            <a:ext cx="6986016" cy="1315879"/>
            <a:chOff x="0" y="0"/>
            <a:chExt cx="9314688" cy="175450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314688" cy="1754505"/>
            </a:xfrm>
            <a:custGeom>
              <a:avLst/>
              <a:gdLst/>
              <a:ahLst/>
              <a:cxnLst/>
              <a:rect r="r" b="b" t="t" l="l"/>
              <a:pathLst>
                <a:path h="1754505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446" r="0" b="-53446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9314688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three AI techniques in one shared adversarial environment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9497063" y="3919223"/>
            <a:ext cx="8254937" cy="1707833"/>
          </a:xfrm>
          <a:custGeom>
            <a:avLst/>
            <a:gdLst/>
            <a:ahLst/>
            <a:cxnLst/>
            <a:rect r="r" b="b" t="t" l="l"/>
            <a:pathLst>
              <a:path h="1707833" w="8254937">
                <a:moveTo>
                  <a:pt x="0" y="0"/>
                </a:moveTo>
                <a:lnTo>
                  <a:pt x="8254937" y="0"/>
                </a:lnTo>
                <a:lnTo>
                  <a:pt x="82549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9497063" y="3919223"/>
            <a:ext cx="903161" cy="1707833"/>
          </a:xfrm>
          <a:custGeom>
            <a:avLst/>
            <a:gdLst/>
            <a:ahLst/>
            <a:cxnLst/>
            <a:rect r="r" b="b" t="t" l="l"/>
            <a:pathLst>
              <a:path h="1707833" w="903161">
                <a:moveTo>
                  <a:pt x="0" y="0"/>
                </a:moveTo>
                <a:lnTo>
                  <a:pt x="903161" y="0"/>
                </a:lnTo>
                <a:lnTo>
                  <a:pt x="903161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9509760" y="4261104"/>
            <a:ext cx="877824" cy="950976"/>
            <a:chOff x="0" y="0"/>
            <a:chExt cx="1170432" cy="126796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170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9091" t="0" r="-89092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509760" y="4246816"/>
            <a:ext cx="877824" cy="965264"/>
            <a:chOff x="0" y="0"/>
            <a:chExt cx="1170432" cy="128701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70432" cy="1287018"/>
            </a:xfrm>
            <a:custGeom>
              <a:avLst/>
              <a:gdLst/>
              <a:ahLst/>
              <a:cxnLst/>
              <a:rect r="r" b="b" t="t" l="l"/>
              <a:pathLst>
                <a:path h="128701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1083" t="0" r="-91083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117043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06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570464" y="4114800"/>
            <a:ext cx="6986016" cy="1280160"/>
            <a:chOff x="0" y="0"/>
            <a:chExt cx="9314688" cy="17068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314688" cy="1706880"/>
            </a:xfrm>
            <a:custGeom>
              <a:avLst/>
              <a:gdLst/>
              <a:ahLst/>
              <a:cxnLst/>
              <a:rect r="r" b="b" t="t" l="l"/>
              <a:pathLst>
                <a:path h="17068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6258" r="0" b="-56258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570464" y="4079081"/>
            <a:ext cx="6986016" cy="1315879"/>
            <a:chOff x="0" y="0"/>
            <a:chExt cx="9314688" cy="175450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314688" cy="1754505"/>
            </a:xfrm>
            <a:custGeom>
              <a:avLst/>
              <a:gdLst/>
              <a:ahLst/>
              <a:cxnLst/>
              <a:rect r="r" b="b" t="t" l="l"/>
              <a:pathLst>
                <a:path h="1754505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446" r="0" b="-5344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314688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Design prison map with walls, CCTV, fire hazards, and exits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9497063" y="5839463"/>
            <a:ext cx="8254937" cy="1707833"/>
          </a:xfrm>
          <a:custGeom>
            <a:avLst/>
            <a:gdLst/>
            <a:ahLst/>
            <a:cxnLst/>
            <a:rect r="r" b="b" t="t" l="l"/>
            <a:pathLst>
              <a:path h="1707833" w="8254937">
                <a:moveTo>
                  <a:pt x="0" y="0"/>
                </a:moveTo>
                <a:lnTo>
                  <a:pt x="8254937" y="0"/>
                </a:lnTo>
                <a:lnTo>
                  <a:pt x="82549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9497063" y="5839463"/>
            <a:ext cx="903161" cy="1707833"/>
          </a:xfrm>
          <a:custGeom>
            <a:avLst/>
            <a:gdLst/>
            <a:ahLst/>
            <a:cxnLst/>
            <a:rect r="r" b="b" t="t" l="l"/>
            <a:pathLst>
              <a:path h="1707833" w="903161">
                <a:moveTo>
                  <a:pt x="0" y="0"/>
                </a:moveTo>
                <a:lnTo>
                  <a:pt x="903161" y="0"/>
                </a:lnTo>
                <a:lnTo>
                  <a:pt x="903161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9509760" y="6181344"/>
            <a:ext cx="877824" cy="950976"/>
            <a:chOff x="0" y="0"/>
            <a:chExt cx="1170432" cy="126796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1170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9091" t="0" r="-89092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509760" y="6167056"/>
            <a:ext cx="877824" cy="965264"/>
            <a:chOff x="0" y="0"/>
            <a:chExt cx="1170432" cy="128701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170432" cy="1287018"/>
            </a:xfrm>
            <a:custGeom>
              <a:avLst/>
              <a:gdLst/>
              <a:ahLst/>
              <a:cxnLst/>
              <a:rect r="r" b="b" t="t" l="l"/>
              <a:pathLst>
                <a:path h="128701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1083" t="0" r="-91083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19050"/>
              <a:ext cx="117043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07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570464" y="6035040"/>
            <a:ext cx="6986016" cy="1280160"/>
            <a:chOff x="0" y="0"/>
            <a:chExt cx="9314688" cy="17068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314688" cy="1706880"/>
            </a:xfrm>
            <a:custGeom>
              <a:avLst/>
              <a:gdLst/>
              <a:ahLst/>
              <a:cxnLst/>
              <a:rect r="r" b="b" t="t" l="l"/>
              <a:pathLst>
                <a:path h="17068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6258" r="0" b="-56258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570464" y="5999321"/>
            <a:ext cx="6986016" cy="1315879"/>
            <a:chOff x="0" y="0"/>
            <a:chExt cx="9314688" cy="1754505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314688" cy="1754505"/>
            </a:xfrm>
            <a:custGeom>
              <a:avLst/>
              <a:gdLst/>
              <a:ahLst/>
              <a:cxnLst/>
              <a:rect r="r" b="b" t="t" l="l"/>
              <a:pathLst>
                <a:path h="1754505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446" r="0" b="-53446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9314688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Implement capture, escape, scoring &amp; danger-map systems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9497063" y="7759703"/>
            <a:ext cx="8254937" cy="1707833"/>
          </a:xfrm>
          <a:custGeom>
            <a:avLst/>
            <a:gdLst/>
            <a:ahLst/>
            <a:cxnLst/>
            <a:rect r="r" b="b" t="t" l="l"/>
            <a:pathLst>
              <a:path h="1707833" w="8254937">
                <a:moveTo>
                  <a:pt x="0" y="0"/>
                </a:moveTo>
                <a:lnTo>
                  <a:pt x="8254937" y="0"/>
                </a:lnTo>
                <a:lnTo>
                  <a:pt x="8254937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9497063" y="7759703"/>
            <a:ext cx="903161" cy="1707833"/>
          </a:xfrm>
          <a:custGeom>
            <a:avLst/>
            <a:gdLst/>
            <a:ahLst/>
            <a:cxnLst/>
            <a:rect r="r" b="b" t="t" l="l"/>
            <a:pathLst>
              <a:path h="1707833" w="903161">
                <a:moveTo>
                  <a:pt x="0" y="0"/>
                </a:moveTo>
                <a:lnTo>
                  <a:pt x="903161" y="0"/>
                </a:lnTo>
                <a:lnTo>
                  <a:pt x="903161" y="1707833"/>
                </a:lnTo>
                <a:lnTo>
                  <a:pt x="0" y="17078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9" id="99"/>
          <p:cNvGrpSpPr/>
          <p:nvPr/>
        </p:nvGrpSpPr>
        <p:grpSpPr>
          <a:xfrm rot="0">
            <a:off x="9509760" y="8101584"/>
            <a:ext cx="877824" cy="950976"/>
            <a:chOff x="0" y="0"/>
            <a:chExt cx="1170432" cy="126796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170432" cy="1267968"/>
            </a:xfrm>
            <a:custGeom>
              <a:avLst/>
              <a:gdLst/>
              <a:ahLst/>
              <a:cxnLst/>
              <a:rect r="r" b="b" t="t" l="l"/>
              <a:pathLst>
                <a:path h="126796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9091" t="0" r="-89092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509760" y="8087296"/>
            <a:ext cx="877824" cy="965264"/>
            <a:chOff x="0" y="0"/>
            <a:chExt cx="1170432" cy="128701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170432" cy="1287018"/>
            </a:xfrm>
            <a:custGeom>
              <a:avLst/>
              <a:gdLst/>
              <a:ahLst/>
              <a:cxnLst/>
              <a:rect r="r" b="b" t="t" l="l"/>
              <a:pathLst>
                <a:path h="1287018" w="1170432">
                  <a:moveTo>
                    <a:pt x="0" y="0"/>
                  </a:moveTo>
                  <a:lnTo>
                    <a:pt x="1170432" y="0"/>
                  </a:lnTo>
                  <a:lnTo>
                    <a:pt x="1170432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91083" t="0" r="-91083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19050"/>
              <a:ext cx="1170432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08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570464" y="7955280"/>
            <a:ext cx="6986016" cy="1280160"/>
            <a:chOff x="0" y="0"/>
            <a:chExt cx="9314688" cy="170688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314688" cy="1706880"/>
            </a:xfrm>
            <a:custGeom>
              <a:avLst/>
              <a:gdLst/>
              <a:ahLst/>
              <a:cxnLst/>
              <a:rect r="r" b="b" t="t" l="l"/>
              <a:pathLst>
                <a:path h="17068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6258" r="0" b="-56258"/>
              </a:stretch>
            </a:blip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570464" y="7919561"/>
            <a:ext cx="6986016" cy="1315879"/>
            <a:chOff x="0" y="0"/>
            <a:chExt cx="9314688" cy="1754505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314688" cy="1754505"/>
            </a:xfrm>
            <a:custGeom>
              <a:avLst/>
              <a:gdLst/>
              <a:ahLst/>
              <a:cxnLst/>
              <a:rect r="r" b="b" t="t" l="l"/>
              <a:pathLst>
                <a:path h="1754505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1754505"/>
                  </a:lnTo>
                  <a:lnTo>
                    <a:pt x="0" y="17545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446" r="0" b="-53446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47625"/>
              <a:ext cx="9314688" cy="1802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Visualize AI reasoning through HUD, overlays &amp; analysis screens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246" t="0" r="-30244" b="0"/>
              </a:stretch>
            </a:blipFill>
          </p:spPr>
        </p:sp>
      </p:grpSp>
      <p:sp>
        <p:nvSpPr>
          <p:cNvPr name="TextBox 111" id="11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383" y="1724663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7" y="0"/>
                </a:lnTo>
                <a:lnTo>
                  <a:pt x="38658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67863" y="172466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7" y="0"/>
                </a:lnTo>
                <a:lnTo>
                  <a:pt x="64261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Introduction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44503" y="1998983"/>
            <a:ext cx="10083737" cy="1854137"/>
          </a:xfrm>
          <a:custGeom>
            <a:avLst/>
            <a:gdLst/>
            <a:ahLst/>
            <a:cxnLst/>
            <a:rect r="r" b="b" t="t" l="l"/>
            <a:pathLst>
              <a:path h="1854137" w="10083737">
                <a:moveTo>
                  <a:pt x="0" y="0"/>
                </a:moveTo>
                <a:lnTo>
                  <a:pt x="10083737" y="0"/>
                </a:lnTo>
                <a:lnTo>
                  <a:pt x="10083737" y="1854137"/>
                </a:lnTo>
                <a:lnTo>
                  <a:pt x="0" y="185413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94944" y="2084832"/>
            <a:ext cx="16861536" cy="1682496"/>
            <a:chOff x="0" y="0"/>
            <a:chExt cx="22482048" cy="22433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82048" cy="2243328"/>
            </a:xfrm>
            <a:custGeom>
              <a:avLst/>
              <a:gdLst/>
              <a:ahLst/>
              <a:cxnLst/>
              <a:rect r="r" b="b" t="t" l="l"/>
              <a:pathLst>
                <a:path h="2243328" w="22482048">
                  <a:moveTo>
                    <a:pt x="0" y="0"/>
                  </a:moveTo>
                  <a:lnTo>
                    <a:pt x="22482048" y="0"/>
                  </a:lnTo>
                  <a:lnTo>
                    <a:pt x="22482048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5138" r="0" b="-14513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4944" y="2049113"/>
            <a:ext cx="16861536" cy="1718215"/>
            <a:chOff x="0" y="0"/>
            <a:chExt cx="22482048" cy="229095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482048" cy="2290953"/>
            </a:xfrm>
            <a:custGeom>
              <a:avLst/>
              <a:gdLst/>
              <a:ahLst/>
              <a:cxnLst/>
              <a:rect r="r" b="b" t="t" l="l"/>
              <a:pathLst>
                <a:path h="2290953" w="22482048">
                  <a:moveTo>
                    <a:pt x="0" y="0"/>
                  </a:moveTo>
                  <a:lnTo>
                    <a:pt x="22482048" y="0"/>
                  </a:lnTo>
                  <a:lnTo>
                    <a:pt x="22482048" y="2290953"/>
                  </a:lnTo>
                  <a:lnTo>
                    <a:pt x="0" y="229095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1214" r="0" b="-14121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22482048" cy="23385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Prison Break is a Godot-based multi-agent AI simulation set inside a prison escape scenario. It shows how different AI techniques behave against each other in the same environment — not as isolated algorithms, but as competing decision-makers.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44503" y="4424620"/>
            <a:ext cx="5603176" cy="4597336"/>
          </a:xfrm>
          <a:custGeom>
            <a:avLst/>
            <a:gdLst/>
            <a:ahLst/>
            <a:cxnLst/>
            <a:rect r="r" b="b" t="t" l="l"/>
            <a:pathLst>
              <a:path h="4597336" w="5603176">
                <a:moveTo>
                  <a:pt x="0" y="0"/>
                </a:moveTo>
                <a:lnTo>
                  <a:pt x="5603177" y="0"/>
                </a:lnTo>
                <a:lnTo>
                  <a:pt x="5603177" y="4597336"/>
                </a:lnTo>
                <a:lnTo>
                  <a:pt x="0" y="45973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44503" y="4424620"/>
            <a:ext cx="5603176" cy="793432"/>
          </a:xfrm>
          <a:custGeom>
            <a:avLst/>
            <a:gdLst/>
            <a:ahLst/>
            <a:cxnLst/>
            <a:rect r="r" b="b" t="t" l="l"/>
            <a:pathLst>
              <a:path h="793432" w="5603176">
                <a:moveTo>
                  <a:pt x="0" y="0"/>
                </a:moveTo>
                <a:lnTo>
                  <a:pt x="5603177" y="0"/>
                </a:lnTo>
                <a:lnTo>
                  <a:pt x="5603177" y="793432"/>
                </a:lnTo>
                <a:lnTo>
                  <a:pt x="0" y="79343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40080" y="4455604"/>
            <a:ext cx="5212080" cy="731520"/>
            <a:chOff x="0" y="0"/>
            <a:chExt cx="6949440" cy="975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734" r="0" b="-88734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40080" y="4427030"/>
            <a:ext cx="5212080" cy="760095"/>
            <a:chOff x="0" y="0"/>
            <a:chExt cx="6949440" cy="10134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0" cy="1013460"/>
            </a:xfrm>
            <a:custGeom>
              <a:avLst/>
              <a:gdLst/>
              <a:ahLst/>
              <a:cxnLst/>
              <a:rect r="r" b="b" t="t" l="l"/>
              <a:pathLst>
                <a:path h="10134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94944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Police 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0080" y="5296853"/>
            <a:ext cx="5212080" cy="694944"/>
            <a:chOff x="0" y="0"/>
            <a:chExt cx="6949440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036" r="0" b="-96036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40080" y="5261134"/>
            <a:ext cx="5212080" cy="730663"/>
            <a:chOff x="0" y="0"/>
            <a:chExt cx="6949440" cy="9742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9440" cy="974217"/>
            </a:xfrm>
            <a:custGeom>
              <a:avLst/>
              <a:gdLst/>
              <a:ahLst/>
              <a:cxnLst/>
              <a:rect r="r" b="b" t="t" l="l"/>
              <a:pathLst>
                <a:path h="974217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8993" r="0" b="-8899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949440" cy="1012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Fuzzy Logic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40080" y="6028372"/>
            <a:ext cx="5212080" cy="2834640"/>
            <a:chOff x="0" y="0"/>
            <a:chExt cx="6949440" cy="3779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9494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9827" t="0" r="-19827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40080" y="5992654"/>
            <a:ext cx="5212080" cy="2870359"/>
            <a:chOff x="0" y="0"/>
            <a:chExt cx="6949440" cy="382714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49440" cy="3827145"/>
            </a:xfrm>
            <a:custGeom>
              <a:avLst/>
              <a:gdLst/>
              <a:ahLst/>
              <a:cxnLst/>
              <a:rect r="r" b="b" t="t" l="l"/>
              <a:pathLst>
                <a:path h="3827145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827145"/>
                  </a:lnTo>
                  <a:lnTo>
                    <a:pt x="0" y="3827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658" t="0" r="-20658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6949440" cy="388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Defensive agent — reacts to uncertain signals: distance, alert, CCTV, dog, exit threat.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6241799" y="4424620"/>
            <a:ext cx="5603176" cy="4597336"/>
          </a:xfrm>
          <a:custGeom>
            <a:avLst/>
            <a:gdLst/>
            <a:ahLst/>
            <a:cxnLst/>
            <a:rect r="r" b="b" t="t" l="l"/>
            <a:pathLst>
              <a:path h="4597336" w="5603176">
                <a:moveTo>
                  <a:pt x="0" y="0"/>
                </a:moveTo>
                <a:lnTo>
                  <a:pt x="5603177" y="0"/>
                </a:lnTo>
                <a:lnTo>
                  <a:pt x="5603177" y="4597336"/>
                </a:lnTo>
                <a:lnTo>
                  <a:pt x="0" y="45973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6241799" y="4424620"/>
            <a:ext cx="5603176" cy="793432"/>
          </a:xfrm>
          <a:custGeom>
            <a:avLst/>
            <a:gdLst/>
            <a:ahLst/>
            <a:cxnLst/>
            <a:rect r="r" b="b" t="t" l="l"/>
            <a:pathLst>
              <a:path h="793432" w="5603176">
                <a:moveTo>
                  <a:pt x="0" y="0"/>
                </a:moveTo>
                <a:lnTo>
                  <a:pt x="5603177" y="0"/>
                </a:lnTo>
                <a:lnTo>
                  <a:pt x="5603177" y="793432"/>
                </a:lnTo>
                <a:lnTo>
                  <a:pt x="0" y="79343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6437376" y="4455604"/>
            <a:ext cx="5212080" cy="731520"/>
            <a:chOff x="0" y="0"/>
            <a:chExt cx="6949440" cy="9753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734" r="0" b="-88734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6437376" y="4427030"/>
            <a:ext cx="5212080" cy="760095"/>
            <a:chOff x="0" y="0"/>
            <a:chExt cx="6949440" cy="10134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0" cy="1013460"/>
            </a:xfrm>
            <a:custGeom>
              <a:avLst/>
              <a:gdLst/>
              <a:ahLst/>
              <a:cxnLst/>
              <a:rect r="r" b="b" t="t" l="l"/>
              <a:pathLst>
                <a:path h="10134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94944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 Prisoner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6437376" y="5296853"/>
            <a:ext cx="5212080" cy="694944"/>
            <a:chOff x="0" y="0"/>
            <a:chExt cx="6949440" cy="926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036" r="0" b="-96036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437376" y="5261134"/>
            <a:ext cx="5212080" cy="730663"/>
            <a:chOff x="0" y="0"/>
            <a:chExt cx="6949440" cy="97421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9440" cy="974217"/>
            </a:xfrm>
            <a:custGeom>
              <a:avLst/>
              <a:gdLst/>
              <a:ahLst/>
              <a:cxnLst/>
              <a:rect r="r" b="b" t="t" l="l"/>
              <a:pathLst>
                <a:path h="974217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8993" r="0" b="-8899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6949440" cy="1012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Minimax + Alpha-Beta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6437376" y="6028372"/>
            <a:ext cx="5212080" cy="2834640"/>
            <a:chOff x="0" y="0"/>
            <a:chExt cx="6949440" cy="3779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9494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9827" t="0" r="-19827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6437376" y="5992654"/>
            <a:ext cx="5212080" cy="2870359"/>
            <a:chOff x="0" y="0"/>
            <a:chExt cx="6949440" cy="382714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949440" cy="3827145"/>
            </a:xfrm>
            <a:custGeom>
              <a:avLst/>
              <a:gdLst/>
              <a:ahLst/>
              <a:cxnLst/>
              <a:rect r="r" b="b" t="t" l="l"/>
              <a:pathLst>
                <a:path h="3827145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827145"/>
                  </a:lnTo>
                  <a:lnTo>
                    <a:pt x="0" y="3827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658" t="0" r="-20658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6949440" cy="388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Rusher — treats police as adversary, plans optimal escape move strategically.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2039095" y="4424620"/>
            <a:ext cx="5603176" cy="4597336"/>
          </a:xfrm>
          <a:custGeom>
            <a:avLst/>
            <a:gdLst/>
            <a:ahLst/>
            <a:cxnLst/>
            <a:rect r="r" b="b" t="t" l="l"/>
            <a:pathLst>
              <a:path h="4597336" w="5603176">
                <a:moveTo>
                  <a:pt x="0" y="0"/>
                </a:moveTo>
                <a:lnTo>
                  <a:pt x="5603177" y="0"/>
                </a:lnTo>
                <a:lnTo>
                  <a:pt x="5603177" y="4597336"/>
                </a:lnTo>
                <a:lnTo>
                  <a:pt x="0" y="459733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2039095" y="4424620"/>
            <a:ext cx="5603176" cy="793432"/>
          </a:xfrm>
          <a:custGeom>
            <a:avLst/>
            <a:gdLst/>
            <a:ahLst/>
            <a:cxnLst/>
            <a:rect r="r" b="b" t="t" l="l"/>
            <a:pathLst>
              <a:path h="793432" w="5603176">
                <a:moveTo>
                  <a:pt x="0" y="0"/>
                </a:moveTo>
                <a:lnTo>
                  <a:pt x="5603177" y="0"/>
                </a:lnTo>
                <a:lnTo>
                  <a:pt x="5603177" y="793432"/>
                </a:lnTo>
                <a:lnTo>
                  <a:pt x="0" y="79343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2234672" y="4455604"/>
            <a:ext cx="5212080" cy="731520"/>
            <a:chOff x="0" y="0"/>
            <a:chExt cx="6949440" cy="9753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949440" cy="975360"/>
            </a:xfrm>
            <a:custGeom>
              <a:avLst/>
              <a:gdLst/>
              <a:ahLst/>
              <a:cxnLst/>
              <a:rect r="r" b="b" t="t" l="l"/>
              <a:pathLst>
                <a:path h="9753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734" r="0" b="-88734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234672" y="4427030"/>
            <a:ext cx="5212080" cy="760095"/>
            <a:chOff x="0" y="0"/>
            <a:chExt cx="6949440" cy="10134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949440" cy="1013460"/>
            </a:xfrm>
            <a:custGeom>
              <a:avLst/>
              <a:gdLst/>
              <a:ahLst/>
              <a:cxnLst/>
              <a:rect r="r" b="b" t="t" l="l"/>
              <a:pathLst>
                <a:path h="101346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1013460"/>
                  </a:lnTo>
                  <a:lnTo>
                    <a:pt x="0" y="101346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3611" r="0" b="-8361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6949440" cy="1051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 Prisoner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234672" y="5296853"/>
            <a:ext cx="5212080" cy="694944"/>
            <a:chOff x="0" y="0"/>
            <a:chExt cx="6949440" cy="92659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949440" cy="926592"/>
            </a:xfrm>
            <a:custGeom>
              <a:avLst/>
              <a:gdLst/>
              <a:ahLst/>
              <a:cxnLst/>
              <a:rect r="r" b="b" t="t" l="l"/>
              <a:pathLst>
                <a:path h="92659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036" r="0" b="-9603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234672" y="5261134"/>
            <a:ext cx="5212080" cy="730663"/>
            <a:chOff x="0" y="0"/>
            <a:chExt cx="6949440" cy="97421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49440" cy="974217"/>
            </a:xfrm>
            <a:custGeom>
              <a:avLst/>
              <a:gdLst/>
              <a:ahLst/>
              <a:cxnLst/>
              <a:rect r="r" b="b" t="t" l="l"/>
              <a:pathLst>
                <a:path h="974217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8993" r="0" b="-8899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6949440" cy="1012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4FC3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Monte Carlo Tree Search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234672" y="6028372"/>
            <a:ext cx="5212080" cy="2834640"/>
            <a:chOff x="0" y="0"/>
            <a:chExt cx="6949440" cy="37795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949440" cy="3779520"/>
            </a:xfrm>
            <a:custGeom>
              <a:avLst/>
              <a:gdLst/>
              <a:ahLst/>
              <a:cxnLst/>
              <a:rect r="r" b="b" t="t" l="l"/>
              <a:pathLst>
                <a:path h="3779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9827" t="0" r="-19827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2234672" y="5992654"/>
            <a:ext cx="5212080" cy="2870359"/>
            <a:chOff x="0" y="0"/>
            <a:chExt cx="6949440" cy="38271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49440" cy="3827145"/>
            </a:xfrm>
            <a:custGeom>
              <a:avLst/>
              <a:gdLst/>
              <a:ahLst/>
              <a:cxnLst/>
              <a:rect r="r" b="b" t="t" l="l"/>
              <a:pathLst>
                <a:path h="3827145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827145"/>
                  </a:lnTo>
                  <a:lnTo>
                    <a:pt x="0" y="3827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0658" t="0" r="-20658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6949440" cy="388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3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Stealth agent — estimates future outcomes through rollout simulations.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246" t="0" r="-30244" b="0"/>
              </a:stretch>
            </a:blipFill>
          </p:spPr>
        </p:sp>
      </p:grpSp>
      <p:sp>
        <p:nvSpPr>
          <p:cNvPr name="TextBox 72" id="7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9852" y="128273"/>
            <a:ext cx="17496668" cy="9418320"/>
            <a:chOff x="0" y="0"/>
            <a:chExt cx="23328890" cy="12557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28940" cy="12557772"/>
            </a:xfrm>
            <a:custGeom>
              <a:avLst/>
              <a:gdLst/>
              <a:ahLst/>
              <a:cxnLst/>
              <a:rect r="r" b="b" t="t" l="l"/>
              <a:pathLst>
                <a:path h="12557772" w="23328940">
                  <a:moveTo>
                    <a:pt x="0" y="0"/>
                  </a:moveTo>
                  <a:lnTo>
                    <a:pt x="23328940" y="0"/>
                  </a:lnTo>
                  <a:lnTo>
                    <a:pt x="23328940" y="12557772"/>
                  </a:lnTo>
                  <a:lnTo>
                    <a:pt x="0" y="12557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77" t="0" r="-77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9489443"/>
            <a:ext cx="14914493" cy="56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Figure -1 : Whole game scene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26272" y="1322861"/>
            <a:ext cx="3865816" cy="94945"/>
          </a:xfrm>
          <a:custGeom>
            <a:avLst/>
            <a:gdLst/>
            <a:ahLst/>
            <a:cxnLst/>
            <a:rect r="r" b="b" t="t" l="l"/>
            <a:pathLst>
              <a:path h="94945" w="3865816">
                <a:moveTo>
                  <a:pt x="0" y="0"/>
                </a:moveTo>
                <a:lnTo>
                  <a:pt x="3865817" y="0"/>
                </a:lnTo>
                <a:lnTo>
                  <a:pt x="3865817" y="94945"/>
                </a:lnTo>
                <a:lnTo>
                  <a:pt x="0" y="949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79459" y="1322861"/>
            <a:ext cx="6426136" cy="94945"/>
          </a:xfrm>
          <a:custGeom>
            <a:avLst/>
            <a:gdLst/>
            <a:ahLst/>
            <a:cxnLst/>
            <a:rect r="r" b="b" t="t" l="l"/>
            <a:pathLst>
              <a:path h="94945" w="6426136">
                <a:moveTo>
                  <a:pt x="0" y="0"/>
                </a:moveTo>
                <a:lnTo>
                  <a:pt x="6426136" y="0"/>
                </a:lnTo>
                <a:lnTo>
                  <a:pt x="6426136" y="94945"/>
                </a:lnTo>
                <a:lnTo>
                  <a:pt x="0" y="949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System Architecture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7200" y="1669799"/>
            <a:ext cx="11887200" cy="864651"/>
            <a:chOff x="0" y="0"/>
            <a:chExt cx="15849600" cy="11528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849600" cy="1152906"/>
            </a:xfrm>
            <a:custGeom>
              <a:avLst/>
              <a:gdLst/>
              <a:ahLst/>
              <a:cxnLst/>
              <a:rect r="r" b="b" t="t" l="l"/>
              <a:pathLst>
                <a:path h="1152906" w="15849600">
                  <a:moveTo>
                    <a:pt x="0" y="0"/>
                  </a:moveTo>
                  <a:lnTo>
                    <a:pt x="15849600" y="0"/>
                  </a:lnTo>
                  <a:lnTo>
                    <a:pt x="15849600" y="1152906"/>
                  </a:lnTo>
                  <a:lnTo>
                    <a:pt x="0" y="115290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7686" r="0" b="-21768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7200" y="1662655"/>
            <a:ext cx="17099280" cy="950507"/>
            <a:chOff x="0" y="0"/>
            <a:chExt cx="22799040" cy="12673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99039" cy="1267339"/>
            </a:xfrm>
            <a:custGeom>
              <a:avLst/>
              <a:gdLst/>
              <a:ahLst/>
              <a:cxnLst/>
              <a:rect r="r" b="b" t="t" l="l"/>
              <a:pathLst>
                <a:path h="1267339" w="22799039">
                  <a:moveTo>
                    <a:pt x="0" y="0"/>
                  </a:moveTo>
                  <a:lnTo>
                    <a:pt x="22799039" y="0"/>
                  </a:lnTo>
                  <a:lnTo>
                    <a:pt x="22799039" y="1267339"/>
                  </a:lnTo>
                  <a:lnTo>
                    <a:pt x="0" y="126733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824" r="30481" b="-18954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2799040" cy="1286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8">
                  <a:solidFill>
                    <a:srgbClr val="B0D4C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Centralized signal event-driven simulation. EventBus coordinates all agent decisions, scoring, replay snapshots, and HUD updates.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570983" y="2767079"/>
            <a:ext cx="5145976" cy="976312"/>
          </a:xfrm>
          <a:custGeom>
            <a:avLst/>
            <a:gdLst/>
            <a:ahLst/>
            <a:cxnLst/>
            <a:rect r="r" b="b" t="t" l="l"/>
            <a:pathLst>
              <a:path h="976312" w="5145976">
                <a:moveTo>
                  <a:pt x="0" y="0"/>
                </a:moveTo>
                <a:lnTo>
                  <a:pt x="5145977" y="0"/>
                </a:lnTo>
                <a:lnTo>
                  <a:pt x="5145977" y="976313"/>
                </a:lnTo>
                <a:lnTo>
                  <a:pt x="0" y="97631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583680" y="2779776"/>
            <a:ext cx="5120640" cy="950976"/>
            <a:chOff x="0" y="0"/>
            <a:chExt cx="6827520" cy="12679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827520" cy="1267968"/>
            </a:xfrm>
            <a:custGeom>
              <a:avLst/>
              <a:gdLst/>
              <a:ahLst/>
              <a:cxnLst/>
              <a:rect r="r" b="b" t="t" l="l"/>
              <a:pathLst>
                <a:path h="126796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4846" r="0" b="-5484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583680" y="2765488"/>
            <a:ext cx="5120640" cy="965264"/>
            <a:chOff x="0" y="0"/>
            <a:chExt cx="6827520" cy="12870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27520" cy="1287018"/>
            </a:xfrm>
            <a:custGeom>
              <a:avLst/>
              <a:gdLst/>
              <a:ahLst/>
              <a:cxnLst/>
              <a:rect r="r" b="b" t="t" l="l"/>
              <a:pathLst>
                <a:path h="128701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287018"/>
                  </a:lnTo>
                  <a:lnTo>
                    <a:pt x="0" y="128701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3366" r="0" b="-5336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827520" cy="1306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GAME SCENE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18597" y="3730781"/>
            <a:ext cx="50768" cy="548640"/>
            <a:chOff x="0" y="0"/>
            <a:chExt cx="67691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691" cy="731520"/>
            </a:xfrm>
            <a:custGeom>
              <a:avLst/>
              <a:gdLst/>
              <a:ahLst/>
              <a:cxnLst/>
              <a:rect r="r" b="b" t="t" l="l"/>
              <a:pathLst>
                <a:path h="731520" w="67691">
                  <a:moveTo>
                    <a:pt x="67691" y="0"/>
                  </a:moveTo>
                  <a:lnTo>
                    <a:pt x="67691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E7D8A"/>
            </a:solid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5467350" y="4260342"/>
            <a:ext cx="7353300" cy="915924"/>
          </a:xfrm>
          <a:custGeom>
            <a:avLst/>
            <a:gdLst/>
            <a:ahLst/>
            <a:cxnLst/>
            <a:rect r="r" b="b" t="t" l="l"/>
            <a:pathLst>
              <a:path h="915924" w="7353300">
                <a:moveTo>
                  <a:pt x="0" y="0"/>
                </a:moveTo>
                <a:lnTo>
                  <a:pt x="7353300" y="0"/>
                </a:lnTo>
                <a:lnTo>
                  <a:pt x="7353300" y="915924"/>
                </a:lnTo>
                <a:lnTo>
                  <a:pt x="0" y="91592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486400" y="4279392"/>
            <a:ext cx="7315200" cy="877824"/>
            <a:chOff x="0" y="0"/>
            <a:chExt cx="9753600" cy="117043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2262" r="0" b="-11226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486400" y="4236530"/>
            <a:ext cx="7315200" cy="920686"/>
            <a:chOff x="0" y="0"/>
            <a:chExt cx="9753600" cy="122758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1227582"/>
            </a:xfrm>
            <a:custGeom>
              <a:avLst/>
              <a:gdLst/>
              <a:ahLst/>
              <a:cxnLst/>
              <a:rect r="r" b="b" t="t" l="l"/>
              <a:pathLst>
                <a:path h="122758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1227582"/>
                  </a:lnTo>
                  <a:lnTo>
                    <a:pt x="0" y="122758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4815" r="0" b="-1048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753600" cy="12847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Simulation Loop  ·  Tick Clock  ·  EventBus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011680" y="5613654"/>
            <a:ext cx="14264640" cy="38100"/>
            <a:chOff x="0" y="0"/>
            <a:chExt cx="19019520" cy="50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019520" cy="50800"/>
            </a:xfrm>
            <a:custGeom>
              <a:avLst/>
              <a:gdLst/>
              <a:ahLst/>
              <a:cxnLst/>
              <a:rect r="r" b="b" t="t" l="l"/>
              <a:pathLst>
                <a:path h="5080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175510" y="5632704"/>
            <a:ext cx="38100" cy="512064"/>
            <a:chOff x="0" y="0"/>
            <a:chExt cx="50800" cy="6827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" cy="682752"/>
            </a:xfrm>
            <a:custGeom>
              <a:avLst/>
              <a:gdLst/>
              <a:ahLst/>
              <a:cxnLst/>
              <a:rect r="r" b="b" t="t" l="l"/>
              <a:pathLst>
                <a:path h="682752" w="50800">
                  <a:moveTo>
                    <a:pt x="50800" y="0"/>
                  </a:moveTo>
                  <a:lnTo>
                    <a:pt x="50800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346710" y="6125718"/>
            <a:ext cx="3787140" cy="1537716"/>
          </a:xfrm>
          <a:custGeom>
            <a:avLst/>
            <a:gdLst/>
            <a:ahLst/>
            <a:cxnLst/>
            <a:rect r="r" b="b" t="t" l="l"/>
            <a:pathLst>
              <a:path h="1537716" w="3787140">
                <a:moveTo>
                  <a:pt x="0" y="0"/>
                </a:moveTo>
                <a:lnTo>
                  <a:pt x="3787140" y="0"/>
                </a:lnTo>
                <a:lnTo>
                  <a:pt x="3787140" y="1537716"/>
                </a:lnTo>
                <a:lnTo>
                  <a:pt x="0" y="153771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365760" y="6144768"/>
            <a:ext cx="3749040" cy="1499616"/>
            <a:chOff x="0" y="0"/>
            <a:chExt cx="4998720" cy="1999488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987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357" t="0" r="-1356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365760" y="6101906"/>
            <a:ext cx="3749040" cy="1542478"/>
            <a:chOff x="0" y="0"/>
            <a:chExt cx="4998720" cy="205663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998720" cy="2056638"/>
            </a:xfrm>
            <a:custGeom>
              <a:avLst/>
              <a:gdLst/>
              <a:ahLst/>
              <a:cxnLst/>
              <a:rect r="r" b="b" t="t" l="l"/>
              <a:pathLst>
                <a:path h="205663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056638"/>
                  </a:lnTo>
                  <a:lnTo>
                    <a:pt x="0" y="205663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788" t="0" r="-2788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4998720" cy="21137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Police/Hunter</a:t>
              </a:r>
            </a:p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Fuzzy Logic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6290310" y="5632704"/>
            <a:ext cx="38100" cy="512064"/>
            <a:chOff x="0" y="0"/>
            <a:chExt cx="50800" cy="68275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0800" cy="682752"/>
            </a:xfrm>
            <a:custGeom>
              <a:avLst/>
              <a:gdLst/>
              <a:ahLst/>
              <a:cxnLst/>
              <a:rect r="r" b="b" t="t" l="l"/>
              <a:pathLst>
                <a:path h="682752" w="50800">
                  <a:moveTo>
                    <a:pt x="50800" y="0"/>
                  </a:moveTo>
                  <a:lnTo>
                    <a:pt x="50800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05252"/>
            </a:solid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4461510" y="6125718"/>
            <a:ext cx="3787140" cy="1537716"/>
          </a:xfrm>
          <a:custGeom>
            <a:avLst/>
            <a:gdLst/>
            <a:ahLst/>
            <a:cxnLst/>
            <a:rect r="r" b="b" t="t" l="l"/>
            <a:pathLst>
              <a:path h="1537716" w="3787140">
                <a:moveTo>
                  <a:pt x="0" y="0"/>
                </a:moveTo>
                <a:lnTo>
                  <a:pt x="3787140" y="0"/>
                </a:lnTo>
                <a:lnTo>
                  <a:pt x="3787140" y="1537716"/>
                </a:lnTo>
                <a:lnTo>
                  <a:pt x="0" y="153771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4480560" y="6144768"/>
            <a:ext cx="3749040" cy="1499616"/>
            <a:chOff x="0" y="0"/>
            <a:chExt cx="4998720" cy="19994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9987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357" t="0" r="-1356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480560" y="6101906"/>
            <a:ext cx="3749040" cy="1542478"/>
            <a:chOff x="0" y="0"/>
            <a:chExt cx="4998720" cy="20566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998720" cy="2056638"/>
            </a:xfrm>
            <a:custGeom>
              <a:avLst/>
              <a:gdLst/>
              <a:ahLst/>
              <a:cxnLst/>
              <a:rect r="r" b="b" t="t" l="l"/>
              <a:pathLst>
                <a:path h="205663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056638"/>
                  </a:lnTo>
                  <a:lnTo>
                    <a:pt x="0" y="205663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788" t="0" r="-278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4998720" cy="21137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 Prisoner</a:t>
              </a:r>
            </a:p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Minimax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405110" y="5632704"/>
            <a:ext cx="38100" cy="512064"/>
            <a:chOff x="0" y="0"/>
            <a:chExt cx="5080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800" cy="682752"/>
            </a:xfrm>
            <a:custGeom>
              <a:avLst/>
              <a:gdLst/>
              <a:ahLst/>
              <a:cxnLst/>
              <a:rect r="r" b="b" t="t" l="l"/>
              <a:pathLst>
                <a:path h="682752" w="50800">
                  <a:moveTo>
                    <a:pt x="50800" y="0"/>
                  </a:moveTo>
                  <a:lnTo>
                    <a:pt x="50800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sp>
        <p:nvSpPr>
          <p:cNvPr name="Freeform 52" id="52"/>
          <p:cNvSpPr/>
          <p:nvPr/>
        </p:nvSpPr>
        <p:spPr>
          <a:xfrm flipH="false" flipV="false" rot="0">
            <a:off x="8576310" y="6125718"/>
            <a:ext cx="3787140" cy="1537716"/>
          </a:xfrm>
          <a:custGeom>
            <a:avLst/>
            <a:gdLst/>
            <a:ahLst/>
            <a:cxnLst/>
            <a:rect r="r" b="b" t="t" l="l"/>
            <a:pathLst>
              <a:path h="1537716" w="3787140">
                <a:moveTo>
                  <a:pt x="0" y="0"/>
                </a:moveTo>
                <a:lnTo>
                  <a:pt x="3787140" y="0"/>
                </a:lnTo>
                <a:lnTo>
                  <a:pt x="3787140" y="1537716"/>
                </a:lnTo>
                <a:lnTo>
                  <a:pt x="0" y="153771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8595360" y="6144768"/>
            <a:ext cx="3749040" cy="1499616"/>
            <a:chOff x="0" y="0"/>
            <a:chExt cx="4998720" cy="19994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987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357" t="0" r="-1356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8595360" y="6101906"/>
            <a:ext cx="3749040" cy="1542478"/>
            <a:chOff x="0" y="0"/>
            <a:chExt cx="4998720" cy="205663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998720" cy="2056638"/>
            </a:xfrm>
            <a:custGeom>
              <a:avLst/>
              <a:gdLst/>
              <a:ahLst/>
              <a:cxnLst/>
              <a:rect r="r" b="b" t="t" l="l"/>
              <a:pathLst>
                <a:path h="205663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056638"/>
                  </a:lnTo>
                  <a:lnTo>
                    <a:pt x="0" y="205663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788" t="0" r="-2788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4998720" cy="21137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4FC3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Blue Prisoner</a:t>
              </a:r>
            </a:p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4FC3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MCTS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4519910" y="5632704"/>
            <a:ext cx="38100" cy="512064"/>
            <a:chOff x="0" y="0"/>
            <a:chExt cx="50800" cy="68275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0800" cy="682752"/>
            </a:xfrm>
            <a:custGeom>
              <a:avLst/>
              <a:gdLst/>
              <a:ahLst/>
              <a:cxnLst/>
              <a:rect r="r" b="b" t="t" l="l"/>
              <a:pathLst>
                <a:path h="682752" w="50800">
                  <a:moveTo>
                    <a:pt x="50800" y="0"/>
                  </a:moveTo>
                  <a:lnTo>
                    <a:pt x="50800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</p:spPr>
        </p:sp>
      </p:grpSp>
      <p:sp>
        <p:nvSpPr>
          <p:cNvPr name="Freeform 60" id="60"/>
          <p:cNvSpPr/>
          <p:nvPr/>
        </p:nvSpPr>
        <p:spPr>
          <a:xfrm flipH="false" flipV="false" rot="0">
            <a:off x="12691110" y="6125718"/>
            <a:ext cx="3787140" cy="1537716"/>
          </a:xfrm>
          <a:custGeom>
            <a:avLst/>
            <a:gdLst/>
            <a:ahLst/>
            <a:cxnLst/>
            <a:rect r="r" b="b" t="t" l="l"/>
            <a:pathLst>
              <a:path h="1537716" w="3787140">
                <a:moveTo>
                  <a:pt x="0" y="0"/>
                </a:moveTo>
                <a:lnTo>
                  <a:pt x="3787140" y="0"/>
                </a:lnTo>
                <a:lnTo>
                  <a:pt x="3787140" y="1537716"/>
                </a:lnTo>
                <a:lnTo>
                  <a:pt x="0" y="153771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1" id="61"/>
          <p:cNvGrpSpPr/>
          <p:nvPr/>
        </p:nvGrpSpPr>
        <p:grpSpPr>
          <a:xfrm rot="0">
            <a:off x="12710160" y="6144768"/>
            <a:ext cx="3749040" cy="1499616"/>
            <a:chOff x="0" y="0"/>
            <a:chExt cx="4998720" cy="199948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998720" cy="1999488"/>
            </a:xfrm>
            <a:custGeom>
              <a:avLst/>
              <a:gdLst/>
              <a:ahLst/>
              <a:cxnLst/>
              <a:rect r="r" b="b" t="t" l="l"/>
              <a:pathLst>
                <a:path h="199948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357" t="0" r="-1356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2710160" y="6101906"/>
            <a:ext cx="3749040" cy="1542478"/>
            <a:chOff x="0" y="0"/>
            <a:chExt cx="4998720" cy="205663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998720" cy="2056638"/>
            </a:xfrm>
            <a:custGeom>
              <a:avLst/>
              <a:gdLst/>
              <a:ahLst/>
              <a:cxnLst/>
              <a:rect r="r" b="b" t="t" l="l"/>
              <a:pathLst>
                <a:path h="2056638" w="4998720">
                  <a:moveTo>
                    <a:pt x="0" y="0"/>
                  </a:moveTo>
                  <a:lnTo>
                    <a:pt x="4998720" y="0"/>
                  </a:lnTo>
                  <a:lnTo>
                    <a:pt x="4998720" y="2056638"/>
                  </a:lnTo>
                  <a:lnTo>
                    <a:pt x="0" y="205663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788" t="0" r="-2788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57150"/>
              <a:ext cx="4998720" cy="21137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9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Dog NPC</a:t>
              </a:r>
            </a:p>
            <a:p>
              <a:pPr algn="ctr">
                <a:lnSpc>
                  <a:spcPts val="2879"/>
                </a:lnSpc>
              </a:pPr>
              <a:r>
                <a:rPr lang="en-US" sz="2399" b="true">
                  <a:solidFill>
                    <a:srgbClr val="FF9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+ CCTV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9124950" y="5157216"/>
            <a:ext cx="38100" cy="475488"/>
            <a:chOff x="0" y="0"/>
            <a:chExt cx="50800" cy="6339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0800" cy="633984"/>
            </a:xfrm>
            <a:custGeom>
              <a:avLst/>
              <a:gdLst/>
              <a:ahLst/>
              <a:cxnLst/>
              <a:rect r="r" b="b" t="t" l="l"/>
              <a:pathLst>
                <a:path h="633984" w="50800">
                  <a:moveTo>
                    <a:pt x="50800" y="0"/>
                  </a:moveTo>
                  <a:lnTo>
                    <a:pt x="50800" y="633984"/>
                  </a:lnTo>
                  <a:lnTo>
                    <a:pt x="0" y="633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426272" y="7863840"/>
            <a:ext cx="17190720" cy="457200"/>
            <a:chOff x="0" y="0"/>
            <a:chExt cx="2292096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920961" cy="609600"/>
            </a:xfrm>
            <a:custGeom>
              <a:avLst/>
              <a:gdLst/>
              <a:ahLst/>
              <a:cxnLst/>
              <a:rect r="r" b="b" t="t" l="l"/>
              <a:pathLst>
                <a:path h="609600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82127" r="0" b="-682129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426272" y="7828121"/>
            <a:ext cx="17190720" cy="492919"/>
            <a:chOff x="0" y="0"/>
            <a:chExt cx="22920960" cy="65722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2920961" cy="657225"/>
            </a:xfrm>
            <a:custGeom>
              <a:avLst/>
              <a:gdLst/>
              <a:ahLst/>
              <a:cxnLst/>
              <a:rect r="r" b="b" t="t" l="l"/>
              <a:pathLst>
                <a:path h="657225" w="22920961">
                  <a:moveTo>
                    <a:pt x="0" y="0"/>
                  </a:moveTo>
                  <a:lnTo>
                    <a:pt x="22920961" y="0"/>
                  </a:lnTo>
                  <a:lnTo>
                    <a:pt x="22920961" y="657225"/>
                  </a:lnTo>
                  <a:lnTo>
                    <a:pt x="0" y="65722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29547" r="0" b="-62954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22920960" cy="70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19"/>
                </a:lnSpc>
              </a:pPr>
              <a:r>
                <a:rPr lang="en-US" sz="20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 LAYER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444503" y="8308343"/>
            <a:ext cx="3280600" cy="1268920"/>
          </a:xfrm>
          <a:custGeom>
            <a:avLst/>
            <a:gdLst/>
            <a:ahLst/>
            <a:cxnLst/>
            <a:rect r="r" b="b" t="t" l="l"/>
            <a:pathLst>
              <a:path h="1268920" w="3280600">
                <a:moveTo>
                  <a:pt x="0" y="0"/>
                </a:moveTo>
                <a:lnTo>
                  <a:pt x="3280601" y="0"/>
                </a:lnTo>
                <a:lnTo>
                  <a:pt x="3280601" y="1268921"/>
                </a:lnTo>
                <a:lnTo>
                  <a:pt x="0" y="12689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457200" y="8321040"/>
            <a:ext cx="3255264" cy="1243584"/>
            <a:chOff x="0" y="0"/>
            <a:chExt cx="4340352" cy="165811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3403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9" r="0" b="-969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457200" y="8285321"/>
            <a:ext cx="3255264" cy="1279303"/>
            <a:chOff x="0" y="0"/>
            <a:chExt cx="4340352" cy="1705737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340352" cy="1705737"/>
            </a:xfrm>
            <a:custGeom>
              <a:avLst/>
              <a:gdLst/>
              <a:ahLst/>
              <a:cxnLst/>
              <a:rect r="r" b="b" t="t" l="l"/>
              <a:pathLst>
                <a:path h="1705737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05737"/>
                  </a:lnTo>
                  <a:lnTo>
                    <a:pt x="0" y="17057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22" t="0" r="-422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4340352" cy="1753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Grid/Cost/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Danger Maps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3955799" y="8308343"/>
            <a:ext cx="3280600" cy="1268920"/>
          </a:xfrm>
          <a:custGeom>
            <a:avLst/>
            <a:gdLst/>
            <a:ahLst/>
            <a:cxnLst/>
            <a:rect r="r" b="b" t="t" l="l"/>
            <a:pathLst>
              <a:path h="1268920" w="3280600">
                <a:moveTo>
                  <a:pt x="0" y="0"/>
                </a:moveTo>
                <a:lnTo>
                  <a:pt x="3280601" y="0"/>
                </a:lnTo>
                <a:lnTo>
                  <a:pt x="3280601" y="1268921"/>
                </a:lnTo>
                <a:lnTo>
                  <a:pt x="0" y="12689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3968496" y="8321040"/>
            <a:ext cx="3255264" cy="1243584"/>
            <a:chOff x="0" y="0"/>
            <a:chExt cx="4340352" cy="165811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3403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9" r="0" b="-969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3968496" y="8285321"/>
            <a:ext cx="3255264" cy="1279303"/>
            <a:chOff x="0" y="0"/>
            <a:chExt cx="4340352" cy="170573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4340352" cy="1705737"/>
            </a:xfrm>
            <a:custGeom>
              <a:avLst/>
              <a:gdLst/>
              <a:ahLst/>
              <a:cxnLst/>
              <a:rect r="r" b="b" t="t" l="l"/>
              <a:pathLst>
                <a:path h="1705737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05737"/>
                  </a:lnTo>
                  <a:lnTo>
                    <a:pt x="0" y="17057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22" t="0" r="-422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4340352" cy="1753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Scoring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7467095" y="8308343"/>
            <a:ext cx="3280600" cy="1268920"/>
          </a:xfrm>
          <a:custGeom>
            <a:avLst/>
            <a:gdLst/>
            <a:ahLst/>
            <a:cxnLst/>
            <a:rect r="r" b="b" t="t" l="l"/>
            <a:pathLst>
              <a:path h="1268920" w="3280600">
                <a:moveTo>
                  <a:pt x="0" y="0"/>
                </a:moveTo>
                <a:lnTo>
                  <a:pt x="3280601" y="0"/>
                </a:lnTo>
                <a:lnTo>
                  <a:pt x="3280601" y="1268921"/>
                </a:lnTo>
                <a:lnTo>
                  <a:pt x="0" y="12689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6" id="86"/>
          <p:cNvGrpSpPr/>
          <p:nvPr/>
        </p:nvGrpSpPr>
        <p:grpSpPr>
          <a:xfrm rot="0">
            <a:off x="7479792" y="8321040"/>
            <a:ext cx="3255264" cy="1243584"/>
            <a:chOff x="0" y="0"/>
            <a:chExt cx="4340352" cy="16581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3403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9" r="0" b="-969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7479792" y="8285321"/>
            <a:ext cx="3255264" cy="1279303"/>
            <a:chOff x="0" y="0"/>
            <a:chExt cx="4340352" cy="170573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4340352" cy="1705737"/>
            </a:xfrm>
            <a:custGeom>
              <a:avLst/>
              <a:gdLst/>
              <a:ahLst/>
              <a:cxnLst/>
              <a:rect r="r" b="b" t="t" l="l"/>
              <a:pathLst>
                <a:path h="1705737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05737"/>
                  </a:lnTo>
                  <a:lnTo>
                    <a:pt x="0" y="17057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22" t="0" r="-422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4340352" cy="1753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HUD +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Overlays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10978391" y="8308343"/>
            <a:ext cx="3280600" cy="1268920"/>
          </a:xfrm>
          <a:custGeom>
            <a:avLst/>
            <a:gdLst/>
            <a:ahLst/>
            <a:cxnLst/>
            <a:rect r="r" b="b" t="t" l="l"/>
            <a:pathLst>
              <a:path h="1268920" w="3280600">
                <a:moveTo>
                  <a:pt x="0" y="0"/>
                </a:moveTo>
                <a:lnTo>
                  <a:pt x="3280601" y="0"/>
                </a:lnTo>
                <a:lnTo>
                  <a:pt x="3280601" y="1268921"/>
                </a:lnTo>
                <a:lnTo>
                  <a:pt x="0" y="12689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10991088" y="8321040"/>
            <a:ext cx="3255264" cy="1243584"/>
            <a:chOff x="0" y="0"/>
            <a:chExt cx="4340352" cy="16581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3403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9" r="0" b="-969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991088" y="8285321"/>
            <a:ext cx="3255264" cy="1279303"/>
            <a:chOff x="0" y="0"/>
            <a:chExt cx="4340352" cy="170573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340352" cy="1705737"/>
            </a:xfrm>
            <a:custGeom>
              <a:avLst/>
              <a:gdLst/>
              <a:ahLst/>
              <a:cxnLst/>
              <a:rect r="r" b="b" t="t" l="l"/>
              <a:pathLst>
                <a:path h="1705737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05737"/>
                  </a:lnTo>
                  <a:lnTo>
                    <a:pt x="0" y="17057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22" t="0" r="-422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4340352" cy="1753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Replay +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Benchmark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14489687" y="8308343"/>
            <a:ext cx="3280601" cy="1268920"/>
          </a:xfrm>
          <a:custGeom>
            <a:avLst/>
            <a:gdLst/>
            <a:ahLst/>
            <a:cxnLst/>
            <a:rect r="r" b="b" t="t" l="l"/>
            <a:pathLst>
              <a:path h="1268920" w="3280601">
                <a:moveTo>
                  <a:pt x="0" y="0"/>
                </a:moveTo>
                <a:lnTo>
                  <a:pt x="3280601" y="0"/>
                </a:lnTo>
                <a:lnTo>
                  <a:pt x="3280601" y="1268921"/>
                </a:lnTo>
                <a:lnTo>
                  <a:pt x="0" y="126892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14502384" y="8321040"/>
            <a:ext cx="3255264" cy="1243584"/>
            <a:chOff x="0" y="0"/>
            <a:chExt cx="4340352" cy="16581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340352" cy="1658112"/>
            </a:xfrm>
            <a:custGeom>
              <a:avLst/>
              <a:gdLst/>
              <a:ahLst/>
              <a:cxnLst/>
              <a:rect r="r" b="b" t="t" l="l"/>
              <a:pathLst>
                <a:path h="1658112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69" r="0" b="-969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502384" y="8285321"/>
            <a:ext cx="3255264" cy="1279303"/>
            <a:chOff x="0" y="0"/>
            <a:chExt cx="4340352" cy="1705737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4340352" cy="1705737"/>
            </a:xfrm>
            <a:custGeom>
              <a:avLst/>
              <a:gdLst/>
              <a:ahLst/>
              <a:cxnLst/>
              <a:rect r="r" b="b" t="t" l="l"/>
              <a:pathLst>
                <a:path h="1705737" w="4340352">
                  <a:moveTo>
                    <a:pt x="0" y="0"/>
                  </a:moveTo>
                  <a:lnTo>
                    <a:pt x="4340352" y="0"/>
                  </a:lnTo>
                  <a:lnTo>
                    <a:pt x="4340352" y="1705737"/>
                  </a:lnTo>
                  <a:lnTo>
                    <a:pt x="0" y="17057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22" t="0" r="-422" b="0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4340352" cy="17533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Analysis</a:t>
              </a:r>
            </a:p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Screen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246" t="0" r="-30244" b="0"/>
              </a:stretch>
            </a:blip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48640" y="1521714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6" y="0"/>
                </a:lnTo>
                <a:lnTo>
                  <a:pt x="3865816" y="107632"/>
                </a:lnTo>
                <a:lnTo>
                  <a:pt x="0" y="107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14523" y="1528058"/>
            <a:ext cx="6426136" cy="94945"/>
          </a:xfrm>
          <a:custGeom>
            <a:avLst/>
            <a:gdLst/>
            <a:ahLst/>
            <a:cxnLst/>
            <a:rect r="r" b="b" t="t" l="l"/>
            <a:pathLst>
              <a:path h="94945" w="6426136">
                <a:moveTo>
                  <a:pt x="0" y="0"/>
                </a:moveTo>
                <a:lnTo>
                  <a:pt x="6426137" y="0"/>
                </a:lnTo>
                <a:lnTo>
                  <a:pt x="6426137" y="94945"/>
                </a:lnTo>
                <a:lnTo>
                  <a:pt x="0" y="949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Game Environment Design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8640" y="1894837"/>
            <a:ext cx="5420296" cy="2439353"/>
          </a:xfrm>
          <a:custGeom>
            <a:avLst/>
            <a:gdLst/>
            <a:ahLst/>
            <a:cxnLst/>
            <a:rect r="r" b="b" t="t" l="l"/>
            <a:pathLst>
              <a:path h="2439353" w="5420296">
                <a:moveTo>
                  <a:pt x="0" y="0"/>
                </a:moveTo>
                <a:lnTo>
                  <a:pt x="5420296" y="0"/>
                </a:lnTo>
                <a:lnTo>
                  <a:pt x="5420296" y="2439352"/>
                </a:lnTo>
                <a:lnTo>
                  <a:pt x="0" y="2439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8640" y="1894837"/>
            <a:ext cx="5420296" cy="683705"/>
          </a:xfrm>
          <a:custGeom>
            <a:avLst/>
            <a:gdLst/>
            <a:ahLst/>
            <a:cxnLst/>
            <a:rect r="r" b="b" t="t" l="l"/>
            <a:pathLst>
              <a:path h="683705" w="5420296">
                <a:moveTo>
                  <a:pt x="0" y="0"/>
                </a:moveTo>
                <a:lnTo>
                  <a:pt x="5420296" y="0"/>
                </a:lnTo>
                <a:lnTo>
                  <a:pt x="5420296" y="683704"/>
                </a:lnTo>
                <a:lnTo>
                  <a:pt x="0" y="6837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07641" y="1944110"/>
            <a:ext cx="5102352" cy="585216"/>
            <a:chOff x="0" y="0"/>
            <a:chExt cx="6803136" cy="7802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03136" cy="780288"/>
            </a:xfrm>
            <a:custGeom>
              <a:avLst/>
              <a:gdLst/>
              <a:ahLst/>
              <a:cxnLst/>
              <a:rect r="r" b="b" t="t" l="l"/>
              <a:pathLst>
                <a:path h="78028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9767" r="0" b="-11976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07641" y="1908391"/>
            <a:ext cx="5102352" cy="620935"/>
            <a:chOff x="0" y="0"/>
            <a:chExt cx="6803136" cy="8279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03136" cy="827913"/>
            </a:xfrm>
            <a:custGeom>
              <a:avLst/>
              <a:gdLst/>
              <a:ahLst/>
              <a:cxnLst/>
              <a:rect r="r" b="b" t="t" l="l"/>
              <a:pathLst>
                <a:path h="827913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0112" r="0" b="-1101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803136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Grid-Based Map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7641" y="2639054"/>
            <a:ext cx="5102352" cy="1591056"/>
            <a:chOff x="0" y="0"/>
            <a:chExt cx="6803136" cy="21214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03136" cy="2121408"/>
            </a:xfrm>
            <a:custGeom>
              <a:avLst/>
              <a:gdLst/>
              <a:ahLst/>
              <a:cxnLst/>
              <a:rect r="r" b="b" t="t" l="l"/>
              <a:pathLst>
                <a:path h="21214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443" r="0" b="-1244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07641" y="2610479"/>
            <a:ext cx="5102352" cy="1619631"/>
            <a:chOff x="0" y="0"/>
            <a:chExt cx="6803136" cy="21595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803136" cy="2159508"/>
            </a:xfrm>
            <a:custGeom>
              <a:avLst/>
              <a:gdLst/>
              <a:ahLst/>
              <a:cxnLst/>
              <a:rect r="r" b="b" t="t" l="l"/>
              <a:pathLst>
                <a:path h="21595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59508"/>
                  </a:lnTo>
                  <a:lnTo>
                    <a:pt x="0" y="21595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384" r="0" b="-1138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6803136" cy="2207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Discrete tile grid — all agents share same coordinate model for pathfinding, MCTS rollouts, Minimax, CCTV visibility.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190250" y="1894837"/>
            <a:ext cx="5420296" cy="2439353"/>
          </a:xfrm>
          <a:custGeom>
            <a:avLst/>
            <a:gdLst/>
            <a:ahLst/>
            <a:cxnLst/>
            <a:rect r="r" b="b" t="t" l="l"/>
            <a:pathLst>
              <a:path h="2439353" w="5420296">
                <a:moveTo>
                  <a:pt x="0" y="0"/>
                </a:moveTo>
                <a:lnTo>
                  <a:pt x="5420296" y="0"/>
                </a:lnTo>
                <a:lnTo>
                  <a:pt x="5420296" y="2439352"/>
                </a:lnTo>
                <a:lnTo>
                  <a:pt x="0" y="2439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190250" y="1894837"/>
            <a:ext cx="5420296" cy="683705"/>
          </a:xfrm>
          <a:custGeom>
            <a:avLst/>
            <a:gdLst/>
            <a:ahLst/>
            <a:cxnLst/>
            <a:rect r="r" b="b" t="t" l="l"/>
            <a:pathLst>
              <a:path h="683705" w="5420296">
                <a:moveTo>
                  <a:pt x="0" y="0"/>
                </a:moveTo>
                <a:lnTo>
                  <a:pt x="5420296" y="0"/>
                </a:lnTo>
                <a:lnTo>
                  <a:pt x="5420296" y="683704"/>
                </a:lnTo>
                <a:lnTo>
                  <a:pt x="0" y="68370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349251" y="1944110"/>
            <a:ext cx="5102352" cy="585216"/>
            <a:chOff x="0" y="0"/>
            <a:chExt cx="6803136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03136" cy="780288"/>
            </a:xfrm>
            <a:custGeom>
              <a:avLst/>
              <a:gdLst/>
              <a:ahLst/>
              <a:cxnLst/>
              <a:rect r="r" b="b" t="t" l="l"/>
              <a:pathLst>
                <a:path h="78028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9767" r="0" b="-119767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349251" y="1908391"/>
            <a:ext cx="5102352" cy="620935"/>
            <a:chOff x="0" y="0"/>
            <a:chExt cx="6803136" cy="82791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803136" cy="827913"/>
            </a:xfrm>
            <a:custGeom>
              <a:avLst/>
              <a:gdLst/>
              <a:ahLst/>
              <a:cxnLst/>
              <a:rect r="r" b="b" t="t" l="l"/>
              <a:pathLst>
                <a:path h="827913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0112" r="0" b="-11011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803136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Walls &amp; Barriers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49251" y="2639054"/>
            <a:ext cx="5102352" cy="1591056"/>
            <a:chOff x="0" y="0"/>
            <a:chExt cx="6803136" cy="21214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803136" cy="2121408"/>
            </a:xfrm>
            <a:custGeom>
              <a:avLst/>
              <a:gdLst/>
              <a:ahLst/>
              <a:cxnLst/>
              <a:rect r="r" b="b" t="t" l="l"/>
              <a:pathLst>
                <a:path h="21214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443" r="0" b="-12443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349251" y="2610479"/>
            <a:ext cx="5102352" cy="1619631"/>
            <a:chOff x="0" y="0"/>
            <a:chExt cx="6803136" cy="21595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803136" cy="2159508"/>
            </a:xfrm>
            <a:custGeom>
              <a:avLst/>
              <a:gdLst/>
              <a:ahLst/>
              <a:cxnLst/>
              <a:rect r="r" b="b" t="t" l="l"/>
              <a:pathLst>
                <a:path h="21595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59508"/>
                  </a:lnTo>
                  <a:lnTo>
                    <a:pt x="0" y="21595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384" r="0" b="-1138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6803136" cy="2207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Block movement, force route planning. Doors/barriers restrict paths, adding strategic depth.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548640" y="4491733"/>
            <a:ext cx="5420296" cy="2439353"/>
          </a:xfrm>
          <a:custGeom>
            <a:avLst/>
            <a:gdLst/>
            <a:ahLst/>
            <a:cxnLst/>
            <a:rect r="r" b="b" t="t" l="l"/>
            <a:pathLst>
              <a:path h="2439353" w="5420296">
                <a:moveTo>
                  <a:pt x="0" y="0"/>
                </a:moveTo>
                <a:lnTo>
                  <a:pt x="5420296" y="0"/>
                </a:lnTo>
                <a:lnTo>
                  <a:pt x="5420296" y="2439352"/>
                </a:lnTo>
                <a:lnTo>
                  <a:pt x="0" y="2439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48640" y="4491733"/>
            <a:ext cx="5420296" cy="683704"/>
          </a:xfrm>
          <a:custGeom>
            <a:avLst/>
            <a:gdLst/>
            <a:ahLst/>
            <a:cxnLst/>
            <a:rect r="r" b="b" t="t" l="l"/>
            <a:pathLst>
              <a:path h="683704" w="5420296">
                <a:moveTo>
                  <a:pt x="0" y="0"/>
                </a:moveTo>
                <a:lnTo>
                  <a:pt x="5420296" y="0"/>
                </a:lnTo>
                <a:lnTo>
                  <a:pt x="5420296" y="683704"/>
                </a:lnTo>
                <a:lnTo>
                  <a:pt x="0" y="68370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707641" y="4541006"/>
            <a:ext cx="5102352" cy="585216"/>
            <a:chOff x="0" y="0"/>
            <a:chExt cx="6803136" cy="78028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803136" cy="780288"/>
            </a:xfrm>
            <a:custGeom>
              <a:avLst/>
              <a:gdLst/>
              <a:ahLst/>
              <a:cxnLst/>
              <a:rect r="r" b="b" t="t" l="l"/>
              <a:pathLst>
                <a:path h="78028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19">
                <a:alphaModFix amt="0"/>
              </a:blip>
              <a:stretch>
                <a:fillRect l="0" t="-360470" r="0" b="-36047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07641" y="4505287"/>
            <a:ext cx="5102352" cy="620935"/>
            <a:chOff x="0" y="0"/>
            <a:chExt cx="6803136" cy="82791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03136" cy="827913"/>
            </a:xfrm>
            <a:custGeom>
              <a:avLst/>
              <a:gdLst/>
              <a:ahLst/>
              <a:cxnLst/>
              <a:rect r="r" b="b" t="t" l="l"/>
              <a:pathLst>
                <a:path h="827913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0112" r="0" b="-1101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803136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Fire Hazards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7641" y="5235950"/>
            <a:ext cx="5102352" cy="1591056"/>
            <a:chOff x="0" y="0"/>
            <a:chExt cx="6803136" cy="21214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803136" cy="2121408"/>
            </a:xfrm>
            <a:custGeom>
              <a:avLst/>
              <a:gdLst/>
              <a:ahLst/>
              <a:cxnLst/>
              <a:rect r="r" b="b" t="t" l="l"/>
              <a:pathLst>
                <a:path h="21214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443" r="0" b="-1244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07641" y="5207375"/>
            <a:ext cx="5102352" cy="1619631"/>
            <a:chOff x="0" y="0"/>
            <a:chExt cx="6803136" cy="21595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803136" cy="2159508"/>
            </a:xfrm>
            <a:custGeom>
              <a:avLst/>
              <a:gdLst/>
              <a:ahLst/>
              <a:cxnLst/>
              <a:rect r="r" b="b" t="t" l="l"/>
              <a:pathLst>
                <a:path h="21595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59508"/>
                  </a:lnTo>
                  <a:lnTo>
                    <a:pt x="0" y="21595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384" r="0" b="-1138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6803136" cy="2207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Seed the danger map. Create penalties and elimination pressure, narrowing safe routes.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6190250" y="4491733"/>
            <a:ext cx="5420296" cy="2439353"/>
          </a:xfrm>
          <a:custGeom>
            <a:avLst/>
            <a:gdLst/>
            <a:ahLst/>
            <a:cxnLst/>
            <a:rect r="r" b="b" t="t" l="l"/>
            <a:pathLst>
              <a:path h="2439353" w="5420296">
                <a:moveTo>
                  <a:pt x="0" y="0"/>
                </a:moveTo>
                <a:lnTo>
                  <a:pt x="5420296" y="0"/>
                </a:lnTo>
                <a:lnTo>
                  <a:pt x="5420296" y="2439352"/>
                </a:lnTo>
                <a:lnTo>
                  <a:pt x="0" y="2439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6190250" y="4491733"/>
            <a:ext cx="5420296" cy="683704"/>
          </a:xfrm>
          <a:custGeom>
            <a:avLst/>
            <a:gdLst/>
            <a:ahLst/>
            <a:cxnLst/>
            <a:rect r="r" b="b" t="t" l="l"/>
            <a:pathLst>
              <a:path h="683704" w="5420296">
                <a:moveTo>
                  <a:pt x="0" y="0"/>
                </a:moveTo>
                <a:lnTo>
                  <a:pt x="5420296" y="0"/>
                </a:lnTo>
                <a:lnTo>
                  <a:pt x="5420296" y="683704"/>
                </a:lnTo>
                <a:lnTo>
                  <a:pt x="0" y="68370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6349251" y="4541006"/>
            <a:ext cx="5102352" cy="585216"/>
            <a:chOff x="0" y="0"/>
            <a:chExt cx="6803136" cy="7802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03136" cy="780288"/>
            </a:xfrm>
            <a:custGeom>
              <a:avLst/>
              <a:gdLst/>
              <a:ahLst/>
              <a:cxnLst/>
              <a:rect r="r" b="b" t="t" l="l"/>
              <a:pathLst>
                <a:path h="78028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9767" r="0" b="-119767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6349251" y="4505287"/>
            <a:ext cx="5102352" cy="620935"/>
            <a:chOff x="0" y="0"/>
            <a:chExt cx="6803136" cy="82791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803136" cy="827913"/>
            </a:xfrm>
            <a:custGeom>
              <a:avLst/>
              <a:gdLst/>
              <a:ahLst/>
              <a:cxnLst/>
              <a:rect r="r" b="b" t="t" l="l"/>
              <a:pathLst>
                <a:path h="827913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0112" r="0" b="-110112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803136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CCTV Cameras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349251" y="5235950"/>
            <a:ext cx="5102352" cy="1591056"/>
            <a:chOff x="0" y="0"/>
            <a:chExt cx="6803136" cy="21214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803136" cy="2121408"/>
            </a:xfrm>
            <a:custGeom>
              <a:avLst/>
              <a:gdLst/>
              <a:ahLst/>
              <a:cxnLst/>
              <a:rect r="r" b="b" t="t" l="l"/>
              <a:pathLst>
                <a:path h="21214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443" r="0" b="-12443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349251" y="5207375"/>
            <a:ext cx="5102352" cy="1619631"/>
            <a:chOff x="0" y="0"/>
            <a:chExt cx="6803136" cy="21595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03136" cy="2159508"/>
            </a:xfrm>
            <a:custGeom>
              <a:avLst/>
              <a:gdLst/>
              <a:ahLst/>
              <a:cxnLst/>
              <a:rect r="r" b="b" t="t" l="l"/>
              <a:pathLst>
                <a:path h="21595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59508"/>
                  </a:lnTo>
                  <a:lnTo>
                    <a:pt x="0" y="21595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384" r="0" b="-1138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6803136" cy="2207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Monitor zones using range/visibility. Detection raises Police/Hunter alert and triggers fuzzy behaviour changes.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548640" y="7088629"/>
            <a:ext cx="5420296" cy="2439353"/>
          </a:xfrm>
          <a:custGeom>
            <a:avLst/>
            <a:gdLst/>
            <a:ahLst/>
            <a:cxnLst/>
            <a:rect r="r" b="b" t="t" l="l"/>
            <a:pathLst>
              <a:path h="2439353" w="5420296">
                <a:moveTo>
                  <a:pt x="0" y="0"/>
                </a:moveTo>
                <a:lnTo>
                  <a:pt x="5420296" y="0"/>
                </a:lnTo>
                <a:lnTo>
                  <a:pt x="5420296" y="2439352"/>
                </a:lnTo>
                <a:lnTo>
                  <a:pt x="0" y="2439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548640" y="7088629"/>
            <a:ext cx="5420296" cy="683705"/>
          </a:xfrm>
          <a:custGeom>
            <a:avLst/>
            <a:gdLst/>
            <a:ahLst/>
            <a:cxnLst/>
            <a:rect r="r" b="b" t="t" l="l"/>
            <a:pathLst>
              <a:path h="683705" w="5420296">
                <a:moveTo>
                  <a:pt x="0" y="0"/>
                </a:moveTo>
                <a:lnTo>
                  <a:pt x="5420296" y="0"/>
                </a:lnTo>
                <a:lnTo>
                  <a:pt x="5420296" y="683704"/>
                </a:lnTo>
                <a:lnTo>
                  <a:pt x="0" y="68370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707641" y="7137902"/>
            <a:ext cx="5102352" cy="585216"/>
            <a:chOff x="0" y="0"/>
            <a:chExt cx="6803136" cy="7802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803136" cy="780288"/>
            </a:xfrm>
            <a:custGeom>
              <a:avLst/>
              <a:gdLst/>
              <a:ahLst/>
              <a:cxnLst/>
              <a:rect r="r" b="b" t="t" l="l"/>
              <a:pathLst>
                <a:path h="78028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9767" r="0" b="-119767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07641" y="7102183"/>
            <a:ext cx="5102352" cy="620935"/>
            <a:chOff x="0" y="0"/>
            <a:chExt cx="6803136" cy="827913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803136" cy="827913"/>
            </a:xfrm>
            <a:custGeom>
              <a:avLst/>
              <a:gdLst/>
              <a:ahLst/>
              <a:cxnLst/>
              <a:rect r="r" b="b" t="t" l="l"/>
              <a:pathLst>
                <a:path h="827913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0112" r="0" b="-110112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803136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Active Exit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07641" y="7832846"/>
            <a:ext cx="5102352" cy="1591056"/>
            <a:chOff x="0" y="0"/>
            <a:chExt cx="6803136" cy="21214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803136" cy="2121408"/>
            </a:xfrm>
            <a:custGeom>
              <a:avLst/>
              <a:gdLst/>
              <a:ahLst/>
              <a:cxnLst/>
              <a:rect r="r" b="b" t="t" l="l"/>
              <a:pathLst>
                <a:path h="21214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443" r="0" b="-12443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707641" y="7804271"/>
            <a:ext cx="5102352" cy="1619631"/>
            <a:chOff x="0" y="0"/>
            <a:chExt cx="6803136" cy="215950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803136" cy="2159508"/>
            </a:xfrm>
            <a:custGeom>
              <a:avLst/>
              <a:gdLst/>
              <a:ahLst/>
              <a:cxnLst/>
              <a:rect r="r" b="b" t="t" l="l"/>
              <a:pathLst>
                <a:path h="21595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59508"/>
                  </a:lnTo>
                  <a:lnTo>
                    <a:pt x="0" y="21595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384" r="0" b="-1138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6803136" cy="2207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Dynamic objective with rotation and decoy exits. Police uses exit threat to choose chase vs. intercept.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6190250" y="7088629"/>
            <a:ext cx="5420296" cy="2439353"/>
          </a:xfrm>
          <a:custGeom>
            <a:avLst/>
            <a:gdLst/>
            <a:ahLst/>
            <a:cxnLst/>
            <a:rect r="r" b="b" t="t" l="l"/>
            <a:pathLst>
              <a:path h="2439353" w="5420296">
                <a:moveTo>
                  <a:pt x="0" y="0"/>
                </a:moveTo>
                <a:lnTo>
                  <a:pt x="5420296" y="0"/>
                </a:lnTo>
                <a:lnTo>
                  <a:pt x="5420296" y="2439352"/>
                </a:lnTo>
                <a:lnTo>
                  <a:pt x="0" y="24393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6190250" y="7088629"/>
            <a:ext cx="5420296" cy="683705"/>
          </a:xfrm>
          <a:custGeom>
            <a:avLst/>
            <a:gdLst/>
            <a:ahLst/>
            <a:cxnLst/>
            <a:rect r="r" b="b" t="t" l="l"/>
            <a:pathLst>
              <a:path h="683705" w="5420296">
                <a:moveTo>
                  <a:pt x="0" y="0"/>
                </a:moveTo>
                <a:lnTo>
                  <a:pt x="5420296" y="0"/>
                </a:lnTo>
                <a:lnTo>
                  <a:pt x="5420296" y="683704"/>
                </a:lnTo>
                <a:lnTo>
                  <a:pt x="0" y="68370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6349251" y="7137902"/>
            <a:ext cx="5102352" cy="585216"/>
            <a:chOff x="0" y="0"/>
            <a:chExt cx="6803136" cy="78028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803136" cy="780288"/>
            </a:xfrm>
            <a:custGeom>
              <a:avLst/>
              <a:gdLst/>
              <a:ahLst/>
              <a:cxnLst/>
              <a:rect r="r" b="b" t="t" l="l"/>
              <a:pathLst>
                <a:path h="78028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9767" r="0" b="-119767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6349251" y="7102183"/>
            <a:ext cx="5102352" cy="620935"/>
            <a:chOff x="0" y="0"/>
            <a:chExt cx="6803136" cy="827913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803136" cy="827913"/>
            </a:xfrm>
            <a:custGeom>
              <a:avLst/>
              <a:gdLst/>
              <a:ahLst/>
              <a:cxnLst/>
              <a:rect r="r" b="b" t="t" l="l"/>
              <a:pathLst>
                <a:path h="827913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827913"/>
                  </a:lnTo>
                  <a:lnTo>
                    <a:pt x="0" y="8279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0112" r="0" b="-110112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803136" cy="8755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Dog NPC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6349251" y="7832846"/>
            <a:ext cx="5102352" cy="1591056"/>
            <a:chOff x="0" y="0"/>
            <a:chExt cx="6803136" cy="21214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803136" cy="2121408"/>
            </a:xfrm>
            <a:custGeom>
              <a:avLst/>
              <a:gdLst/>
              <a:ahLst/>
              <a:cxnLst/>
              <a:rect r="r" b="b" t="t" l="l"/>
              <a:pathLst>
                <a:path h="21214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443" r="0" b="-12443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6349251" y="7804271"/>
            <a:ext cx="5102352" cy="1619631"/>
            <a:chOff x="0" y="0"/>
            <a:chExt cx="6803136" cy="21595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803136" cy="2159508"/>
            </a:xfrm>
            <a:custGeom>
              <a:avLst/>
              <a:gdLst/>
              <a:ahLst/>
              <a:cxnLst/>
              <a:rect r="r" b="b" t="t" l="l"/>
              <a:pathLst>
                <a:path h="2159508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2159508"/>
                  </a:lnTo>
                  <a:lnTo>
                    <a:pt x="0" y="21595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1384" r="0" b="-1138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6803136" cy="2207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state-machine threat. Patrols, detects, sniffs, chases, latches — boosting danger map pressure.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246" t="0" r="-30244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880390" y="1969208"/>
            <a:ext cx="5493210" cy="5172304"/>
            <a:chOff x="0" y="0"/>
            <a:chExt cx="7324280" cy="689640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324344" cy="6896354"/>
            </a:xfrm>
            <a:custGeom>
              <a:avLst/>
              <a:gdLst/>
              <a:ahLst/>
              <a:cxnLst/>
              <a:rect r="r" b="b" t="t" l="l"/>
              <a:pathLst>
                <a:path h="6896354" w="7324344">
                  <a:moveTo>
                    <a:pt x="0" y="0"/>
                  </a:moveTo>
                  <a:lnTo>
                    <a:pt x="7324344" y="0"/>
                  </a:lnTo>
                  <a:lnTo>
                    <a:pt x="7324344" y="6896354"/>
                  </a:lnTo>
                  <a:lnTo>
                    <a:pt x="0" y="68963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89" id="89"/>
          <p:cNvSpPr txBox="true"/>
          <p:nvPr/>
        </p:nvSpPr>
        <p:spPr>
          <a:xfrm rot="0">
            <a:off x="11991613" y="7316210"/>
            <a:ext cx="4309637" cy="12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9">
                <a:solidFill>
                  <a:srgbClr val="E8F5EF"/>
                </a:solidFill>
                <a:latin typeface="Calibri (MS)"/>
                <a:ea typeface="Calibri (MS)"/>
                <a:cs typeface="Calibri (MS)"/>
                <a:sym typeface="Calibri (MS)"/>
              </a:rPr>
              <a:t>Figure -2  : Active exit and fire fazards in the game </a:t>
            </a:r>
          </a:p>
          <a:p>
            <a:pPr algn="ctr">
              <a:lnSpc>
                <a:spcPts val="3238"/>
              </a:lnSpc>
            </a:pPr>
          </a:p>
        </p:txBody>
      </p:sp>
      <p:sp>
        <p:nvSpPr>
          <p:cNvPr name="TextBox 90" id="9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4320" y="1028700"/>
            <a:ext cx="17739360" cy="7862333"/>
            <a:chOff x="0" y="0"/>
            <a:chExt cx="23652480" cy="1048311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652480" cy="10483111"/>
            </a:xfrm>
            <a:custGeom>
              <a:avLst/>
              <a:gdLst/>
              <a:ahLst/>
              <a:cxnLst/>
              <a:rect r="r" b="b" t="t" l="l"/>
              <a:pathLst>
                <a:path h="10483111" w="23652480">
                  <a:moveTo>
                    <a:pt x="0" y="0"/>
                  </a:moveTo>
                  <a:lnTo>
                    <a:pt x="23652480" y="0"/>
                  </a:lnTo>
                  <a:lnTo>
                    <a:pt x="23652480" y="10483111"/>
                  </a:lnTo>
                  <a:lnTo>
                    <a:pt x="0" y="10483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533" r="0" b="-1153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003174" y="9595929"/>
            <a:ext cx="9132845" cy="4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sz="2699">
                <a:solidFill>
                  <a:srgbClr val="E8F5EF"/>
                </a:solidFill>
                <a:latin typeface="Calibri (MS)"/>
                <a:ea typeface="Calibri (MS)"/>
                <a:cs typeface="Calibri (MS)"/>
                <a:sym typeface="Calibri (MS)"/>
              </a:rPr>
              <a:t>Figure -3  : CCTV surveillance and Police Alert Flow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893040" y="-207247"/>
            <a:ext cx="5120640" cy="1737360"/>
            <a:chOff x="0" y="0"/>
            <a:chExt cx="6827520" cy="2316480"/>
          </a:xfrm>
        </p:grpSpPr>
        <p:sp>
          <p:nvSpPr>
            <p:cNvPr name="Freeform 6" id="6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7259300" y="9201150"/>
            <a:ext cx="163972" cy="451929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3664"/>
              </a:lnSpc>
              <a:spcBef>
                <a:spcPct val="0"/>
              </a:spcBef>
            </a:pPr>
            <a:r>
              <a:rPr lang="en-US" sz="2617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68796" y="1740913"/>
            <a:ext cx="2951416" cy="107632"/>
          </a:xfrm>
          <a:custGeom>
            <a:avLst/>
            <a:gdLst/>
            <a:ahLst/>
            <a:cxnLst/>
            <a:rect r="r" b="b" t="t" l="l"/>
            <a:pathLst>
              <a:path h="107632" w="2951416">
                <a:moveTo>
                  <a:pt x="0" y="0"/>
                </a:moveTo>
                <a:lnTo>
                  <a:pt x="2951416" y="0"/>
                </a:lnTo>
                <a:lnTo>
                  <a:pt x="2951416" y="107632"/>
                </a:lnTo>
                <a:lnTo>
                  <a:pt x="0" y="1076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94876" y="174091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6" y="0"/>
                </a:lnTo>
                <a:lnTo>
                  <a:pt x="6426136" y="107632"/>
                </a:lnTo>
                <a:lnTo>
                  <a:pt x="0" y="10763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81492" y="162554"/>
            <a:ext cx="12801600" cy="1215390"/>
            <a:chOff x="0" y="0"/>
            <a:chExt cx="17068800" cy="1620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620520"/>
            </a:xfrm>
            <a:custGeom>
              <a:avLst/>
              <a:gdLst/>
              <a:ahLst/>
              <a:cxnLst/>
              <a:rect r="r" b="b" t="t" l="l"/>
              <a:pathLst>
                <a:path h="1620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620520"/>
                  </a:lnTo>
                  <a:lnTo>
                    <a:pt x="0" y="1620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5091" r="0" b="-15509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81492" y="148266"/>
            <a:ext cx="12801600" cy="1229677"/>
            <a:chOff x="0" y="0"/>
            <a:chExt cx="17068800" cy="16395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639570"/>
            </a:xfrm>
            <a:custGeom>
              <a:avLst/>
              <a:gdLst/>
              <a:ahLst/>
              <a:cxnLst/>
              <a:rect r="r" b="b" t="t" l="l"/>
              <a:pathLst>
                <a:path h="163957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639570"/>
                  </a:lnTo>
                  <a:lnTo>
                    <a:pt x="0" y="163957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2849" r="0" b="-15284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7068800" cy="1658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spc="-36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AI Agent 1: Police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1492" y="1113530"/>
            <a:ext cx="12801600" cy="694944"/>
            <a:chOff x="0" y="0"/>
            <a:chExt cx="1706880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8685" r="0" b="-30868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81492" y="1070667"/>
            <a:ext cx="12801600" cy="737806"/>
            <a:chOff x="0" y="0"/>
            <a:chExt cx="17068800" cy="9837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0" cy="983742"/>
            </a:xfrm>
            <a:custGeom>
              <a:avLst/>
              <a:gdLst/>
              <a:ahLst/>
              <a:cxnLst/>
              <a:rect r="r" b="b" t="t" l="l"/>
              <a:pathLst>
                <a:path h="98374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88082" r="0" b="-2880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706880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Fuzzy Logic Inference System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7686694" y="2064591"/>
            <a:ext cx="7353300" cy="1464564"/>
          </a:xfrm>
          <a:custGeom>
            <a:avLst/>
            <a:gdLst/>
            <a:ahLst/>
            <a:cxnLst/>
            <a:rect r="r" b="b" t="t" l="l"/>
            <a:pathLst>
              <a:path h="1464564" w="7353300">
                <a:moveTo>
                  <a:pt x="0" y="0"/>
                </a:moveTo>
                <a:lnTo>
                  <a:pt x="7353300" y="0"/>
                </a:lnTo>
                <a:lnTo>
                  <a:pt x="7353300" y="1464564"/>
                </a:lnTo>
                <a:lnTo>
                  <a:pt x="0" y="14645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825740" y="2017947"/>
            <a:ext cx="6949440" cy="512064"/>
            <a:chOff x="0" y="0"/>
            <a:chExt cx="926592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265920" cy="682752"/>
            </a:xfrm>
            <a:custGeom>
              <a:avLst/>
              <a:gdLst/>
              <a:ahLst/>
              <a:cxnLst/>
              <a:rect r="r" b="b" t="t" l="l"/>
              <a:pathLst>
                <a:path h="682752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4255" r="0" b="-214255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825740" y="1982229"/>
            <a:ext cx="6949440" cy="547783"/>
            <a:chOff x="0" y="0"/>
            <a:chExt cx="9265920" cy="7303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65920" cy="730377"/>
            </a:xfrm>
            <a:custGeom>
              <a:avLst/>
              <a:gdLst/>
              <a:ahLst/>
              <a:cxnLst/>
              <a:rect r="r" b="b" t="t" l="l"/>
              <a:pathLst>
                <a:path h="730377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196" r="0" b="-19719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2659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Fuzzy Logic?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06690" y="2483339"/>
            <a:ext cx="6949440" cy="1013003"/>
            <a:chOff x="0" y="0"/>
            <a:chExt cx="9265920" cy="135067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265920" cy="1350645"/>
            </a:xfrm>
            <a:custGeom>
              <a:avLst/>
              <a:gdLst/>
              <a:ahLst/>
              <a:cxnLst/>
              <a:rect r="r" b="b" t="t" l="l"/>
              <a:pathLst>
                <a:path h="1350645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350645"/>
                  </a:lnTo>
                  <a:lnTo>
                    <a:pt x="0" y="135064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3580" r="0" b="-83582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806690" y="2454764"/>
            <a:ext cx="6949440" cy="1142088"/>
            <a:chOff x="0" y="0"/>
            <a:chExt cx="9265920" cy="15227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65920" cy="1522779"/>
            </a:xfrm>
            <a:custGeom>
              <a:avLst/>
              <a:gdLst/>
              <a:ahLst/>
              <a:cxnLst/>
              <a:rect r="r" b="b" t="t" l="l"/>
              <a:pathLst>
                <a:path h="1522779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1522779"/>
                  </a:lnTo>
                  <a:lnTo>
                    <a:pt x="0" y="152277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2964" r="0" b="-6416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9265920" cy="15704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Police receives partial, uncertain signals. Fuzzy logic converts them into graded behaviour scores — reacting like a human guard, not a rigid rule engine.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0236" y="2401576"/>
            <a:ext cx="7315200" cy="512064"/>
            <a:chOff x="0" y="0"/>
            <a:chExt cx="975360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8164" r="0" b="-228164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60236" y="2373001"/>
            <a:ext cx="7315200" cy="540639"/>
            <a:chOff x="0" y="0"/>
            <a:chExt cx="9753600" cy="7208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720852"/>
            </a:xfrm>
            <a:custGeom>
              <a:avLst/>
              <a:gdLst/>
              <a:ahLst/>
              <a:cxnLst/>
              <a:rect r="r" b="b" t="t" l="l"/>
              <a:pathLst>
                <a:path h="7208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13645" r="0" b="-21364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75360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FUZZY INPUTS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60236" y="2980515"/>
            <a:ext cx="3566160" cy="548640"/>
            <a:chOff x="0" y="0"/>
            <a:chExt cx="475488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564" r="0" b="-76565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360235" y="2944797"/>
            <a:ext cx="3566160" cy="584359"/>
            <a:chOff x="0" y="0"/>
            <a:chExt cx="4754880" cy="7791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754880" cy="779145"/>
            </a:xfrm>
            <a:custGeom>
              <a:avLst/>
              <a:gdLst/>
              <a:ahLst/>
              <a:cxnLst/>
              <a:rect r="r" b="b" t="t" l="l"/>
              <a:pathLst>
                <a:path h="7791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8911" r="0" b="-6891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475488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Distance to prisoner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360236" y="3419094"/>
            <a:ext cx="3566160" cy="548640"/>
            <a:chOff x="0" y="0"/>
            <a:chExt cx="475488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564" r="0" b="-7656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360235" y="3383375"/>
            <a:ext cx="3566160" cy="584359"/>
            <a:chOff x="0" y="0"/>
            <a:chExt cx="4754880" cy="7791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754880" cy="779145"/>
            </a:xfrm>
            <a:custGeom>
              <a:avLst/>
              <a:gdLst/>
              <a:ahLst/>
              <a:cxnLst/>
              <a:rect r="r" b="b" t="t" l="l"/>
              <a:pathLst>
                <a:path h="7791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8911" r="0" b="-6891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475488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Distance to active exit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60236" y="4040886"/>
            <a:ext cx="3566160" cy="548640"/>
            <a:chOff x="0" y="0"/>
            <a:chExt cx="475488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564" r="0" b="-7656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60235" y="4005167"/>
            <a:ext cx="3566160" cy="584359"/>
            <a:chOff x="0" y="0"/>
            <a:chExt cx="4754880" cy="77914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754880" cy="779145"/>
            </a:xfrm>
            <a:custGeom>
              <a:avLst/>
              <a:gdLst/>
              <a:ahLst/>
              <a:cxnLst/>
              <a:rect r="r" b="b" t="t" l="l"/>
              <a:pathLst>
                <a:path h="7791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8911" r="0" b="-6891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475488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Alert level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60236" y="4662678"/>
            <a:ext cx="3566160" cy="548640"/>
            <a:chOff x="0" y="0"/>
            <a:chExt cx="4754880" cy="7315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564" r="0" b="-76565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60235" y="4626959"/>
            <a:ext cx="3566160" cy="584359"/>
            <a:chOff x="0" y="0"/>
            <a:chExt cx="4754880" cy="77914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54880" cy="779145"/>
            </a:xfrm>
            <a:custGeom>
              <a:avLst/>
              <a:gdLst/>
              <a:ahLst/>
              <a:cxnLst/>
              <a:rect r="r" b="b" t="t" l="l"/>
              <a:pathLst>
                <a:path h="7791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8911" r="0" b="-68911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475488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CCTV confidence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3981260" y="2797302"/>
            <a:ext cx="3566160" cy="548640"/>
            <a:chOff x="0" y="0"/>
            <a:chExt cx="475488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564" r="0" b="-76565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3981260" y="2761583"/>
            <a:ext cx="3566160" cy="584359"/>
            <a:chOff x="0" y="0"/>
            <a:chExt cx="4754880" cy="77914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754880" cy="779145"/>
            </a:xfrm>
            <a:custGeom>
              <a:avLst/>
              <a:gdLst/>
              <a:ahLst/>
              <a:cxnLst/>
              <a:rect r="r" b="b" t="t" l="l"/>
              <a:pathLst>
                <a:path h="7791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8911" r="0" b="-6891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475488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Dog signal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981260" y="3419094"/>
            <a:ext cx="3566160" cy="548640"/>
            <a:chOff x="0" y="0"/>
            <a:chExt cx="475488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564" r="0" b="-76565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3981260" y="3383375"/>
            <a:ext cx="3566160" cy="584359"/>
            <a:chOff x="0" y="0"/>
            <a:chExt cx="4754880" cy="77914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4754880" cy="779145"/>
            </a:xfrm>
            <a:custGeom>
              <a:avLst/>
              <a:gdLst/>
              <a:ahLst/>
              <a:cxnLst/>
              <a:rect r="r" b="b" t="t" l="l"/>
              <a:pathLst>
                <a:path h="7791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8911" r="0" b="-68911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475488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Prisoner stealth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981260" y="4040886"/>
            <a:ext cx="3566160" cy="548640"/>
            <a:chOff x="0" y="0"/>
            <a:chExt cx="475488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564" r="0" b="-76565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3981260" y="4005167"/>
            <a:ext cx="3566160" cy="584359"/>
            <a:chOff x="0" y="0"/>
            <a:chExt cx="4754880" cy="77914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54880" cy="779145"/>
            </a:xfrm>
            <a:custGeom>
              <a:avLst/>
              <a:gdLst/>
              <a:ahLst/>
              <a:cxnLst/>
              <a:rect r="r" b="b" t="t" l="l"/>
              <a:pathLst>
                <a:path h="7791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8911" r="0" b="-6891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475488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Capture opportunity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3981260" y="4662678"/>
            <a:ext cx="3566160" cy="548640"/>
            <a:chOff x="0" y="0"/>
            <a:chExt cx="4754880" cy="73152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754880" cy="731520"/>
            </a:xfrm>
            <a:custGeom>
              <a:avLst/>
              <a:gdLst/>
              <a:ahLst/>
              <a:cxnLst/>
              <a:rect r="r" b="b" t="t" l="l"/>
              <a:pathLst>
                <a:path h="73152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6564" r="0" b="-76565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3981260" y="4626959"/>
            <a:ext cx="3566160" cy="584359"/>
            <a:chOff x="0" y="0"/>
            <a:chExt cx="4754880" cy="77914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54880" cy="779145"/>
            </a:xfrm>
            <a:custGeom>
              <a:avLst/>
              <a:gdLst/>
              <a:ahLst/>
              <a:cxnLst/>
              <a:rect r="r" b="b" t="t" l="l"/>
              <a:pathLst>
                <a:path h="779145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68911" r="0" b="-6891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475488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▸  Target priority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806690" y="3480645"/>
            <a:ext cx="9509760" cy="512064"/>
            <a:chOff x="0" y="0"/>
            <a:chExt cx="12679680" cy="6827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11612" r="0" b="-311614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7825740" y="3507153"/>
            <a:ext cx="9509760" cy="540639"/>
            <a:chOff x="0" y="0"/>
            <a:chExt cx="12679680" cy="720852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2679680" cy="720852"/>
            </a:xfrm>
            <a:custGeom>
              <a:avLst/>
              <a:gdLst/>
              <a:ahLst/>
              <a:cxnLst/>
              <a:rect r="r" b="b" t="t" l="l"/>
              <a:pathLst>
                <a:path h="7208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92738" r="0" b="-292738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126796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BEHAVIOUR OUTPUTS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7806690" y="3986355"/>
            <a:ext cx="9547860" cy="1409700"/>
          </a:xfrm>
          <a:custGeom>
            <a:avLst/>
            <a:gdLst/>
            <a:ahLst/>
            <a:cxnLst/>
            <a:rect r="r" b="b" t="t" l="l"/>
            <a:pathLst>
              <a:path h="1409700" w="9547860">
                <a:moveTo>
                  <a:pt x="0" y="0"/>
                </a:moveTo>
                <a:lnTo>
                  <a:pt x="9547860" y="0"/>
                </a:lnTo>
                <a:lnTo>
                  <a:pt x="954786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7813043" y="3992709"/>
            <a:ext cx="2219897" cy="1396936"/>
          </a:xfrm>
          <a:custGeom>
            <a:avLst/>
            <a:gdLst/>
            <a:ahLst/>
            <a:cxnLst/>
            <a:rect r="r" b="b" t="t" l="l"/>
            <a:pathLst>
              <a:path h="1396936" w="2219897">
                <a:moveTo>
                  <a:pt x="0" y="0"/>
                </a:moveTo>
                <a:lnTo>
                  <a:pt x="2219897" y="0"/>
                </a:lnTo>
                <a:lnTo>
                  <a:pt x="2219897" y="1396936"/>
                </a:lnTo>
                <a:lnTo>
                  <a:pt x="0" y="1396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7825740" y="4261437"/>
            <a:ext cx="2194560" cy="822960"/>
            <a:chOff x="0" y="0"/>
            <a:chExt cx="2926080" cy="10972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23" r="0" b="-1924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825740" y="4254294"/>
            <a:ext cx="2194560" cy="830104"/>
            <a:chOff x="0" y="0"/>
            <a:chExt cx="2926080" cy="110680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926080" cy="1106805"/>
            </a:xfrm>
            <a:custGeom>
              <a:avLst/>
              <a:gdLst/>
              <a:ahLst/>
              <a:cxnLst/>
              <a:rect r="r" b="b" t="t" l="l"/>
              <a:pathLst>
                <a:path h="1106805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106805"/>
                  </a:lnTo>
                  <a:lnTo>
                    <a:pt x="0" y="11068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2" r="0" b="-1512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2926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CHASE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148316" y="4188285"/>
            <a:ext cx="7040880" cy="1005840"/>
            <a:chOff x="0" y="0"/>
            <a:chExt cx="9387840" cy="13411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148316" y="4152567"/>
            <a:ext cx="7040880" cy="1041559"/>
            <a:chOff x="0" y="0"/>
            <a:chExt cx="9387840" cy="138874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387840" cy="1388745"/>
            </a:xfrm>
            <a:custGeom>
              <a:avLst/>
              <a:gdLst/>
              <a:ahLst/>
              <a:cxnLst/>
              <a:rect r="r" b="b" t="t" l="l"/>
              <a:pathLst>
                <a:path h="1388745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1717" r="0" b="-8171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93878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toward selected prisoner or capture tile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7806690" y="5485971"/>
            <a:ext cx="9547860" cy="1409700"/>
          </a:xfrm>
          <a:custGeom>
            <a:avLst/>
            <a:gdLst/>
            <a:ahLst/>
            <a:cxnLst/>
            <a:rect r="r" b="b" t="t" l="l"/>
            <a:pathLst>
              <a:path h="1409700" w="9547860">
                <a:moveTo>
                  <a:pt x="0" y="0"/>
                </a:moveTo>
                <a:lnTo>
                  <a:pt x="9547860" y="0"/>
                </a:lnTo>
                <a:lnTo>
                  <a:pt x="954786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7813043" y="5492325"/>
            <a:ext cx="2219897" cy="1396936"/>
          </a:xfrm>
          <a:custGeom>
            <a:avLst/>
            <a:gdLst/>
            <a:ahLst/>
            <a:cxnLst/>
            <a:rect r="r" b="b" t="t" l="l"/>
            <a:pathLst>
              <a:path h="1396936" w="2219897">
                <a:moveTo>
                  <a:pt x="0" y="0"/>
                </a:moveTo>
                <a:lnTo>
                  <a:pt x="2219897" y="0"/>
                </a:lnTo>
                <a:lnTo>
                  <a:pt x="2219897" y="1396936"/>
                </a:lnTo>
                <a:lnTo>
                  <a:pt x="0" y="1396936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7825740" y="5761053"/>
            <a:ext cx="2194560" cy="822960"/>
            <a:chOff x="0" y="0"/>
            <a:chExt cx="2926080" cy="10972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23" r="0" b="-1924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825740" y="5753910"/>
            <a:ext cx="2194560" cy="830104"/>
            <a:chOff x="0" y="0"/>
            <a:chExt cx="2926080" cy="110680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926080" cy="1106805"/>
            </a:xfrm>
            <a:custGeom>
              <a:avLst/>
              <a:gdLst/>
              <a:ahLst/>
              <a:cxnLst/>
              <a:rect r="r" b="b" t="t" l="l"/>
              <a:pathLst>
                <a:path h="1106805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106805"/>
                  </a:lnTo>
                  <a:lnTo>
                    <a:pt x="0" y="11068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2" r="0" b="-1512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2926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INTERCEPT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148316" y="5687901"/>
            <a:ext cx="7040880" cy="1005840"/>
            <a:chOff x="0" y="0"/>
            <a:chExt cx="9387840" cy="13411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0148316" y="5652183"/>
            <a:ext cx="7040880" cy="1041559"/>
            <a:chOff x="0" y="0"/>
            <a:chExt cx="9387840" cy="138874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387840" cy="1388745"/>
            </a:xfrm>
            <a:custGeom>
              <a:avLst/>
              <a:gdLst/>
              <a:ahLst/>
              <a:cxnLst/>
              <a:rect r="r" b="b" t="t" l="l"/>
              <a:pathLst>
                <a:path h="1388745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1717" r="0" b="-8171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93878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toward exit-side or predicted escape tile</a:t>
              </a:r>
            </a:p>
          </p:txBody>
        </p:sp>
      </p:grpSp>
      <p:sp>
        <p:nvSpPr>
          <p:cNvPr name="Freeform 103" id="103"/>
          <p:cNvSpPr/>
          <p:nvPr/>
        </p:nvSpPr>
        <p:spPr>
          <a:xfrm flipH="false" flipV="false" rot="0">
            <a:off x="7806690" y="6985587"/>
            <a:ext cx="9547860" cy="1409700"/>
          </a:xfrm>
          <a:custGeom>
            <a:avLst/>
            <a:gdLst/>
            <a:ahLst/>
            <a:cxnLst/>
            <a:rect r="r" b="b" t="t" l="l"/>
            <a:pathLst>
              <a:path h="1409700" w="9547860">
                <a:moveTo>
                  <a:pt x="0" y="0"/>
                </a:moveTo>
                <a:lnTo>
                  <a:pt x="9547860" y="0"/>
                </a:lnTo>
                <a:lnTo>
                  <a:pt x="954786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7813043" y="6991941"/>
            <a:ext cx="2219897" cy="1396936"/>
          </a:xfrm>
          <a:custGeom>
            <a:avLst/>
            <a:gdLst/>
            <a:ahLst/>
            <a:cxnLst/>
            <a:rect r="r" b="b" t="t" l="l"/>
            <a:pathLst>
              <a:path h="1396936" w="2219897">
                <a:moveTo>
                  <a:pt x="0" y="0"/>
                </a:moveTo>
                <a:lnTo>
                  <a:pt x="2219897" y="0"/>
                </a:lnTo>
                <a:lnTo>
                  <a:pt x="2219897" y="1396936"/>
                </a:lnTo>
                <a:lnTo>
                  <a:pt x="0" y="139693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5" id="105"/>
          <p:cNvGrpSpPr/>
          <p:nvPr/>
        </p:nvGrpSpPr>
        <p:grpSpPr>
          <a:xfrm rot="0">
            <a:off x="7825740" y="7260669"/>
            <a:ext cx="2194560" cy="822960"/>
            <a:chOff x="0" y="0"/>
            <a:chExt cx="2926080" cy="10972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5">
                <a:alphaModFix amt="0"/>
              </a:blip>
              <a:stretch>
                <a:fillRect l="0" t="-33333" r="0" b="-33333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7825740" y="7253526"/>
            <a:ext cx="2194560" cy="830104"/>
            <a:chOff x="0" y="0"/>
            <a:chExt cx="2926080" cy="1106805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926080" cy="1106805"/>
            </a:xfrm>
            <a:custGeom>
              <a:avLst/>
              <a:gdLst/>
              <a:ahLst/>
              <a:cxnLst/>
              <a:rect r="r" b="b" t="t" l="l"/>
              <a:pathLst>
                <a:path h="1106805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106805"/>
                  </a:lnTo>
                  <a:lnTo>
                    <a:pt x="0" y="11068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2" r="0" b="-1512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9525"/>
              <a:ext cx="2926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INVESTIGATE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0148316" y="7187517"/>
            <a:ext cx="7040880" cy="1005840"/>
            <a:chOff x="0" y="0"/>
            <a:chExt cx="9387840" cy="13411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0148316" y="7151799"/>
            <a:ext cx="7040880" cy="1041559"/>
            <a:chOff x="0" y="0"/>
            <a:chExt cx="9387840" cy="1388745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387840" cy="1388745"/>
            </a:xfrm>
            <a:custGeom>
              <a:avLst/>
              <a:gdLst/>
              <a:ahLst/>
              <a:cxnLst/>
              <a:rect r="r" b="b" t="t" l="l"/>
              <a:pathLst>
                <a:path h="1388745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1717" r="0" b="-81717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47625"/>
              <a:ext cx="93878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toward CCTV hint or last known position</a:t>
              </a:r>
            </a:p>
          </p:txBody>
        </p:sp>
      </p:grpSp>
      <p:sp>
        <p:nvSpPr>
          <p:cNvPr name="Freeform 115" id="115"/>
          <p:cNvSpPr/>
          <p:nvPr/>
        </p:nvSpPr>
        <p:spPr>
          <a:xfrm flipH="false" flipV="false" rot="0">
            <a:off x="7806690" y="8485203"/>
            <a:ext cx="9547860" cy="1409700"/>
          </a:xfrm>
          <a:custGeom>
            <a:avLst/>
            <a:gdLst/>
            <a:ahLst/>
            <a:cxnLst/>
            <a:rect r="r" b="b" t="t" l="l"/>
            <a:pathLst>
              <a:path h="1409700" w="9547860">
                <a:moveTo>
                  <a:pt x="0" y="0"/>
                </a:moveTo>
                <a:lnTo>
                  <a:pt x="9547860" y="0"/>
                </a:lnTo>
                <a:lnTo>
                  <a:pt x="9547860" y="1409700"/>
                </a:lnTo>
                <a:lnTo>
                  <a:pt x="0" y="140970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7813043" y="8491557"/>
            <a:ext cx="2219897" cy="1396936"/>
          </a:xfrm>
          <a:custGeom>
            <a:avLst/>
            <a:gdLst/>
            <a:ahLst/>
            <a:cxnLst/>
            <a:rect r="r" b="b" t="t" l="l"/>
            <a:pathLst>
              <a:path h="1396936" w="2219897">
                <a:moveTo>
                  <a:pt x="0" y="0"/>
                </a:moveTo>
                <a:lnTo>
                  <a:pt x="2219897" y="0"/>
                </a:lnTo>
                <a:lnTo>
                  <a:pt x="2219897" y="1396936"/>
                </a:lnTo>
                <a:lnTo>
                  <a:pt x="0" y="139693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7" id="117"/>
          <p:cNvGrpSpPr/>
          <p:nvPr/>
        </p:nvGrpSpPr>
        <p:grpSpPr>
          <a:xfrm rot="0">
            <a:off x="7825740" y="8760285"/>
            <a:ext cx="2194560" cy="822960"/>
            <a:chOff x="0" y="0"/>
            <a:chExt cx="2926080" cy="109728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23" r="0" b="-1924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825740" y="8753142"/>
            <a:ext cx="2194560" cy="830104"/>
            <a:chOff x="0" y="0"/>
            <a:chExt cx="2926080" cy="110680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926080" cy="1106805"/>
            </a:xfrm>
            <a:custGeom>
              <a:avLst/>
              <a:gdLst/>
              <a:ahLst/>
              <a:cxnLst/>
              <a:rect r="r" b="b" t="t" l="l"/>
              <a:pathLst>
                <a:path h="1106805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106805"/>
                  </a:lnTo>
                  <a:lnTo>
                    <a:pt x="0" y="11068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2" r="0" b="-1512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9525"/>
              <a:ext cx="292608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PATROL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0148316" y="8687133"/>
            <a:ext cx="7040880" cy="1005840"/>
            <a:chOff x="0" y="0"/>
            <a:chExt cx="9387840" cy="13411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9387840" cy="1341120"/>
            </a:xfrm>
            <a:custGeom>
              <a:avLst/>
              <a:gdLst/>
              <a:ahLst/>
              <a:cxnLst/>
              <a:rect r="r" b="b" t="t" l="l"/>
              <a:pathLst>
                <a:path h="1341120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0148316" y="8651415"/>
            <a:ext cx="7040880" cy="1041559"/>
            <a:chOff x="0" y="0"/>
            <a:chExt cx="9387840" cy="138874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387840" cy="1388745"/>
            </a:xfrm>
            <a:custGeom>
              <a:avLst/>
              <a:gdLst/>
              <a:ahLst/>
              <a:cxnLst/>
              <a:rect r="r" b="b" t="t" l="l"/>
              <a:pathLst>
                <a:path h="1388745" w="9387840">
                  <a:moveTo>
                    <a:pt x="0" y="0"/>
                  </a:moveTo>
                  <a:lnTo>
                    <a:pt x="9387840" y="0"/>
                  </a:lnTo>
                  <a:lnTo>
                    <a:pt x="9387840" y="1388745"/>
                  </a:lnTo>
                  <a:lnTo>
                    <a:pt x="0" y="13887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1717" r="0" b="-81717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9387840" cy="14363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Guard patrol targets when threat is low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246" t="0" r="-30244" b="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-289560" y="6119955"/>
            <a:ext cx="8115300" cy="3895344"/>
            <a:chOff x="0" y="0"/>
            <a:chExt cx="10820400" cy="5193792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0820400" cy="5193792"/>
            </a:xfrm>
            <a:custGeom>
              <a:avLst/>
              <a:gdLst/>
              <a:ahLst/>
              <a:cxnLst/>
              <a:rect r="r" b="b" t="t" l="l"/>
              <a:pathLst>
                <a:path h="5193792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5193792"/>
                  </a:lnTo>
                  <a:lnTo>
                    <a:pt x="0" y="5193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15104" r="0" b="-15104"/>
              </a:stretch>
            </a:blipFill>
          </p:spPr>
        </p:sp>
      </p:grpSp>
      <p:sp>
        <p:nvSpPr>
          <p:cNvPr name="TextBox 131" id="131"/>
          <p:cNvSpPr txBox="true"/>
          <p:nvPr/>
        </p:nvSpPr>
        <p:spPr>
          <a:xfrm rot="0">
            <a:off x="1755648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7200" y="281354"/>
            <a:ext cx="17373600" cy="9502726"/>
            <a:chOff x="0" y="0"/>
            <a:chExt cx="23164800" cy="126703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164800" cy="12670302"/>
            </a:xfrm>
            <a:custGeom>
              <a:avLst/>
              <a:gdLst/>
              <a:ahLst/>
              <a:cxnLst/>
              <a:rect r="r" b="b" t="t" l="l"/>
              <a:pathLst>
                <a:path h="1267030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2670302"/>
                  </a:lnTo>
                  <a:lnTo>
                    <a:pt x="0" y="126703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021" r="0" b="-102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657217" y="-587326"/>
            <a:ext cx="5120640" cy="1737360"/>
            <a:chOff x="0" y="0"/>
            <a:chExt cx="6827520" cy="231648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749176" y="973645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383" y="1724663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7" y="0"/>
                </a:lnTo>
                <a:lnTo>
                  <a:pt x="38658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67863" y="172466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7" y="0"/>
                </a:lnTo>
                <a:lnTo>
                  <a:pt x="64261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Fuzzy Rule Base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1133856"/>
            <a:ext cx="12801600" cy="694944"/>
            <a:chOff x="0" y="0"/>
            <a:chExt cx="1706880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926592"/>
            </a:xfrm>
            <a:custGeom>
              <a:avLst/>
              <a:gdLst/>
              <a:ahLst/>
              <a:cxnLst/>
              <a:rect r="r" b="b" t="t" l="l"/>
              <a:pathLst>
                <a:path h="926592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8685" r="0" b="-30868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548640" y="1083850"/>
            <a:ext cx="12801600" cy="744950"/>
            <a:chOff x="0" y="0"/>
            <a:chExt cx="17068800" cy="9932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68800" cy="993267"/>
            </a:xfrm>
            <a:custGeom>
              <a:avLst/>
              <a:gdLst/>
              <a:ahLst/>
              <a:cxnLst/>
              <a:rect r="r" b="b" t="t" l="l"/>
              <a:pathLst>
                <a:path h="993267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93267"/>
                  </a:lnTo>
                  <a:lnTo>
                    <a:pt x="0" y="99326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84840" r="0" b="-2848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7068800" cy="10599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Police/Hunter Decision Logic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44503" y="1962407"/>
            <a:ext cx="1305497" cy="756856"/>
          </a:xfrm>
          <a:custGeom>
            <a:avLst/>
            <a:gdLst/>
            <a:ahLst/>
            <a:cxnLst/>
            <a:rect r="r" b="b" t="t" l="l"/>
            <a:pathLst>
              <a:path h="756856" w="1305497">
                <a:moveTo>
                  <a:pt x="0" y="0"/>
                </a:moveTo>
                <a:lnTo>
                  <a:pt x="1305497" y="0"/>
                </a:lnTo>
                <a:lnTo>
                  <a:pt x="1305497" y="756857"/>
                </a:lnTo>
                <a:lnTo>
                  <a:pt x="0" y="75685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548640" y="1975104"/>
            <a:ext cx="1280160" cy="731520"/>
            <a:chOff x="0" y="0"/>
            <a:chExt cx="170688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688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3367" t="0" r="-2336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48640" y="1939385"/>
            <a:ext cx="1280160" cy="767239"/>
            <a:chOff x="0" y="0"/>
            <a:chExt cx="1706880" cy="102298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6880" cy="1022985"/>
            </a:xfrm>
            <a:custGeom>
              <a:avLst/>
              <a:gdLst/>
              <a:ahLst/>
              <a:cxnLst/>
              <a:rect r="r" b="b" t="t" l="l"/>
              <a:pathLst>
                <a:path h="102298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26896" t="0" r="-2689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706880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816103" y="1962407"/>
            <a:ext cx="9260776" cy="756856"/>
          </a:xfrm>
          <a:custGeom>
            <a:avLst/>
            <a:gdLst/>
            <a:ahLst/>
            <a:cxnLst/>
            <a:rect r="r" b="b" t="t" l="l"/>
            <a:pathLst>
              <a:path h="756856" w="9260776">
                <a:moveTo>
                  <a:pt x="0" y="0"/>
                </a:moveTo>
                <a:lnTo>
                  <a:pt x="9260777" y="0"/>
                </a:lnTo>
                <a:lnTo>
                  <a:pt x="9260777" y="756857"/>
                </a:lnTo>
                <a:lnTo>
                  <a:pt x="0" y="75685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920240" y="1975104"/>
            <a:ext cx="9235440" cy="731520"/>
            <a:chOff x="0" y="0"/>
            <a:chExt cx="1231392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13920" cy="975360"/>
            </a:xfrm>
            <a:custGeom>
              <a:avLst/>
              <a:gdLst/>
              <a:ahLst/>
              <a:cxnLst/>
              <a:rect r="r" b="b" t="t" l="l"/>
              <a:pathLst>
                <a:path h="975360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5828" r="0" b="-19582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920240" y="1939385"/>
            <a:ext cx="9235440" cy="767239"/>
            <a:chOff x="0" y="0"/>
            <a:chExt cx="12313920" cy="102298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313920" cy="1022985"/>
            </a:xfrm>
            <a:custGeom>
              <a:avLst/>
              <a:gdLst/>
              <a:ahLst/>
              <a:cxnLst/>
              <a:rect r="r" b="b" t="t" l="l"/>
              <a:pathLst>
                <a:path h="1022985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4546" r="0" b="-18454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2313920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Condition</a:t>
              </a: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1142983" y="1962407"/>
            <a:ext cx="5145976" cy="756856"/>
          </a:xfrm>
          <a:custGeom>
            <a:avLst/>
            <a:gdLst/>
            <a:ahLst/>
            <a:cxnLst/>
            <a:rect r="r" b="b" t="t" l="l"/>
            <a:pathLst>
              <a:path h="756856" w="5145976">
                <a:moveTo>
                  <a:pt x="0" y="0"/>
                </a:moveTo>
                <a:lnTo>
                  <a:pt x="5145977" y="0"/>
                </a:lnTo>
                <a:lnTo>
                  <a:pt x="5145977" y="756857"/>
                </a:lnTo>
                <a:lnTo>
                  <a:pt x="0" y="75685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1247120" y="1975104"/>
            <a:ext cx="5120640" cy="731520"/>
            <a:chOff x="0" y="0"/>
            <a:chExt cx="6827520" cy="9753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7520" cy="975360"/>
            </a:xfrm>
            <a:custGeom>
              <a:avLst/>
              <a:gdLst/>
              <a:ahLst/>
              <a:cxnLst/>
              <a:rect r="r" b="b" t="t" l="l"/>
              <a:pathLst>
                <a:path h="97536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6300" r="0" b="-86299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247120" y="1939385"/>
            <a:ext cx="5120640" cy="767239"/>
            <a:chOff x="0" y="0"/>
            <a:chExt cx="6827520" cy="102298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827520" cy="1022985"/>
            </a:xfrm>
            <a:custGeom>
              <a:avLst/>
              <a:gdLst/>
              <a:ahLst/>
              <a:cxnLst/>
              <a:rect r="r" b="b" t="t" l="l"/>
              <a:pathLst>
                <a:path h="1022985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022985"/>
                  </a:lnTo>
                  <a:lnTo>
                    <a:pt x="0" y="102298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0045" r="0" b="-8004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47625"/>
              <a:ext cx="6827520" cy="1070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Output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444503" y="2730503"/>
            <a:ext cx="1305497" cy="848297"/>
          </a:xfrm>
          <a:custGeom>
            <a:avLst/>
            <a:gdLst/>
            <a:ahLst/>
            <a:cxnLst/>
            <a:rect r="r" b="b" t="t" l="l"/>
            <a:pathLst>
              <a:path h="848297" w="1305497">
                <a:moveTo>
                  <a:pt x="0" y="0"/>
                </a:moveTo>
                <a:lnTo>
                  <a:pt x="1305497" y="0"/>
                </a:lnTo>
                <a:lnTo>
                  <a:pt x="130549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816103" y="2730503"/>
            <a:ext cx="9260776" cy="848297"/>
          </a:xfrm>
          <a:custGeom>
            <a:avLst/>
            <a:gdLst/>
            <a:ahLst/>
            <a:cxnLst/>
            <a:rect r="r" b="b" t="t" l="l"/>
            <a:pathLst>
              <a:path h="848297" w="9260776">
                <a:moveTo>
                  <a:pt x="0" y="0"/>
                </a:moveTo>
                <a:lnTo>
                  <a:pt x="9260777" y="0"/>
                </a:lnTo>
                <a:lnTo>
                  <a:pt x="92607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142983" y="2730503"/>
            <a:ext cx="5145976" cy="848297"/>
          </a:xfrm>
          <a:custGeom>
            <a:avLst/>
            <a:gdLst/>
            <a:ahLst/>
            <a:cxnLst/>
            <a:rect r="r" b="b" t="t" l="l"/>
            <a:pathLst>
              <a:path h="848297" w="5145976">
                <a:moveTo>
                  <a:pt x="0" y="0"/>
                </a:moveTo>
                <a:lnTo>
                  <a:pt x="5145977" y="0"/>
                </a:lnTo>
                <a:lnTo>
                  <a:pt x="51459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548640" y="2743200"/>
            <a:ext cx="1280160" cy="822960"/>
            <a:chOff x="0" y="0"/>
            <a:chExt cx="1706880" cy="1097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0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2537" t="0" r="-32538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548640" y="2707481"/>
            <a:ext cx="1280160" cy="858679"/>
            <a:chOff x="0" y="0"/>
            <a:chExt cx="1706880" cy="114490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6060" t="0" r="-36060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70688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011680" y="2743200"/>
            <a:ext cx="8961120" cy="822960"/>
            <a:chOff x="0" y="0"/>
            <a:chExt cx="11948160" cy="1097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948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2023" r="0" b="-162023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2011680" y="2707481"/>
            <a:ext cx="8961120" cy="858679"/>
            <a:chOff x="0" y="0"/>
            <a:chExt cx="11948160" cy="114490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9481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3344" r="0" b="-15334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19481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Prisoner is near AND alert is high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338560" y="2743200"/>
            <a:ext cx="4846320" cy="822960"/>
            <a:chOff x="0" y="0"/>
            <a:chExt cx="646176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665" r="0" b="-64665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338560" y="2707481"/>
            <a:ext cx="4846320" cy="858679"/>
            <a:chOff x="0" y="0"/>
            <a:chExt cx="6461760" cy="114490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617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72" r="0" b="-5997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64617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CHASE</a:t>
              </a: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444503" y="3608327"/>
            <a:ext cx="1305497" cy="848297"/>
          </a:xfrm>
          <a:custGeom>
            <a:avLst/>
            <a:gdLst/>
            <a:ahLst/>
            <a:cxnLst/>
            <a:rect r="r" b="b" t="t" l="l"/>
            <a:pathLst>
              <a:path h="848297" w="1305497">
                <a:moveTo>
                  <a:pt x="0" y="0"/>
                </a:moveTo>
                <a:lnTo>
                  <a:pt x="1305497" y="0"/>
                </a:lnTo>
                <a:lnTo>
                  <a:pt x="130549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816103" y="3608327"/>
            <a:ext cx="9260776" cy="848297"/>
          </a:xfrm>
          <a:custGeom>
            <a:avLst/>
            <a:gdLst/>
            <a:ahLst/>
            <a:cxnLst/>
            <a:rect r="r" b="b" t="t" l="l"/>
            <a:pathLst>
              <a:path h="848297" w="9260776">
                <a:moveTo>
                  <a:pt x="0" y="0"/>
                </a:moveTo>
                <a:lnTo>
                  <a:pt x="9260777" y="0"/>
                </a:lnTo>
                <a:lnTo>
                  <a:pt x="92607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1142983" y="3608327"/>
            <a:ext cx="5145976" cy="848297"/>
          </a:xfrm>
          <a:custGeom>
            <a:avLst/>
            <a:gdLst/>
            <a:ahLst/>
            <a:cxnLst/>
            <a:rect r="r" b="b" t="t" l="l"/>
            <a:pathLst>
              <a:path h="848297" w="5145976">
                <a:moveTo>
                  <a:pt x="0" y="0"/>
                </a:moveTo>
                <a:lnTo>
                  <a:pt x="5145977" y="0"/>
                </a:lnTo>
                <a:lnTo>
                  <a:pt x="51459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548640" y="3621024"/>
            <a:ext cx="1280160" cy="822960"/>
            <a:chOff x="0" y="0"/>
            <a:chExt cx="170688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70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2537" t="0" r="-32538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48640" y="3585305"/>
            <a:ext cx="1280160" cy="858679"/>
            <a:chOff x="0" y="0"/>
            <a:chExt cx="1706880" cy="114490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7068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6060" t="0" r="-3606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170688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2011680" y="3621024"/>
            <a:ext cx="8961120" cy="822960"/>
            <a:chOff x="0" y="0"/>
            <a:chExt cx="11948160" cy="109728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948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2023" r="0" b="-162023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2011680" y="3585305"/>
            <a:ext cx="8961120" cy="858679"/>
            <a:chOff x="0" y="0"/>
            <a:chExt cx="11948160" cy="114490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9481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3344" r="0" b="-153344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119481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Prisoner is close to active exit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338560" y="3621024"/>
            <a:ext cx="4846320" cy="822960"/>
            <a:chOff x="0" y="0"/>
            <a:chExt cx="646176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665" r="0" b="-64665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338560" y="3585305"/>
            <a:ext cx="4846320" cy="858679"/>
            <a:chOff x="0" y="0"/>
            <a:chExt cx="6461760" cy="114490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4617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72" r="0" b="-5997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64617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9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INTERCEPT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444503" y="4486151"/>
            <a:ext cx="1305497" cy="848297"/>
          </a:xfrm>
          <a:custGeom>
            <a:avLst/>
            <a:gdLst/>
            <a:ahLst/>
            <a:cxnLst/>
            <a:rect r="r" b="b" t="t" l="l"/>
            <a:pathLst>
              <a:path h="848297" w="1305497">
                <a:moveTo>
                  <a:pt x="0" y="0"/>
                </a:moveTo>
                <a:lnTo>
                  <a:pt x="1305497" y="0"/>
                </a:lnTo>
                <a:lnTo>
                  <a:pt x="130549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816103" y="4486151"/>
            <a:ext cx="9260776" cy="848297"/>
          </a:xfrm>
          <a:custGeom>
            <a:avLst/>
            <a:gdLst/>
            <a:ahLst/>
            <a:cxnLst/>
            <a:rect r="r" b="b" t="t" l="l"/>
            <a:pathLst>
              <a:path h="848297" w="9260776">
                <a:moveTo>
                  <a:pt x="0" y="0"/>
                </a:moveTo>
                <a:lnTo>
                  <a:pt x="9260777" y="0"/>
                </a:lnTo>
                <a:lnTo>
                  <a:pt x="92607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1142983" y="4486151"/>
            <a:ext cx="5145976" cy="848297"/>
          </a:xfrm>
          <a:custGeom>
            <a:avLst/>
            <a:gdLst/>
            <a:ahLst/>
            <a:cxnLst/>
            <a:rect r="r" b="b" t="t" l="l"/>
            <a:pathLst>
              <a:path h="848297" w="5145976">
                <a:moveTo>
                  <a:pt x="0" y="0"/>
                </a:moveTo>
                <a:lnTo>
                  <a:pt x="5145977" y="0"/>
                </a:lnTo>
                <a:lnTo>
                  <a:pt x="51459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548640" y="4498848"/>
            <a:ext cx="1280160" cy="822960"/>
            <a:chOff x="0" y="0"/>
            <a:chExt cx="170688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0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2537" t="0" r="-32538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548640" y="4463129"/>
            <a:ext cx="1280160" cy="858679"/>
            <a:chOff x="0" y="0"/>
            <a:chExt cx="1706880" cy="1144905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068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6060" t="0" r="-36060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70688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R3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2011680" y="4498848"/>
            <a:ext cx="8961120" cy="822960"/>
            <a:chOff x="0" y="0"/>
            <a:chExt cx="11948160" cy="1097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948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2023" r="0" b="-162023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2011680" y="4463129"/>
            <a:ext cx="8961120" cy="858679"/>
            <a:chOff x="0" y="0"/>
            <a:chExt cx="11948160" cy="114490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9481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3344" r="0" b="-153344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119481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CCTV confidence is high BUT target is far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338560" y="4498848"/>
            <a:ext cx="4846320" cy="822960"/>
            <a:chOff x="0" y="0"/>
            <a:chExt cx="6461760" cy="10972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665" r="0" b="-64665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338560" y="4463129"/>
            <a:ext cx="4846320" cy="858679"/>
            <a:chOff x="0" y="0"/>
            <a:chExt cx="6461760" cy="1144905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4617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72" r="0" b="-59972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47625"/>
              <a:ext cx="64617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4FC3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INVESTIGATE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444503" y="5363975"/>
            <a:ext cx="1305497" cy="848297"/>
          </a:xfrm>
          <a:custGeom>
            <a:avLst/>
            <a:gdLst/>
            <a:ahLst/>
            <a:cxnLst/>
            <a:rect r="r" b="b" t="t" l="l"/>
            <a:pathLst>
              <a:path h="848297" w="1305497">
                <a:moveTo>
                  <a:pt x="0" y="0"/>
                </a:moveTo>
                <a:lnTo>
                  <a:pt x="1305497" y="0"/>
                </a:lnTo>
                <a:lnTo>
                  <a:pt x="130549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1816103" y="5363975"/>
            <a:ext cx="9260776" cy="848297"/>
          </a:xfrm>
          <a:custGeom>
            <a:avLst/>
            <a:gdLst/>
            <a:ahLst/>
            <a:cxnLst/>
            <a:rect r="r" b="b" t="t" l="l"/>
            <a:pathLst>
              <a:path h="848297" w="9260776">
                <a:moveTo>
                  <a:pt x="0" y="0"/>
                </a:moveTo>
                <a:lnTo>
                  <a:pt x="9260777" y="0"/>
                </a:lnTo>
                <a:lnTo>
                  <a:pt x="92607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11142983" y="5363975"/>
            <a:ext cx="5145976" cy="848297"/>
          </a:xfrm>
          <a:custGeom>
            <a:avLst/>
            <a:gdLst/>
            <a:ahLst/>
            <a:cxnLst/>
            <a:rect r="r" b="b" t="t" l="l"/>
            <a:pathLst>
              <a:path h="848297" w="5145976">
                <a:moveTo>
                  <a:pt x="0" y="0"/>
                </a:moveTo>
                <a:lnTo>
                  <a:pt x="5145977" y="0"/>
                </a:lnTo>
                <a:lnTo>
                  <a:pt x="51459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3" id="93"/>
          <p:cNvGrpSpPr/>
          <p:nvPr/>
        </p:nvGrpSpPr>
        <p:grpSpPr>
          <a:xfrm rot="0">
            <a:off x="548640" y="5376672"/>
            <a:ext cx="1280160" cy="822960"/>
            <a:chOff x="0" y="0"/>
            <a:chExt cx="1706880" cy="10972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70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2537" t="0" r="-32538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548640" y="5340953"/>
            <a:ext cx="1280160" cy="858679"/>
            <a:chOff x="0" y="0"/>
            <a:chExt cx="1706880" cy="114490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7068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6060" t="0" r="-36060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47625"/>
              <a:ext cx="170688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R4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2011680" y="5376672"/>
            <a:ext cx="8961120" cy="822960"/>
            <a:chOff x="0" y="0"/>
            <a:chExt cx="11948160" cy="10972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948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2023" r="0" b="-162023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2011680" y="5340953"/>
            <a:ext cx="8961120" cy="858679"/>
            <a:chOff x="0" y="0"/>
            <a:chExt cx="11948160" cy="1144905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19481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3344" r="0" b="-153344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119481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Dog detected or chased a prisoner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1338560" y="5376672"/>
            <a:ext cx="4846320" cy="822960"/>
            <a:chOff x="0" y="0"/>
            <a:chExt cx="6461760" cy="109728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665" r="0" b="-64665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1338560" y="5340953"/>
            <a:ext cx="4846320" cy="858679"/>
            <a:chOff x="0" y="0"/>
            <a:chExt cx="6461760" cy="114490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4617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72" r="0" b="-59972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64617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CHASE / INVESTIGATE</a:t>
              </a: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444503" y="6241799"/>
            <a:ext cx="1305497" cy="848297"/>
          </a:xfrm>
          <a:custGeom>
            <a:avLst/>
            <a:gdLst/>
            <a:ahLst/>
            <a:cxnLst/>
            <a:rect r="r" b="b" t="t" l="l"/>
            <a:pathLst>
              <a:path h="848297" w="1305497">
                <a:moveTo>
                  <a:pt x="0" y="0"/>
                </a:moveTo>
                <a:lnTo>
                  <a:pt x="1305497" y="0"/>
                </a:lnTo>
                <a:lnTo>
                  <a:pt x="130549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/>
          <p:cNvSpPr/>
          <p:nvPr/>
        </p:nvSpPr>
        <p:spPr>
          <a:xfrm flipH="false" flipV="false" rot="0">
            <a:off x="1816103" y="6241799"/>
            <a:ext cx="9260776" cy="848297"/>
          </a:xfrm>
          <a:custGeom>
            <a:avLst/>
            <a:gdLst/>
            <a:ahLst/>
            <a:cxnLst/>
            <a:rect r="r" b="b" t="t" l="l"/>
            <a:pathLst>
              <a:path h="848297" w="9260776">
                <a:moveTo>
                  <a:pt x="0" y="0"/>
                </a:moveTo>
                <a:lnTo>
                  <a:pt x="9260777" y="0"/>
                </a:lnTo>
                <a:lnTo>
                  <a:pt x="92607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0" id="110"/>
          <p:cNvSpPr/>
          <p:nvPr/>
        </p:nvSpPr>
        <p:spPr>
          <a:xfrm flipH="false" flipV="false" rot="0">
            <a:off x="11142983" y="6241799"/>
            <a:ext cx="5145976" cy="848297"/>
          </a:xfrm>
          <a:custGeom>
            <a:avLst/>
            <a:gdLst/>
            <a:ahLst/>
            <a:cxnLst/>
            <a:rect r="r" b="b" t="t" l="l"/>
            <a:pathLst>
              <a:path h="848297" w="5145976">
                <a:moveTo>
                  <a:pt x="0" y="0"/>
                </a:moveTo>
                <a:lnTo>
                  <a:pt x="5145977" y="0"/>
                </a:lnTo>
                <a:lnTo>
                  <a:pt x="51459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1" id="111"/>
          <p:cNvGrpSpPr/>
          <p:nvPr/>
        </p:nvGrpSpPr>
        <p:grpSpPr>
          <a:xfrm rot="0">
            <a:off x="548640" y="6254496"/>
            <a:ext cx="1280160" cy="822960"/>
            <a:chOff x="0" y="0"/>
            <a:chExt cx="1706880" cy="109728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70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2537" t="0" r="-32538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548640" y="6218777"/>
            <a:ext cx="1280160" cy="858679"/>
            <a:chOff x="0" y="0"/>
            <a:chExt cx="1706880" cy="1144905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7068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6060" t="0" r="-36060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47625"/>
              <a:ext cx="170688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R5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2011680" y="6254496"/>
            <a:ext cx="8961120" cy="822960"/>
            <a:chOff x="0" y="0"/>
            <a:chExt cx="11948160" cy="109728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1948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2023" r="0" b="-162023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2011680" y="6218777"/>
            <a:ext cx="8961120" cy="858679"/>
            <a:chOff x="0" y="0"/>
            <a:chExt cx="11948160" cy="1144905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19481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3344" r="0" b="-153344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47625"/>
              <a:ext cx="119481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strong target AND alert is low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338560" y="6254496"/>
            <a:ext cx="4846320" cy="822960"/>
            <a:chOff x="0" y="0"/>
            <a:chExt cx="6461760" cy="109728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665" r="0" b="-64665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338560" y="6218777"/>
            <a:ext cx="4846320" cy="858679"/>
            <a:chOff x="0" y="0"/>
            <a:chExt cx="6461760" cy="1144905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64617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72" r="0" b="-5997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47625"/>
              <a:ext cx="64617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PATROL</a:t>
              </a:r>
            </a:p>
          </p:txBody>
        </p:sp>
      </p:grpSp>
      <p:sp>
        <p:nvSpPr>
          <p:cNvPr name="Freeform 126" id="126"/>
          <p:cNvSpPr/>
          <p:nvPr/>
        </p:nvSpPr>
        <p:spPr>
          <a:xfrm flipH="false" flipV="false" rot="0">
            <a:off x="444503" y="7119623"/>
            <a:ext cx="1305497" cy="848296"/>
          </a:xfrm>
          <a:custGeom>
            <a:avLst/>
            <a:gdLst/>
            <a:ahLst/>
            <a:cxnLst/>
            <a:rect r="r" b="b" t="t" l="l"/>
            <a:pathLst>
              <a:path h="848296" w="1305497">
                <a:moveTo>
                  <a:pt x="0" y="0"/>
                </a:moveTo>
                <a:lnTo>
                  <a:pt x="1305497" y="0"/>
                </a:lnTo>
                <a:lnTo>
                  <a:pt x="130549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1816103" y="7119623"/>
            <a:ext cx="9260776" cy="848296"/>
          </a:xfrm>
          <a:custGeom>
            <a:avLst/>
            <a:gdLst/>
            <a:ahLst/>
            <a:cxnLst/>
            <a:rect r="r" b="b" t="t" l="l"/>
            <a:pathLst>
              <a:path h="848296" w="9260776">
                <a:moveTo>
                  <a:pt x="0" y="0"/>
                </a:moveTo>
                <a:lnTo>
                  <a:pt x="9260777" y="0"/>
                </a:lnTo>
                <a:lnTo>
                  <a:pt x="92607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8" id="128"/>
          <p:cNvSpPr/>
          <p:nvPr/>
        </p:nvSpPr>
        <p:spPr>
          <a:xfrm flipH="false" flipV="false" rot="0">
            <a:off x="11142983" y="7119623"/>
            <a:ext cx="5145976" cy="848296"/>
          </a:xfrm>
          <a:custGeom>
            <a:avLst/>
            <a:gdLst/>
            <a:ahLst/>
            <a:cxnLst/>
            <a:rect r="r" b="b" t="t" l="l"/>
            <a:pathLst>
              <a:path h="848296" w="5145976">
                <a:moveTo>
                  <a:pt x="0" y="0"/>
                </a:moveTo>
                <a:lnTo>
                  <a:pt x="5145977" y="0"/>
                </a:lnTo>
                <a:lnTo>
                  <a:pt x="51459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9" id="129"/>
          <p:cNvGrpSpPr/>
          <p:nvPr/>
        </p:nvGrpSpPr>
        <p:grpSpPr>
          <a:xfrm rot="0">
            <a:off x="548640" y="7132320"/>
            <a:ext cx="1280160" cy="822960"/>
            <a:chOff x="0" y="0"/>
            <a:chExt cx="1706880" cy="109728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70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2537" t="0" r="-32538" b="0"/>
              </a:stretch>
            </a:blip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548640" y="7096601"/>
            <a:ext cx="1280160" cy="858679"/>
            <a:chOff x="0" y="0"/>
            <a:chExt cx="1706880" cy="1144905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7068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6060" t="0" r="-36060" b="0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70688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R6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2011680" y="7132320"/>
            <a:ext cx="8961120" cy="822960"/>
            <a:chOff x="0" y="0"/>
            <a:chExt cx="11948160" cy="109728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1948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2023" r="0" b="-162023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2011680" y="7096601"/>
            <a:ext cx="8961120" cy="858679"/>
            <a:chOff x="0" y="0"/>
            <a:chExt cx="11948160" cy="1144905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19481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3344" r="0" b="-153344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47625"/>
              <a:ext cx="119481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 opportunity is high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1338560" y="7132320"/>
            <a:ext cx="4846320" cy="822960"/>
            <a:chOff x="0" y="0"/>
            <a:chExt cx="6461760" cy="109728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665" r="0" b="-64665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1338560" y="7096601"/>
            <a:ext cx="4846320" cy="858679"/>
            <a:chOff x="0" y="0"/>
            <a:chExt cx="6461760" cy="1144905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64617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72" r="0" b="-59972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47625"/>
              <a:ext cx="64617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CHASE</a:t>
              </a:r>
            </a:p>
          </p:txBody>
        </p:sp>
      </p:grpSp>
      <p:sp>
        <p:nvSpPr>
          <p:cNvPr name="Freeform 144" id="144"/>
          <p:cNvSpPr/>
          <p:nvPr/>
        </p:nvSpPr>
        <p:spPr>
          <a:xfrm flipH="false" flipV="false" rot="0">
            <a:off x="444503" y="7997447"/>
            <a:ext cx="1305497" cy="848296"/>
          </a:xfrm>
          <a:custGeom>
            <a:avLst/>
            <a:gdLst/>
            <a:ahLst/>
            <a:cxnLst/>
            <a:rect r="r" b="b" t="t" l="l"/>
            <a:pathLst>
              <a:path h="848296" w="1305497">
                <a:moveTo>
                  <a:pt x="0" y="0"/>
                </a:moveTo>
                <a:lnTo>
                  <a:pt x="1305497" y="0"/>
                </a:lnTo>
                <a:lnTo>
                  <a:pt x="130549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5" id="145"/>
          <p:cNvSpPr/>
          <p:nvPr/>
        </p:nvSpPr>
        <p:spPr>
          <a:xfrm flipH="false" flipV="false" rot="0">
            <a:off x="1816103" y="7997447"/>
            <a:ext cx="9260776" cy="848296"/>
          </a:xfrm>
          <a:custGeom>
            <a:avLst/>
            <a:gdLst/>
            <a:ahLst/>
            <a:cxnLst/>
            <a:rect r="r" b="b" t="t" l="l"/>
            <a:pathLst>
              <a:path h="848296" w="9260776">
                <a:moveTo>
                  <a:pt x="0" y="0"/>
                </a:moveTo>
                <a:lnTo>
                  <a:pt x="9260777" y="0"/>
                </a:lnTo>
                <a:lnTo>
                  <a:pt x="92607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6" id="146"/>
          <p:cNvSpPr/>
          <p:nvPr/>
        </p:nvSpPr>
        <p:spPr>
          <a:xfrm flipH="false" flipV="false" rot="0">
            <a:off x="11142983" y="7997447"/>
            <a:ext cx="5145976" cy="848296"/>
          </a:xfrm>
          <a:custGeom>
            <a:avLst/>
            <a:gdLst/>
            <a:ahLst/>
            <a:cxnLst/>
            <a:rect r="r" b="b" t="t" l="l"/>
            <a:pathLst>
              <a:path h="848296" w="5145976">
                <a:moveTo>
                  <a:pt x="0" y="0"/>
                </a:moveTo>
                <a:lnTo>
                  <a:pt x="5145977" y="0"/>
                </a:lnTo>
                <a:lnTo>
                  <a:pt x="51459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7" id="147"/>
          <p:cNvGrpSpPr/>
          <p:nvPr/>
        </p:nvGrpSpPr>
        <p:grpSpPr>
          <a:xfrm rot="0">
            <a:off x="548640" y="8010144"/>
            <a:ext cx="1280160" cy="822960"/>
            <a:chOff x="0" y="0"/>
            <a:chExt cx="1706880" cy="109728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70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2537" t="0" r="-32538" b="0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548640" y="7974425"/>
            <a:ext cx="1280160" cy="858679"/>
            <a:chOff x="0" y="0"/>
            <a:chExt cx="1706880" cy="1144905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7068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6060" t="0" r="-36060" b="0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170688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R7</a:t>
              </a:r>
            </a:p>
          </p:txBody>
        </p:sp>
      </p:grpSp>
      <p:grpSp>
        <p:nvGrpSpPr>
          <p:cNvPr name="Group 152" id="152"/>
          <p:cNvGrpSpPr/>
          <p:nvPr/>
        </p:nvGrpSpPr>
        <p:grpSpPr>
          <a:xfrm rot="0">
            <a:off x="2011680" y="8010144"/>
            <a:ext cx="8961120" cy="822960"/>
            <a:chOff x="0" y="0"/>
            <a:chExt cx="11948160" cy="1097280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1948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2023" r="0" b="-162023"/>
              </a:stretch>
            </a:blipFill>
          </p:spPr>
        </p:sp>
      </p:grpSp>
      <p:grpSp>
        <p:nvGrpSpPr>
          <p:cNvPr name="Group 154" id="154"/>
          <p:cNvGrpSpPr/>
          <p:nvPr/>
        </p:nvGrpSpPr>
        <p:grpSpPr>
          <a:xfrm rot="0">
            <a:off x="2011680" y="7974425"/>
            <a:ext cx="8961120" cy="858679"/>
            <a:chOff x="0" y="0"/>
            <a:chExt cx="11948160" cy="1144905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119481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3344" r="0" b="-153344"/>
              </a:stretch>
            </a:blipFill>
          </p:spPr>
        </p:sp>
        <p:sp>
          <p:nvSpPr>
            <p:cNvPr name="TextBox 156" id="156"/>
            <p:cNvSpPr txBox="true"/>
            <p:nvPr/>
          </p:nvSpPr>
          <p:spPr>
            <a:xfrm>
              <a:off x="0" y="-47625"/>
              <a:ext cx="119481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Stealth is high AND signal is weak</a:t>
              </a:r>
            </a:p>
          </p:txBody>
        </p:sp>
      </p:grpSp>
      <p:grpSp>
        <p:nvGrpSpPr>
          <p:cNvPr name="Group 157" id="157"/>
          <p:cNvGrpSpPr/>
          <p:nvPr/>
        </p:nvGrpSpPr>
        <p:grpSpPr>
          <a:xfrm rot="0">
            <a:off x="11338560" y="8010144"/>
            <a:ext cx="4846320" cy="822960"/>
            <a:chOff x="0" y="0"/>
            <a:chExt cx="6461760" cy="109728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665" r="0" b="-64665"/>
              </a:stretch>
            </a:blip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11338560" y="7974425"/>
            <a:ext cx="4846320" cy="858679"/>
            <a:chOff x="0" y="0"/>
            <a:chExt cx="6461760" cy="1144905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64617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72" r="0" b="-59972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47625"/>
              <a:ext cx="64617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4FC3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INVESTIGATE</a:t>
              </a:r>
            </a:p>
          </p:txBody>
        </p:sp>
      </p:grpSp>
      <p:sp>
        <p:nvSpPr>
          <p:cNvPr name="Freeform 162" id="162"/>
          <p:cNvSpPr/>
          <p:nvPr/>
        </p:nvSpPr>
        <p:spPr>
          <a:xfrm flipH="false" flipV="false" rot="0">
            <a:off x="444503" y="8875271"/>
            <a:ext cx="1305497" cy="848296"/>
          </a:xfrm>
          <a:custGeom>
            <a:avLst/>
            <a:gdLst/>
            <a:ahLst/>
            <a:cxnLst/>
            <a:rect r="r" b="b" t="t" l="l"/>
            <a:pathLst>
              <a:path h="848296" w="1305497">
                <a:moveTo>
                  <a:pt x="0" y="0"/>
                </a:moveTo>
                <a:lnTo>
                  <a:pt x="1305497" y="0"/>
                </a:lnTo>
                <a:lnTo>
                  <a:pt x="130549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3" id="163"/>
          <p:cNvSpPr/>
          <p:nvPr/>
        </p:nvSpPr>
        <p:spPr>
          <a:xfrm flipH="false" flipV="false" rot="0">
            <a:off x="1816103" y="8875271"/>
            <a:ext cx="9260776" cy="848296"/>
          </a:xfrm>
          <a:custGeom>
            <a:avLst/>
            <a:gdLst/>
            <a:ahLst/>
            <a:cxnLst/>
            <a:rect r="r" b="b" t="t" l="l"/>
            <a:pathLst>
              <a:path h="848296" w="9260776">
                <a:moveTo>
                  <a:pt x="0" y="0"/>
                </a:moveTo>
                <a:lnTo>
                  <a:pt x="9260777" y="0"/>
                </a:lnTo>
                <a:lnTo>
                  <a:pt x="92607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4" id="164"/>
          <p:cNvSpPr/>
          <p:nvPr/>
        </p:nvSpPr>
        <p:spPr>
          <a:xfrm flipH="false" flipV="false" rot="0">
            <a:off x="11142983" y="8875271"/>
            <a:ext cx="5145976" cy="848296"/>
          </a:xfrm>
          <a:custGeom>
            <a:avLst/>
            <a:gdLst/>
            <a:ahLst/>
            <a:cxnLst/>
            <a:rect r="r" b="b" t="t" l="l"/>
            <a:pathLst>
              <a:path h="848296" w="5145976">
                <a:moveTo>
                  <a:pt x="0" y="0"/>
                </a:moveTo>
                <a:lnTo>
                  <a:pt x="5145977" y="0"/>
                </a:lnTo>
                <a:lnTo>
                  <a:pt x="5145977" y="848297"/>
                </a:lnTo>
                <a:lnTo>
                  <a:pt x="0" y="84829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5" id="165"/>
          <p:cNvGrpSpPr/>
          <p:nvPr/>
        </p:nvGrpSpPr>
        <p:grpSpPr>
          <a:xfrm rot="0">
            <a:off x="548640" y="8887968"/>
            <a:ext cx="1280160" cy="822960"/>
            <a:chOff x="0" y="0"/>
            <a:chExt cx="1706880" cy="109728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7068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2537" t="0" r="-32538" b="0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548640" y="8852249"/>
            <a:ext cx="1280160" cy="858679"/>
            <a:chOff x="0" y="0"/>
            <a:chExt cx="1706880" cy="1144905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70688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36060" t="0" r="-36060" b="0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170688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R8</a:t>
              </a:r>
            </a:p>
          </p:txBody>
        </p:sp>
      </p:grpSp>
      <p:grpSp>
        <p:nvGrpSpPr>
          <p:cNvPr name="Group 170" id="170"/>
          <p:cNvGrpSpPr/>
          <p:nvPr/>
        </p:nvGrpSpPr>
        <p:grpSpPr>
          <a:xfrm rot="0">
            <a:off x="2011680" y="8887968"/>
            <a:ext cx="8961120" cy="822960"/>
            <a:chOff x="0" y="0"/>
            <a:chExt cx="11948160" cy="1097280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0" y="0"/>
              <a:ext cx="119481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2023" r="0" b="-162023"/>
              </a:stretch>
            </a:blipFill>
          </p:spPr>
        </p:sp>
      </p:grpSp>
      <p:grpSp>
        <p:nvGrpSpPr>
          <p:cNvPr name="Group 172" id="172"/>
          <p:cNvGrpSpPr/>
          <p:nvPr/>
        </p:nvGrpSpPr>
        <p:grpSpPr>
          <a:xfrm rot="0">
            <a:off x="2011680" y="8852249"/>
            <a:ext cx="8961120" cy="858679"/>
            <a:chOff x="0" y="0"/>
            <a:chExt cx="11948160" cy="1144905"/>
          </a:xfrm>
        </p:grpSpPr>
        <p:sp>
          <p:nvSpPr>
            <p:cNvPr name="Freeform 173" id="173"/>
            <p:cNvSpPr/>
            <p:nvPr/>
          </p:nvSpPr>
          <p:spPr>
            <a:xfrm flipH="false" flipV="false" rot="0">
              <a:off x="0" y="0"/>
              <a:ext cx="119481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3344" r="0" b="-153344"/>
              </a:stretch>
            </a:blipFill>
          </p:spPr>
        </p:sp>
        <p:sp>
          <p:nvSpPr>
            <p:cNvPr name="TextBox 174" id="174"/>
            <p:cNvSpPr txBox="true"/>
            <p:nvPr/>
          </p:nvSpPr>
          <p:spPr>
            <a:xfrm>
              <a:off x="0" y="-47625"/>
              <a:ext cx="119481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 is far BUT exit threat is high</a:t>
              </a:r>
            </a:p>
          </p:txBody>
        </p:sp>
      </p:grpSp>
      <p:grpSp>
        <p:nvGrpSpPr>
          <p:cNvPr name="Group 175" id="175"/>
          <p:cNvGrpSpPr/>
          <p:nvPr/>
        </p:nvGrpSpPr>
        <p:grpSpPr>
          <a:xfrm rot="0">
            <a:off x="11338560" y="8887968"/>
            <a:ext cx="4846320" cy="822960"/>
            <a:chOff x="0" y="0"/>
            <a:chExt cx="6461760" cy="109728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0" y="0"/>
              <a:ext cx="64617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4665" r="0" b="-64665"/>
              </a:stretch>
            </a:blipFill>
          </p:spPr>
        </p:sp>
      </p:grpSp>
      <p:grpSp>
        <p:nvGrpSpPr>
          <p:cNvPr name="Group 177" id="177"/>
          <p:cNvGrpSpPr/>
          <p:nvPr/>
        </p:nvGrpSpPr>
        <p:grpSpPr>
          <a:xfrm rot="0">
            <a:off x="11338560" y="8852249"/>
            <a:ext cx="4846320" cy="858679"/>
            <a:chOff x="0" y="0"/>
            <a:chExt cx="6461760" cy="1144905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6461760" cy="1144905"/>
            </a:xfrm>
            <a:custGeom>
              <a:avLst/>
              <a:gdLst/>
              <a:ahLst/>
              <a:cxnLst/>
              <a:rect r="r" b="b" t="t" l="l"/>
              <a:pathLst>
                <a:path h="1144905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144905"/>
                  </a:lnTo>
                  <a:lnTo>
                    <a:pt x="0" y="114490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9972" r="0" b="-59972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47625"/>
              <a:ext cx="6461760" cy="1192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98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INTERCEPT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246" t="0" r="-30244" b="0"/>
              </a:stretch>
            </a:blipFill>
          </p:spPr>
        </p:sp>
      </p:grpSp>
      <p:sp>
        <p:nvSpPr>
          <p:cNvPr name="TextBox 182" id="18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44503" y="1724663"/>
            <a:ext cx="2768536" cy="107632"/>
          </a:xfrm>
          <a:custGeom>
            <a:avLst/>
            <a:gdLst/>
            <a:ahLst/>
            <a:cxnLst/>
            <a:rect r="r" b="b" t="t" l="l"/>
            <a:pathLst>
              <a:path h="107632" w="2768536">
                <a:moveTo>
                  <a:pt x="0" y="0"/>
                </a:moveTo>
                <a:lnTo>
                  <a:pt x="2768537" y="0"/>
                </a:lnTo>
                <a:lnTo>
                  <a:pt x="27685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87703" y="1724663"/>
            <a:ext cx="7340536" cy="107632"/>
          </a:xfrm>
          <a:custGeom>
            <a:avLst/>
            <a:gdLst/>
            <a:ahLst/>
            <a:cxnLst/>
            <a:rect r="r" b="b" t="t" l="l"/>
            <a:pathLst>
              <a:path h="107632" w="7340536">
                <a:moveTo>
                  <a:pt x="0" y="0"/>
                </a:moveTo>
                <a:lnTo>
                  <a:pt x="7340537" y="0"/>
                </a:lnTo>
                <a:lnTo>
                  <a:pt x="73405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57200" y="146304"/>
            <a:ext cx="14630400" cy="1051436"/>
            <a:chOff x="0" y="0"/>
            <a:chExt cx="19507200" cy="14019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1401953"/>
            </a:xfrm>
            <a:custGeom>
              <a:avLst/>
              <a:gdLst/>
              <a:ahLst/>
              <a:cxnLst/>
              <a:rect r="r" b="b" t="t" l="l"/>
              <a:pathLst>
                <a:path h="1401953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01953"/>
                  </a:lnTo>
                  <a:lnTo>
                    <a:pt x="0" y="140195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22194" r="0" b="-42219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7200" y="146304"/>
            <a:ext cx="14630400" cy="1051433"/>
            <a:chOff x="0" y="0"/>
            <a:chExt cx="19507200" cy="14019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07200" cy="1401906"/>
            </a:xfrm>
            <a:custGeom>
              <a:avLst/>
              <a:gdLst/>
              <a:ahLst/>
              <a:cxnLst/>
              <a:rect r="r" b="b" t="t" l="l"/>
              <a:pathLst>
                <a:path h="1401906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401906"/>
                  </a:lnTo>
                  <a:lnTo>
                    <a:pt x="0" y="140190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1129" r="0" b="-22113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9507200" cy="14019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spc="-31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AI Agent 2: Red Prisoner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7200" y="1097280"/>
            <a:ext cx="14630400" cy="694944"/>
            <a:chOff x="0" y="0"/>
            <a:chExt cx="1950720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07200" cy="926592"/>
            </a:xfrm>
            <a:custGeom>
              <a:avLst/>
              <a:gdLst/>
              <a:ahLst/>
              <a:cxnLst/>
              <a:rect r="r" b="b" t="t" l="l"/>
              <a:pathLst>
                <a:path h="92659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359925" r="0" b="-35992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7200" y="1054418"/>
            <a:ext cx="14630400" cy="737806"/>
            <a:chOff x="0" y="0"/>
            <a:chExt cx="19507200" cy="9837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507200" cy="983742"/>
            </a:xfrm>
            <a:custGeom>
              <a:avLst/>
              <a:gdLst/>
              <a:ahLst/>
              <a:cxnLst/>
              <a:rect r="r" b="b" t="t" l="l"/>
              <a:pathLst>
                <a:path h="983742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36380" r="0" b="-3363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9507200" cy="1040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Minimax with Alpha-Beta Pruning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44503" y="1998983"/>
            <a:ext cx="8437816" cy="811720"/>
          </a:xfrm>
          <a:custGeom>
            <a:avLst/>
            <a:gdLst/>
            <a:ahLst/>
            <a:cxnLst/>
            <a:rect r="r" b="b" t="t" l="l"/>
            <a:pathLst>
              <a:path h="811720" w="8437816">
                <a:moveTo>
                  <a:pt x="0" y="0"/>
                </a:moveTo>
                <a:lnTo>
                  <a:pt x="8437817" y="0"/>
                </a:lnTo>
                <a:lnTo>
                  <a:pt x="8437817" y="811721"/>
                </a:lnTo>
                <a:lnTo>
                  <a:pt x="0" y="8117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40080" y="2011680"/>
            <a:ext cx="2194560" cy="786384"/>
            <a:chOff x="0" y="0"/>
            <a:chExt cx="2926080" cy="10485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926080" cy="1048512"/>
            </a:xfrm>
            <a:custGeom>
              <a:avLst/>
              <a:gdLst/>
              <a:ahLst/>
              <a:cxnLst/>
              <a:rect r="r" b="b" t="t" l="l"/>
              <a:pathLst>
                <a:path h="10485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338" r="0" b="-433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40080" y="1975961"/>
            <a:ext cx="2194560" cy="822103"/>
            <a:chOff x="0" y="0"/>
            <a:chExt cx="2926080" cy="109613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926080" cy="1096137"/>
            </a:xfrm>
            <a:custGeom>
              <a:avLst/>
              <a:gdLst/>
              <a:ahLst/>
              <a:cxnLst/>
              <a:rect r="r" b="b" t="t" l="l"/>
              <a:pathLst>
                <a:path h="1096137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14" r="0" b="-201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292608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926080" y="2011680"/>
            <a:ext cx="5669280" cy="786384"/>
            <a:chOff x="0" y="0"/>
            <a:chExt cx="7559040" cy="10485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5590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90375" r="0" b="-90376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926080" y="1975961"/>
            <a:ext cx="5669280" cy="822103"/>
            <a:chOff x="0" y="0"/>
            <a:chExt cx="7559040" cy="109613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559040" cy="1096137"/>
            </a:xfrm>
            <a:custGeom>
              <a:avLst/>
              <a:gdLst/>
              <a:ahLst/>
              <a:cxnLst/>
              <a:rect r="r" b="b" t="t" l="l"/>
              <a:pathLst>
                <a:path h="1096137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370" r="0" b="-8437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755904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E052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Minimax with Alpha-Beta Pruning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44503" y="2840231"/>
            <a:ext cx="8437816" cy="811720"/>
          </a:xfrm>
          <a:custGeom>
            <a:avLst/>
            <a:gdLst/>
            <a:ahLst/>
            <a:cxnLst/>
            <a:rect r="r" b="b" t="t" l="l"/>
            <a:pathLst>
              <a:path h="811720" w="8437816">
                <a:moveTo>
                  <a:pt x="0" y="0"/>
                </a:moveTo>
                <a:lnTo>
                  <a:pt x="8437817" y="0"/>
                </a:lnTo>
                <a:lnTo>
                  <a:pt x="8437817" y="811721"/>
                </a:lnTo>
                <a:lnTo>
                  <a:pt x="0" y="8117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640080" y="2852928"/>
            <a:ext cx="2194560" cy="786384"/>
            <a:chOff x="0" y="0"/>
            <a:chExt cx="2926080" cy="10485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926080" cy="1048512"/>
            </a:xfrm>
            <a:custGeom>
              <a:avLst/>
              <a:gdLst/>
              <a:ahLst/>
              <a:cxnLst/>
              <a:rect r="r" b="b" t="t" l="l"/>
              <a:pathLst>
                <a:path h="10485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338" r="0" b="-4339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0080" y="2817209"/>
            <a:ext cx="2194560" cy="822103"/>
            <a:chOff x="0" y="0"/>
            <a:chExt cx="2926080" cy="109613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926080" cy="1096137"/>
            </a:xfrm>
            <a:custGeom>
              <a:avLst/>
              <a:gdLst/>
              <a:ahLst/>
              <a:cxnLst/>
              <a:rect r="r" b="b" t="t" l="l"/>
              <a:pathLst>
                <a:path h="1096137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14" r="0" b="-201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292608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Style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926080" y="2852928"/>
            <a:ext cx="5669280" cy="786384"/>
            <a:chOff x="0" y="0"/>
            <a:chExt cx="7559040" cy="10485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5590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90375" r="0" b="-90376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2926080" y="2817209"/>
            <a:ext cx="5669280" cy="822103"/>
            <a:chOff x="0" y="0"/>
            <a:chExt cx="7559040" cy="10961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559040" cy="1096137"/>
            </a:xfrm>
            <a:custGeom>
              <a:avLst/>
              <a:gdLst/>
              <a:ahLst/>
              <a:cxnLst/>
              <a:rect r="r" b="b" t="t" l="l"/>
              <a:pathLst>
                <a:path h="1096137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370" r="0" b="-8437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755904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Rusher — treats Police as adversarial opponent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444503" y="3681479"/>
            <a:ext cx="8437816" cy="811721"/>
          </a:xfrm>
          <a:custGeom>
            <a:avLst/>
            <a:gdLst/>
            <a:ahLst/>
            <a:cxnLst/>
            <a:rect r="r" b="b" t="t" l="l"/>
            <a:pathLst>
              <a:path h="811721" w="8437816">
                <a:moveTo>
                  <a:pt x="0" y="0"/>
                </a:moveTo>
                <a:lnTo>
                  <a:pt x="8437817" y="0"/>
                </a:lnTo>
                <a:lnTo>
                  <a:pt x="8437817" y="811721"/>
                </a:lnTo>
                <a:lnTo>
                  <a:pt x="0" y="8117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640080" y="3694176"/>
            <a:ext cx="2194560" cy="786384"/>
            <a:chOff x="0" y="0"/>
            <a:chExt cx="2926080" cy="10485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926080" cy="1048512"/>
            </a:xfrm>
            <a:custGeom>
              <a:avLst/>
              <a:gdLst/>
              <a:ahLst/>
              <a:cxnLst/>
              <a:rect r="r" b="b" t="t" l="l"/>
              <a:pathLst>
                <a:path h="10485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338" r="0" b="-4339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40080" y="3658457"/>
            <a:ext cx="2194560" cy="822103"/>
            <a:chOff x="0" y="0"/>
            <a:chExt cx="2926080" cy="109613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926080" cy="1096137"/>
            </a:xfrm>
            <a:custGeom>
              <a:avLst/>
              <a:gdLst/>
              <a:ahLst/>
              <a:cxnLst/>
              <a:rect r="r" b="b" t="t" l="l"/>
              <a:pathLst>
                <a:path h="1096137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14" r="0" b="-201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92608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Goal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926080" y="3694176"/>
            <a:ext cx="5669280" cy="786384"/>
            <a:chOff x="0" y="0"/>
            <a:chExt cx="7559040" cy="104851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5590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90375" r="0" b="-9037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2926080" y="3658457"/>
            <a:ext cx="5669280" cy="822103"/>
            <a:chOff x="0" y="0"/>
            <a:chExt cx="7559040" cy="109613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559040" cy="1096137"/>
            </a:xfrm>
            <a:custGeom>
              <a:avLst/>
              <a:gdLst/>
              <a:ahLst/>
              <a:cxnLst/>
              <a:rect r="r" b="b" t="t" l="l"/>
              <a:pathLst>
                <a:path h="1096137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370" r="0" b="-8437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755904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Escape through the active exit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444503" y="4522727"/>
            <a:ext cx="8437816" cy="811721"/>
          </a:xfrm>
          <a:custGeom>
            <a:avLst/>
            <a:gdLst/>
            <a:ahLst/>
            <a:cxnLst/>
            <a:rect r="r" b="b" t="t" l="l"/>
            <a:pathLst>
              <a:path h="811721" w="8437816">
                <a:moveTo>
                  <a:pt x="0" y="0"/>
                </a:moveTo>
                <a:lnTo>
                  <a:pt x="8437817" y="0"/>
                </a:lnTo>
                <a:lnTo>
                  <a:pt x="8437817" y="811721"/>
                </a:lnTo>
                <a:lnTo>
                  <a:pt x="0" y="81172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640080" y="4535424"/>
            <a:ext cx="2194560" cy="786384"/>
            <a:chOff x="0" y="0"/>
            <a:chExt cx="2926080" cy="10485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926080" cy="1048512"/>
            </a:xfrm>
            <a:custGeom>
              <a:avLst/>
              <a:gdLst/>
              <a:ahLst/>
              <a:cxnLst/>
              <a:rect r="r" b="b" t="t" l="l"/>
              <a:pathLst>
                <a:path h="10485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338" r="0" b="-4339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40080" y="4499705"/>
            <a:ext cx="2194560" cy="822103"/>
            <a:chOff x="0" y="0"/>
            <a:chExt cx="2926080" cy="109613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26080" cy="1096137"/>
            </a:xfrm>
            <a:custGeom>
              <a:avLst/>
              <a:gdLst/>
              <a:ahLst/>
              <a:cxnLst/>
              <a:rect r="r" b="b" t="t" l="l"/>
              <a:pathLst>
                <a:path h="1096137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14" r="0" b="-201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292608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Strength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926080" y="4535424"/>
            <a:ext cx="5669280" cy="786384"/>
            <a:chOff x="0" y="0"/>
            <a:chExt cx="7559040" cy="104851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5590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90375" r="0" b="-90376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2926080" y="4499705"/>
            <a:ext cx="5669280" cy="822103"/>
            <a:chOff x="0" y="0"/>
            <a:chExt cx="7559040" cy="1096137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559040" cy="1096137"/>
            </a:xfrm>
            <a:custGeom>
              <a:avLst/>
              <a:gdLst/>
              <a:ahLst/>
              <a:cxnLst/>
              <a:rect r="r" b="b" t="t" l="l"/>
              <a:pathLst>
                <a:path h="1096137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370" r="0" b="-8437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755904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4CAF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Strategic planning against an opponent model</a:t>
              </a:r>
            </a:p>
          </p:txBody>
        </p:sp>
      </p:grpSp>
      <p:sp>
        <p:nvSpPr>
          <p:cNvPr name="Freeform 62" id="62"/>
          <p:cNvSpPr/>
          <p:nvPr/>
        </p:nvSpPr>
        <p:spPr>
          <a:xfrm flipH="false" flipV="false" rot="0">
            <a:off x="444503" y="5363975"/>
            <a:ext cx="8437816" cy="811721"/>
          </a:xfrm>
          <a:custGeom>
            <a:avLst/>
            <a:gdLst/>
            <a:ahLst/>
            <a:cxnLst/>
            <a:rect r="r" b="b" t="t" l="l"/>
            <a:pathLst>
              <a:path h="811721" w="8437816">
                <a:moveTo>
                  <a:pt x="0" y="0"/>
                </a:moveTo>
                <a:lnTo>
                  <a:pt x="8437817" y="0"/>
                </a:lnTo>
                <a:lnTo>
                  <a:pt x="8437817" y="811721"/>
                </a:lnTo>
                <a:lnTo>
                  <a:pt x="0" y="8117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640080" y="5376672"/>
            <a:ext cx="2194560" cy="786384"/>
            <a:chOff x="0" y="0"/>
            <a:chExt cx="2926080" cy="10485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926080" cy="1048512"/>
            </a:xfrm>
            <a:custGeom>
              <a:avLst/>
              <a:gdLst/>
              <a:ahLst/>
              <a:cxnLst/>
              <a:rect r="r" b="b" t="t" l="l"/>
              <a:pathLst>
                <a:path h="1048512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338" r="0" b="-4339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640080" y="5340953"/>
            <a:ext cx="2194560" cy="822103"/>
            <a:chOff x="0" y="0"/>
            <a:chExt cx="2926080" cy="1096137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926080" cy="1096137"/>
            </a:xfrm>
            <a:custGeom>
              <a:avLst/>
              <a:gdLst/>
              <a:ahLst/>
              <a:cxnLst/>
              <a:rect r="r" b="b" t="t" l="l"/>
              <a:pathLst>
                <a:path h="1096137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14" r="0" b="-201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292608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Weakness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926080" y="5376672"/>
            <a:ext cx="5669280" cy="786384"/>
            <a:chOff x="0" y="0"/>
            <a:chExt cx="7559040" cy="104851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7559040" cy="1048512"/>
            </a:xfrm>
            <a:custGeom>
              <a:avLst/>
              <a:gdLst/>
              <a:ahLst/>
              <a:cxnLst/>
              <a:rect r="r" b="b" t="t" l="l"/>
              <a:pathLst>
                <a:path h="1048512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48512"/>
                  </a:lnTo>
                  <a:lnTo>
                    <a:pt x="0" y="104851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90375" r="0" b="-90376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2926080" y="5340953"/>
            <a:ext cx="5669280" cy="822103"/>
            <a:chOff x="0" y="0"/>
            <a:chExt cx="7559040" cy="109613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559040" cy="1096137"/>
            </a:xfrm>
            <a:custGeom>
              <a:avLst/>
              <a:gdLst/>
              <a:ahLst/>
              <a:cxnLst/>
              <a:rect r="r" b="b" t="t" l="l"/>
              <a:pathLst>
                <a:path h="1096137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96137"/>
                  </a:lnTo>
                  <a:lnTo>
                    <a:pt x="0" y="109613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84370" r="0" b="-8437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7559040" cy="11437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FF98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Depends on search depth and heuristic quality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438150" y="6235446"/>
            <a:ext cx="8450580" cy="3695700"/>
          </a:xfrm>
          <a:custGeom>
            <a:avLst/>
            <a:gdLst/>
            <a:ahLst/>
            <a:cxnLst/>
            <a:rect r="r" b="b" t="t" l="l"/>
            <a:pathLst>
              <a:path h="3695700" w="8450580">
                <a:moveTo>
                  <a:pt x="0" y="0"/>
                </a:moveTo>
                <a:lnTo>
                  <a:pt x="8450580" y="0"/>
                </a:lnTo>
                <a:lnTo>
                  <a:pt x="8450580" y="3695700"/>
                </a:lnTo>
                <a:lnTo>
                  <a:pt x="0" y="36957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640080" y="6327648"/>
            <a:ext cx="8046720" cy="548640"/>
            <a:chOff x="0" y="0"/>
            <a:chExt cx="1072896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72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35581" r="0" b="-235581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640080" y="6291929"/>
            <a:ext cx="8046720" cy="584359"/>
            <a:chOff x="0" y="0"/>
            <a:chExt cx="10728960" cy="77914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728960" cy="779145"/>
            </a:xfrm>
            <a:custGeom>
              <a:avLst/>
              <a:gdLst/>
              <a:ahLst/>
              <a:cxnLst/>
              <a:rect r="r" b="b" t="t" l="l"/>
              <a:pathLst>
                <a:path h="77914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779145"/>
                  </a:lnTo>
                  <a:lnTo>
                    <a:pt x="0" y="779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18312" r="0" b="-21831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0728960" cy="826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Evaluation Function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640080" y="6912864"/>
            <a:ext cx="8046720" cy="2834640"/>
            <a:chOff x="0" y="0"/>
            <a:chExt cx="10728960" cy="37795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728960" cy="3779520"/>
            </a:xfrm>
            <a:custGeom>
              <a:avLst/>
              <a:gdLst/>
              <a:ahLst/>
              <a:cxnLst/>
              <a:rect r="r" b="b" t="t" l="l"/>
              <a:pathLst>
                <a:path h="377952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273" r="0" b="-5273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640080" y="6877145"/>
            <a:ext cx="8046720" cy="2870359"/>
            <a:chOff x="0" y="0"/>
            <a:chExt cx="10728960" cy="3827145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0728960" cy="3827145"/>
            </a:xfrm>
            <a:custGeom>
              <a:avLst/>
              <a:gdLst/>
              <a:ahLst/>
              <a:cxnLst/>
              <a:rect r="r" b="b" t="t" l="l"/>
              <a:pathLst>
                <a:path h="3827145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3827145"/>
                  </a:lnTo>
                  <a:lnTo>
                    <a:pt x="0" y="382714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624" r="0" b="-4624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47625"/>
              <a:ext cx="10728960" cy="3874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onsolas"/>
                  <a:ea typeface="Consolas"/>
                  <a:cs typeface="Consolas"/>
                  <a:sym typeface="Consolas"/>
                </a:rPr>
                <a:t>Score  =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onsolas"/>
                  <a:ea typeface="Consolas"/>
                  <a:cs typeface="Consolas"/>
                  <a:sym typeface="Consolas"/>
                </a:rPr>
                <a:t>  + exit-progress reward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onsolas"/>
                  <a:ea typeface="Consolas"/>
                  <a:cs typeface="Consolas"/>
                  <a:sym typeface="Consolas"/>
                </a:rPr>
                <a:t>  − danger penalty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onsolas"/>
                  <a:ea typeface="Consolas"/>
                  <a:cs typeface="Consolas"/>
                  <a:sym typeface="Consolas"/>
                </a:rPr>
                <a:t>  − guard pressure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onsolas"/>
                  <a:ea typeface="Consolas"/>
                  <a:cs typeface="Consolas"/>
                  <a:sym typeface="Consolas"/>
                </a:rPr>
                <a:t>  − fire/wall penalty</a:t>
              </a:r>
            </a:p>
            <a:p>
              <a:pPr algn="l">
                <a:lnSpc>
                  <a:spcPts val="2640"/>
                </a:lnSpc>
              </a:pPr>
              <a:r>
                <a:rPr lang="en-US" sz="2200">
                  <a:solidFill>
                    <a:srgbClr val="B0D4C8"/>
                  </a:solidFill>
                  <a:latin typeface="Consolas"/>
                  <a:ea typeface="Consolas"/>
                  <a:cs typeface="Consolas"/>
                  <a:sym typeface="Consolas"/>
                </a:rPr>
                <a:t>  + stamina value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326880" y="2011680"/>
            <a:ext cx="8503920" cy="512064"/>
            <a:chOff x="0" y="0"/>
            <a:chExt cx="11338560" cy="68275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13385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273364" r="0" b="-273366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235440" y="1983105"/>
            <a:ext cx="8503920" cy="540639"/>
            <a:chOff x="0" y="0"/>
            <a:chExt cx="11338560" cy="7208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1338560" cy="720852"/>
            </a:xfrm>
            <a:custGeom>
              <a:avLst/>
              <a:gdLst/>
              <a:ahLst/>
              <a:cxnLst/>
              <a:rect r="r" b="b" t="t" l="l"/>
              <a:pathLst>
                <a:path h="72085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56487" r="0" b="-256487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11338560" cy="768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ALPHA-BETA PRUNING</a:t>
              </a:r>
            </a:p>
          </p:txBody>
        </p:sp>
      </p:grpSp>
      <p:sp>
        <p:nvSpPr>
          <p:cNvPr name="Freeform 89" id="89"/>
          <p:cNvSpPr/>
          <p:nvPr/>
        </p:nvSpPr>
        <p:spPr>
          <a:xfrm flipH="false" flipV="false" rot="0">
            <a:off x="11319510" y="2632710"/>
            <a:ext cx="3970020" cy="806196"/>
          </a:xfrm>
          <a:custGeom>
            <a:avLst/>
            <a:gdLst/>
            <a:ahLst/>
            <a:cxnLst/>
            <a:rect r="r" b="b" t="t" l="l"/>
            <a:pathLst>
              <a:path h="806196" w="3970020">
                <a:moveTo>
                  <a:pt x="0" y="0"/>
                </a:moveTo>
                <a:lnTo>
                  <a:pt x="3970020" y="0"/>
                </a:lnTo>
                <a:lnTo>
                  <a:pt x="3970020" y="806196"/>
                </a:lnTo>
                <a:lnTo>
                  <a:pt x="0" y="80619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0" id="90"/>
          <p:cNvGrpSpPr/>
          <p:nvPr/>
        </p:nvGrpSpPr>
        <p:grpSpPr>
          <a:xfrm rot="0">
            <a:off x="11338560" y="2651760"/>
            <a:ext cx="3931920" cy="768096"/>
            <a:chOff x="0" y="0"/>
            <a:chExt cx="5242560" cy="102412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242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49675" r="0" b="-49676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1338560" y="2623185"/>
            <a:ext cx="3931920" cy="796671"/>
            <a:chOff x="0" y="0"/>
            <a:chExt cx="5242560" cy="106222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242560" cy="1062228"/>
            </a:xfrm>
            <a:custGeom>
              <a:avLst/>
              <a:gdLst/>
              <a:ahLst/>
              <a:cxnLst/>
              <a:rect r="r" b="b" t="t" l="l"/>
              <a:pathLst>
                <a:path h="1062228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46167" r="0" b="-4616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524256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 Root (MAX)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276326" y="3419856"/>
            <a:ext cx="38100" cy="512064"/>
            <a:chOff x="0" y="0"/>
            <a:chExt cx="5080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0800" cy="682752"/>
            </a:xfrm>
            <a:custGeom>
              <a:avLst/>
              <a:gdLst/>
              <a:ahLst/>
              <a:cxnLst/>
              <a:rect r="r" b="b" t="t" l="l"/>
              <a:pathLst>
                <a:path h="682752" w="50800">
                  <a:moveTo>
                    <a:pt x="50800" y="0"/>
                  </a:moveTo>
                  <a:lnTo>
                    <a:pt x="50800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692640" y="3912870"/>
            <a:ext cx="7223760" cy="38100"/>
            <a:chOff x="0" y="0"/>
            <a:chExt cx="9631680" cy="508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631680" cy="50800"/>
            </a:xfrm>
            <a:custGeom>
              <a:avLst/>
              <a:gdLst/>
              <a:ahLst/>
              <a:cxnLst/>
              <a:rect r="r" b="b" t="t" l="l"/>
              <a:pathLst>
                <a:path h="50800" w="9631680">
                  <a:moveTo>
                    <a:pt x="0" y="0"/>
                  </a:moveTo>
                  <a:lnTo>
                    <a:pt x="9631680" y="0"/>
                  </a:lnTo>
                  <a:lnTo>
                    <a:pt x="963168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0405110" y="3931920"/>
            <a:ext cx="38100" cy="457200"/>
            <a:chOff x="0" y="0"/>
            <a:chExt cx="50800" cy="6096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0800" cy="609600"/>
            </a:xfrm>
            <a:custGeom>
              <a:avLst/>
              <a:gdLst/>
              <a:ahLst/>
              <a:cxnLst/>
              <a:rect r="r" b="b" t="t" l="l"/>
              <a:pathLst>
                <a:path h="609600" w="50800">
                  <a:moveTo>
                    <a:pt x="50800" y="0"/>
                  </a:moveTo>
                  <a:lnTo>
                    <a:pt x="50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sp>
        <p:nvSpPr>
          <p:cNvPr name="Freeform 101" id="101"/>
          <p:cNvSpPr/>
          <p:nvPr/>
        </p:nvSpPr>
        <p:spPr>
          <a:xfrm flipH="false" flipV="false" rot="0">
            <a:off x="9307830" y="4370070"/>
            <a:ext cx="2232660" cy="806196"/>
          </a:xfrm>
          <a:custGeom>
            <a:avLst/>
            <a:gdLst/>
            <a:ahLst/>
            <a:cxnLst/>
            <a:rect r="r" b="b" t="t" l="l"/>
            <a:pathLst>
              <a:path h="806196" w="2232660">
                <a:moveTo>
                  <a:pt x="0" y="0"/>
                </a:moveTo>
                <a:lnTo>
                  <a:pt x="2232660" y="0"/>
                </a:lnTo>
                <a:lnTo>
                  <a:pt x="2232660" y="806196"/>
                </a:lnTo>
                <a:lnTo>
                  <a:pt x="0" y="80619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9326880" y="4389120"/>
            <a:ext cx="2194560" cy="768096"/>
            <a:chOff x="0" y="0"/>
            <a:chExt cx="2926080" cy="102412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632" r="0" b="-5633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326880" y="4360545"/>
            <a:ext cx="2194560" cy="796671"/>
            <a:chOff x="0" y="0"/>
            <a:chExt cx="2926080" cy="1062228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926080" cy="1062228"/>
            </a:xfrm>
            <a:custGeom>
              <a:avLst/>
              <a:gdLst/>
              <a:ahLst/>
              <a:cxnLst/>
              <a:rect r="r" b="b" t="t" l="l"/>
              <a:pathLst>
                <a:path h="10622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74" r="0" b="-367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292608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CDD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A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0411463" y="5157187"/>
            <a:ext cx="25432" cy="457200"/>
            <a:chOff x="0" y="0"/>
            <a:chExt cx="33909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3909" cy="609600"/>
            </a:xfrm>
            <a:custGeom>
              <a:avLst/>
              <a:gdLst/>
              <a:ahLst/>
              <a:cxnLst/>
              <a:rect r="r" b="b" t="t" l="l"/>
              <a:pathLst>
                <a:path h="609600" w="33909">
                  <a:moveTo>
                    <a:pt x="33909" y="0"/>
                  </a:moveTo>
                  <a:lnTo>
                    <a:pt x="3390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sp>
        <p:nvSpPr>
          <p:cNvPr name="Freeform 109" id="109"/>
          <p:cNvSpPr/>
          <p:nvPr/>
        </p:nvSpPr>
        <p:spPr>
          <a:xfrm flipH="false" flipV="false" rot="0">
            <a:off x="9307830" y="5595366"/>
            <a:ext cx="2232660" cy="806196"/>
          </a:xfrm>
          <a:custGeom>
            <a:avLst/>
            <a:gdLst/>
            <a:ahLst/>
            <a:cxnLst/>
            <a:rect r="r" b="b" t="t" l="l"/>
            <a:pathLst>
              <a:path h="806196" w="2232660">
                <a:moveTo>
                  <a:pt x="0" y="0"/>
                </a:moveTo>
                <a:lnTo>
                  <a:pt x="2232660" y="0"/>
                </a:lnTo>
                <a:lnTo>
                  <a:pt x="2232660" y="806196"/>
                </a:lnTo>
                <a:lnTo>
                  <a:pt x="0" y="80619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9326880" y="5614416"/>
            <a:ext cx="2194560" cy="768096"/>
            <a:chOff x="0" y="0"/>
            <a:chExt cx="2926080" cy="102412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632" r="0" b="-5633"/>
              </a:stretch>
            </a:blip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9326880" y="5585841"/>
            <a:ext cx="2194560" cy="796671"/>
            <a:chOff x="0" y="0"/>
            <a:chExt cx="2926080" cy="106222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2926080" cy="1062228"/>
            </a:xfrm>
            <a:custGeom>
              <a:avLst/>
              <a:gdLst/>
              <a:ahLst/>
              <a:cxnLst/>
              <a:rect r="r" b="b" t="t" l="l"/>
              <a:pathLst>
                <a:path h="10622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74" r="0" b="-367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-38100"/>
              <a:ext cx="292608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CDD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Police resp.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2416790" y="3931920"/>
            <a:ext cx="38100" cy="457200"/>
            <a:chOff x="0" y="0"/>
            <a:chExt cx="50800" cy="6096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0800" cy="609600"/>
            </a:xfrm>
            <a:custGeom>
              <a:avLst/>
              <a:gdLst/>
              <a:ahLst/>
              <a:cxnLst/>
              <a:rect r="r" b="b" t="t" l="l"/>
              <a:pathLst>
                <a:path h="609600" w="50800">
                  <a:moveTo>
                    <a:pt x="50800" y="0"/>
                  </a:moveTo>
                  <a:lnTo>
                    <a:pt x="50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sp>
        <p:nvSpPr>
          <p:cNvPr name="Freeform 117" id="117"/>
          <p:cNvSpPr/>
          <p:nvPr/>
        </p:nvSpPr>
        <p:spPr>
          <a:xfrm flipH="false" flipV="false" rot="0">
            <a:off x="11319510" y="4370070"/>
            <a:ext cx="2232660" cy="806196"/>
          </a:xfrm>
          <a:custGeom>
            <a:avLst/>
            <a:gdLst/>
            <a:ahLst/>
            <a:cxnLst/>
            <a:rect r="r" b="b" t="t" l="l"/>
            <a:pathLst>
              <a:path h="806196" w="2232660">
                <a:moveTo>
                  <a:pt x="0" y="0"/>
                </a:moveTo>
                <a:lnTo>
                  <a:pt x="2232660" y="0"/>
                </a:lnTo>
                <a:lnTo>
                  <a:pt x="2232660" y="806196"/>
                </a:lnTo>
                <a:lnTo>
                  <a:pt x="0" y="80619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1338560" y="4389120"/>
            <a:ext cx="2194560" cy="768096"/>
            <a:chOff x="0" y="0"/>
            <a:chExt cx="2926080" cy="102412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632" r="0" b="-5633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1338560" y="4360545"/>
            <a:ext cx="2194560" cy="796671"/>
            <a:chOff x="0" y="0"/>
            <a:chExt cx="2926080" cy="106222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926080" cy="1062228"/>
            </a:xfrm>
            <a:custGeom>
              <a:avLst/>
              <a:gdLst/>
              <a:ahLst/>
              <a:cxnLst/>
              <a:rect r="r" b="b" t="t" l="l"/>
              <a:pathLst>
                <a:path h="10622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74" r="0" b="-367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38100"/>
              <a:ext cx="292608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Move B ✓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2423143" y="5157187"/>
            <a:ext cx="25432" cy="457200"/>
            <a:chOff x="0" y="0"/>
            <a:chExt cx="33909" cy="60960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33909" cy="609600"/>
            </a:xfrm>
            <a:custGeom>
              <a:avLst/>
              <a:gdLst/>
              <a:ahLst/>
              <a:cxnLst/>
              <a:rect r="r" b="b" t="t" l="l"/>
              <a:pathLst>
                <a:path h="609600" w="33909">
                  <a:moveTo>
                    <a:pt x="33909" y="0"/>
                  </a:moveTo>
                  <a:lnTo>
                    <a:pt x="3390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sp>
        <p:nvSpPr>
          <p:cNvPr name="Freeform 125" id="125"/>
          <p:cNvSpPr/>
          <p:nvPr/>
        </p:nvSpPr>
        <p:spPr>
          <a:xfrm flipH="false" flipV="false" rot="0">
            <a:off x="11319510" y="5595366"/>
            <a:ext cx="2232660" cy="806196"/>
          </a:xfrm>
          <a:custGeom>
            <a:avLst/>
            <a:gdLst/>
            <a:ahLst/>
            <a:cxnLst/>
            <a:rect r="r" b="b" t="t" l="l"/>
            <a:pathLst>
              <a:path h="806196" w="2232660">
                <a:moveTo>
                  <a:pt x="0" y="0"/>
                </a:moveTo>
                <a:lnTo>
                  <a:pt x="2232660" y="0"/>
                </a:lnTo>
                <a:lnTo>
                  <a:pt x="2232660" y="806196"/>
                </a:lnTo>
                <a:lnTo>
                  <a:pt x="0" y="80619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6" id="126"/>
          <p:cNvGrpSpPr/>
          <p:nvPr/>
        </p:nvGrpSpPr>
        <p:grpSpPr>
          <a:xfrm rot="0">
            <a:off x="11338560" y="5614416"/>
            <a:ext cx="2194560" cy="768096"/>
            <a:chOff x="0" y="0"/>
            <a:chExt cx="2926080" cy="102412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632" r="0" b="-5633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1338560" y="5585841"/>
            <a:ext cx="2194560" cy="796671"/>
            <a:chOff x="0" y="0"/>
            <a:chExt cx="2926080" cy="106222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926080" cy="1062228"/>
            </a:xfrm>
            <a:custGeom>
              <a:avLst/>
              <a:gdLst/>
              <a:ahLst/>
              <a:cxnLst/>
              <a:rect r="r" b="b" t="t" l="l"/>
              <a:pathLst>
                <a:path h="10622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74" r="0" b="-367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38100"/>
              <a:ext cx="292608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Score: +8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4428470" y="3931920"/>
            <a:ext cx="38100" cy="457200"/>
            <a:chOff x="0" y="0"/>
            <a:chExt cx="50800" cy="60960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50800" cy="609600"/>
            </a:xfrm>
            <a:custGeom>
              <a:avLst/>
              <a:gdLst/>
              <a:ahLst/>
              <a:cxnLst/>
              <a:rect r="r" b="b" t="t" l="l"/>
              <a:pathLst>
                <a:path h="609600" w="50800">
                  <a:moveTo>
                    <a:pt x="50800" y="0"/>
                  </a:moveTo>
                  <a:lnTo>
                    <a:pt x="508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sp>
        <p:nvSpPr>
          <p:cNvPr name="Freeform 133" id="133"/>
          <p:cNvSpPr/>
          <p:nvPr/>
        </p:nvSpPr>
        <p:spPr>
          <a:xfrm flipH="false" flipV="false" rot="0">
            <a:off x="13331190" y="4370070"/>
            <a:ext cx="2232660" cy="806196"/>
          </a:xfrm>
          <a:custGeom>
            <a:avLst/>
            <a:gdLst/>
            <a:ahLst/>
            <a:cxnLst/>
            <a:rect r="r" b="b" t="t" l="l"/>
            <a:pathLst>
              <a:path h="806196" w="2232660">
                <a:moveTo>
                  <a:pt x="0" y="0"/>
                </a:moveTo>
                <a:lnTo>
                  <a:pt x="2232660" y="0"/>
                </a:lnTo>
                <a:lnTo>
                  <a:pt x="2232660" y="806196"/>
                </a:lnTo>
                <a:lnTo>
                  <a:pt x="0" y="80619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4" id="134"/>
          <p:cNvGrpSpPr/>
          <p:nvPr/>
        </p:nvGrpSpPr>
        <p:grpSpPr>
          <a:xfrm rot="0">
            <a:off x="13350240" y="4389120"/>
            <a:ext cx="2194560" cy="768096"/>
            <a:chOff x="0" y="0"/>
            <a:chExt cx="2926080" cy="102412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632" r="0" b="-5633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3350240" y="4360545"/>
            <a:ext cx="2194560" cy="796671"/>
            <a:chOff x="0" y="0"/>
            <a:chExt cx="2926080" cy="106222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926080" cy="1062228"/>
            </a:xfrm>
            <a:custGeom>
              <a:avLst/>
              <a:gdLst/>
              <a:ahLst/>
              <a:cxnLst/>
              <a:rect r="r" b="b" t="t" l="l"/>
              <a:pathLst>
                <a:path h="10622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74" r="0" b="-3674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38100"/>
              <a:ext cx="292608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CCDDC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Move C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434823" y="5157187"/>
            <a:ext cx="25432" cy="457200"/>
            <a:chOff x="0" y="0"/>
            <a:chExt cx="33909" cy="60960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33909" cy="609600"/>
            </a:xfrm>
            <a:custGeom>
              <a:avLst/>
              <a:gdLst/>
              <a:ahLst/>
              <a:cxnLst/>
              <a:rect r="r" b="b" t="t" l="l"/>
              <a:pathLst>
                <a:path h="609600" w="33909">
                  <a:moveTo>
                    <a:pt x="33909" y="0"/>
                  </a:moveTo>
                  <a:lnTo>
                    <a:pt x="33909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AAAAA"/>
            </a:solid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13350240" y="5614416"/>
            <a:ext cx="2194560" cy="768096"/>
            <a:chOff x="0" y="0"/>
            <a:chExt cx="2926080" cy="102412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2926080" cy="1024128"/>
            </a:xfrm>
            <a:custGeom>
              <a:avLst/>
              <a:gdLst/>
              <a:ahLst/>
              <a:cxnLst/>
              <a:rect r="r" b="b" t="t" l="l"/>
              <a:pathLst>
                <a:path h="10241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5632" r="0" b="-5633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3369290" y="5585841"/>
            <a:ext cx="2194560" cy="796671"/>
            <a:chOff x="0" y="0"/>
            <a:chExt cx="2926080" cy="106222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2926080" cy="1062228"/>
            </a:xfrm>
            <a:custGeom>
              <a:avLst/>
              <a:gdLst/>
              <a:ahLst/>
              <a:cxnLst/>
              <a:rect r="r" b="b" t="t" l="l"/>
              <a:pathLst>
                <a:path h="1062228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74" r="0" b="-3674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38100"/>
              <a:ext cx="292608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PRUNED ✕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-30246" t="0" r="-30244" b="0"/>
              </a:stretch>
            </a:blipFill>
          </p:spPr>
        </p:sp>
      </p:grpSp>
      <p:sp>
        <p:nvSpPr>
          <p:cNvPr name="TextBox 148" id="14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grpSp>
        <p:nvGrpSpPr>
          <p:cNvPr name="Group 149" id="149"/>
          <p:cNvGrpSpPr/>
          <p:nvPr/>
        </p:nvGrpSpPr>
        <p:grpSpPr>
          <a:xfrm rot="0">
            <a:off x="9016365" y="6401562"/>
            <a:ext cx="8115300" cy="3895344"/>
            <a:chOff x="0" y="0"/>
            <a:chExt cx="10820400" cy="5193792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0820400" cy="5193792"/>
            </a:xfrm>
            <a:custGeom>
              <a:avLst/>
              <a:gdLst/>
              <a:ahLst/>
              <a:cxnLst/>
              <a:rect r="r" b="b" t="t" l="l"/>
              <a:pathLst>
                <a:path h="5193792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5193792"/>
                  </a:lnTo>
                  <a:lnTo>
                    <a:pt x="0" y="5193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-15104" r="0" b="-15104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807" y="198606"/>
            <a:ext cx="15125281" cy="10088394"/>
            <a:chOff x="0" y="0"/>
            <a:chExt cx="20167042" cy="134511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167042" cy="13451193"/>
            </a:xfrm>
            <a:custGeom>
              <a:avLst/>
              <a:gdLst/>
              <a:ahLst/>
              <a:cxnLst/>
              <a:rect r="r" b="b" t="t" l="l"/>
              <a:pathLst>
                <a:path h="13451193" w="20167042">
                  <a:moveTo>
                    <a:pt x="0" y="0"/>
                  </a:moveTo>
                  <a:lnTo>
                    <a:pt x="20167042" y="0"/>
                  </a:lnTo>
                  <a:lnTo>
                    <a:pt x="20167042" y="13451193"/>
                  </a:lnTo>
                  <a:lnTo>
                    <a:pt x="0" y="134511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571" r="0" b="-257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444503" y="1724663"/>
            <a:ext cx="2951417" cy="107632"/>
          </a:xfrm>
          <a:custGeom>
            <a:avLst/>
            <a:gdLst/>
            <a:ahLst/>
            <a:cxnLst/>
            <a:rect r="r" b="b" t="t" l="l"/>
            <a:pathLst>
              <a:path h="107632" w="2951417">
                <a:moveTo>
                  <a:pt x="0" y="0"/>
                </a:moveTo>
                <a:lnTo>
                  <a:pt x="2951417" y="0"/>
                </a:lnTo>
                <a:lnTo>
                  <a:pt x="29514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70583" y="1724663"/>
            <a:ext cx="8254936" cy="107632"/>
          </a:xfrm>
          <a:custGeom>
            <a:avLst/>
            <a:gdLst/>
            <a:ahLst/>
            <a:cxnLst/>
            <a:rect r="r" b="b" t="t" l="l"/>
            <a:pathLst>
              <a:path h="107632" w="8254936">
                <a:moveTo>
                  <a:pt x="0" y="0"/>
                </a:moveTo>
                <a:lnTo>
                  <a:pt x="8254937" y="0"/>
                </a:lnTo>
                <a:lnTo>
                  <a:pt x="82549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57200" y="146304"/>
            <a:ext cx="16459200" cy="1051436"/>
            <a:chOff x="0" y="0"/>
            <a:chExt cx="21945600" cy="14019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01953"/>
            </a:xfrm>
            <a:custGeom>
              <a:avLst/>
              <a:gdLst/>
              <a:ahLst/>
              <a:cxnLst/>
              <a:rect r="r" b="b" t="t" l="l"/>
              <a:pathLst>
                <a:path h="140195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01953"/>
                  </a:lnTo>
                  <a:lnTo>
                    <a:pt x="0" y="1401953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54800" r="0" b="-25479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457200" y="146304"/>
            <a:ext cx="16459200" cy="1051436"/>
            <a:chOff x="0" y="0"/>
            <a:chExt cx="21945600" cy="140191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401911"/>
            </a:xfrm>
            <a:custGeom>
              <a:avLst/>
              <a:gdLst/>
              <a:ahLst/>
              <a:cxnLst/>
              <a:rect r="r" b="b" t="t" l="l"/>
              <a:pathLst>
                <a:path h="1401911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01911"/>
                  </a:lnTo>
                  <a:lnTo>
                    <a:pt x="0" y="140191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55019" r="0" b="-2550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1945600" cy="1401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40"/>
                </a:lnSpc>
              </a:pPr>
              <a:r>
                <a:rPr lang="en-US" sz="5200" spc="-31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AI Agent 3: Blue Prisoner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57200" y="1097280"/>
            <a:ext cx="16459200" cy="694944"/>
            <a:chOff x="0" y="0"/>
            <a:chExt cx="21945600" cy="926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11166" r="0" b="-411167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7200" y="1054418"/>
            <a:ext cx="16459200" cy="737806"/>
            <a:chOff x="0" y="0"/>
            <a:chExt cx="21945600" cy="9837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983742"/>
            </a:xfrm>
            <a:custGeom>
              <a:avLst/>
              <a:gdLst/>
              <a:ahLst/>
              <a:cxnLst/>
              <a:rect r="r" b="b" t="t" l="l"/>
              <a:pathLst>
                <a:path h="98374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83742"/>
                  </a:lnTo>
                  <a:lnTo>
                    <a:pt x="0" y="98374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84677" r="0" b="-3846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1945600" cy="10504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99"/>
                </a:lnSpc>
              </a:pPr>
              <a:r>
                <a:rPr lang="en-US" sz="3499" b="true">
                  <a:solidFill>
                    <a:srgbClr val="4FC3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Monte Carlo Tree Search (MCTS)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431797" y="1986277"/>
            <a:ext cx="4074224" cy="3891344"/>
          </a:xfrm>
          <a:custGeom>
            <a:avLst/>
            <a:gdLst/>
            <a:ahLst/>
            <a:cxnLst/>
            <a:rect r="r" b="b" t="t" l="l"/>
            <a:pathLst>
              <a:path h="3891344" w="4074224">
                <a:moveTo>
                  <a:pt x="0" y="0"/>
                </a:moveTo>
                <a:lnTo>
                  <a:pt x="4074223" y="0"/>
                </a:lnTo>
                <a:lnTo>
                  <a:pt x="4074223" y="3891343"/>
                </a:lnTo>
                <a:lnTo>
                  <a:pt x="0" y="38913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816103" y="2181863"/>
            <a:ext cx="1305497" cy="1305497"/>
          </a:xfrm>
          <a:custGeom>
            <a:avLst/>
            <a:gdLst/>
            <a:ahLst/>
            <a:cxnLst/>
            <a:rect r="r" b="b" t="t" l="l"/>
            <a:pathLst>
              <a:path h="1305497" w="1305497">
                <a:moveTo>
                  <a:pt x="0" y="0"/>
                </a:moveTo>
                <a:lnTo>
                  <a:pt x="1305497" y="0"/>
                </a:lnTo>
                <a:lnTo>
                  <a:pt x="1305497" y="1305497"/>
                </a:lnTo>
                <a:lnTo>
                  <a:pt x="0" y="130549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828800" y="2194560"/>
            <a:ext cx="1280160" cy="1280160"/>
            <a:chOff x="0" y="0"/>
            <a:chExt cx="1706880" cy="17068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28800" y="2173129"/>
            <a:ext cx="1280160" cy="1301591"/>
            <a:chOff x="0" y="0"/>
            <a:chExt cx="1706880" cy="17354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6880" cy="1735455"/>
            </a:xfrm>
            <a:custGeom>
              <a:avLst/>
              <a:gdLst/>
              <a:ahLst/>
              <a:cxnLst/>
              <a:rect r="r" b="b" t="t" l="l"/>
              <a:pathLst>
                <a:path h="173545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35455"/>
                  </a:lnTo>
                  <a:lnTo>
                    <a:pt x="0" y="173545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80451" t="0" r="-80451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70688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48640" y="3657600"/>
            <a:ext cx="3840480" cy="585216"/>
            <a:chOff x="0" y="0"/>
            <a:chExt cx="5120640" cy="7802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7781" r="0" b="-77781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48640" y="3643312"/>
            <a:ext cx="3840480" cy="599504"/>
            <a:chOff x="0" y="0"/>
            <a:chExt cx="5120640" cy="79933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799338"/>
            </a:xfrm>
            <a:custGeom>
              <a:avLst/>
              <a:gdLst/>
              <a:ahLst/>
              <a:cxnLst/>
              <a:rect r="r" b="b" t="t" l="l"/>
              <a:pathLst>
                <a:path h="79933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4823" r="0" b="-7482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5120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4FC3F7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SELECTION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40080" y="4297680"/>
            <a:ext cx="3657600" cy="1426464"/>
            <a:chOff x="0" y="0"/>
            <a:chExt cx="4876800" cy="19019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76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3" t="0" r="-73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640080" y="4269105"/>
            <a:ext cx="3657600" cy="1455039"/>
            <a:chOff x="0" y="0"/>
            <a:chExt cx="4876800" cy="19400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876800" cy="1940052"/>
            </a:xfrm>
            <a:custGeom>
              <a:avLst/>
              <a:gdLst/>
              <a:ahLst/>
              <a:cxnLst/>
              <a:rect r="r" b="b" t="t" l="l"/>
              <a:pathLst>
                <a:path h="19400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40052"/>
                  </a:lnTo>
                  <a:lnTo>
                    <a:pt x="0" y="194005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40" t="0" r="-1040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876800" cy="1987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Choose promising nodes using UCT formula, balancing exploration vs exploitation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4480589" y="3906517"/>
            <a:ext cx="402336" cy="50768"/>
            <a:chOff x="0" y="0"/>
            <a:chExt cx="536448" cy="676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4FC3F7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4857493" y="1986277"/>
            <a:ext cx="4074224" cy="3891344"/>
          </a:xfrm>
          <a:custGeom>
            <a:avLst/>
            <a:gdLst/>
            <a:ahLst/>
            <a:cxnLst/>
            <a:rect r="r" b="b" t="t" l="l"/>
            <a:pathLst>
              <a:path h="3891344" w="4074224">
                <a:moveTo>
                  <a:pt x="0" y="0"/>
                </a:moveTo>
                <a:lnTo>
                  <a:pt x="4074223" y="0"/>
                </a:lnTo>
                <a:lnTo>
                  <a:pt x="4074223" y="3891343"/>
                </a:lnTo>
                <a:lnTo>
                  <a:pt x="0" y="389134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6241799" y="2181863"/>
            <a:ext cx="1305497" cy="1305497"/>
          </a:xfrm>
          <a:custGeom>
            <a:avLst/>
            <a:gdLst/>
            <a:ahLst/>
            <a:cxnLst/>
            <a:rect r="r" b="b" t="t" l="l"/>
            <a:pathLst>
              <a:path h="1305497" w="1305497">
                <a:moveTo>
                  <a:pt x="0" y="0"/>
                </a:moveTo>
                <a:lnTo>
                  <a:pt x="1305497" y="0"/>
                </a:lnTo>
                <a:lnTo>
                  <a:pt x="1305497" y="1305497"/>
                </a:lnTo>
                <a:lnTo>
                  <a:pt x="0" y="130549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6254496" y="2194560"/>
            <a:ext cx="1280160" cy="1280160"/>
            <a:chOff x="0" y="0"/>
            <a:chExt cx="1706880" cy="17068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254496" y="2173129"/>
            <a:ext cx="1280160" cy="1301591"/>
            <a:chOff x="0" y="0"/>
            <a:chExt cx="1706880" cy="17354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706880" cy="1735455"/>
            </a:xfrm>
            <a:custGeom>
              <a:avLst/>
              <a:gdLst/>
              <a:ahLst/>
              <a:cxnLst/>
              <a:rect r="r" b="b" t="t" l="l"/>
              <a:pathLst>
                <a:path h="173545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35455"/>
                  </a:lnTo>
                  <a:lnTo>
                    <a:pt x="0" y="173545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80451" t="0" r="-8045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70688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974336" y="3657600"/>
            <a:ext cx="3840480" cy="585216"/>
            <a:chOff x="0" y="0"/>
            <a:chExt cx="5120640" cy="780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7781" r="0" b="-77781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4974336" y="3643312"/>
            <a:ext cx="3840480" cy="599504"/>
            <a:chOff x="0" y="0"/>
            <a:chExt cx="5120640" cy="79933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40" cy="799338"/>
            </a:xfrm>
            <a:custGeom>
              <a:avLst/>
              <a:gdLst/>
              <a:ahLst/>
              <a:cxnLst/>
              <a:rect r="r" b="b" t="t" l="l"/>
              <a:pathLst>
                <a:path h="79933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4823" r="0" b="-7482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5120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5FC8D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EXPANSION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5065776" y="4297680"/>
            <a:ext cx="3657600" cy="1426464"/>
            <a:chOff x="0" y="0"/>
            <a:chExt cx="4876800" cy="190195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876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3" t="0" r="-73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5065776" y="4269105"/>
            <a:ext cx="3657600" cy="1455039"/>
            <a:chOff x="0" y="0"/>
            <a:chExt cx="4876800" cy="194005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876800" cy="1940052"/>
            </a:xfrm>
            <a:custGeom>
              <a:avLst/>
              <a:gdLst/>
              <a:ahLst/>
              <a:cxnLst/>
              <a:rect r="r" b="b" t="t" l="l"/>
              <a:pathLst>
                <a:path h="19400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40052"/>
                  </a:lnTo>
                  <a:lnTo>
                    <a:pt x="0" y="194005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40" t="0" r="-1040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4876800" cy="1987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one or more child nodes (new moves) to the selected node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906285" y="3906517"/>
            <a:ext cx="402336" cy="50768"/>
            <a:chOff x="0" y="0"/>
            <a:chExt cx="536448" cy="676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2E7D8A"/>
            </a:solidFill>
          </p:spPr>
        </p:sp>
      </p:grpSp>
      <p:sp>
        <p:nvSpPr>
          <p:cNvPr name="Freeform 56" id="56"/>
          <p:cNvSpPr/>
          <p:nvPr/>
        </p:nvSpPr>
        <p:spPr>
          <a:xfrm flipH="false" flipV="false" rot="0">
            <a:off x="9283189" y="1986277"/>
            <a:ext cx="4074224" cy="3891344"/>
          </a:xfrm>
          <a:custGeom>
            <a:avLst/>
            <a:gdLst/>
            <a:ahLst/>
            <a:cxnLst/>
            <a:rect r="r" b="b" t="t" l="l"/>
            <a:pathLst>
              <a:path h="3891344" w="4074224">
                <a:moveTo>
                  <a:pt x="0" y="0"/>
                </a:moveTo>
                <a:lnTo>
                  <a:pt x="4074223" y="0"/>
                </a:lnTo>
                <a:lnTo>
                  <a:pt x="4074223" y="3891343"/>
                </a:lnTo>
                <a:lnTo>
                  <a:pt x="0" y="389134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667495" y="2181863"/>
            <a:ext cx="1305496" cy="1305497"/>
          </a:xfrm>
          <a:custGeom>
            <a:avLst/>
            <a:gdLst/>
            <a:ahLst/>
            <a:cxnLst/>
            <a:rect r="r" b="b" t="t" l="l"/>
            <a:pathLst>
              <a:path h="1305497" w="1305496">
                <a:moveTo>
                  <a:pt x="0" y="0"/>
                </a:moveTo>
                <a:lnTo>
                  <a:pt x="1305497" y="0"/>
                </a:lnTo>
                <a:lnTo>
                  <a:pt x="1305497" y="1305497"/>
                </a:lnTo>
                <a:lnTo>
                  <a:pt x="0" y="130549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0680192" y="2194560"/>
            <a:ext cx="1280160" cy="1280160"/>
            <a:chOff x="0" y="0"/>
            <a:chExt cx="1706880" cy="17068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680192" y="2173129"/>
            <a:ext cx="1280160" cy="1301591"/>
            <a:chOff x="0" y="0"/>
            <a:chExt cx="1706880" cy="173545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06880" cy="1735455"/>
            </a:xfrm>
            <a:custGeom>
              <a:avLst/>
              <a:gdLst/>
              <a:ahLst/>
              <a:cxnLst/>
              <a:rect r="r" b="b" t="t" l="l"/>
              <a:pathLst>
                <a:path h="173545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35455"/>
                  </a:lnTo>
                  <a:lnTo>
                    <a:pt x="0" y="173545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80451" t="0" r="-8045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170688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400032" y="3657600"/>
            <a:ext cx="3840480" cy="585216"/>
            <a:chOff x="0" y="0"/>
            <a:chExt cx="5120640" cy="78028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7781" r="0" b="-7778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400032" y="3643312"/>
            <a:ext cx="3840480" cy="599504"/>
            <a:chOff x="0" y="0"/>
            <a:chExt cx="5120640" cy="79933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0640" cy="799338"/>
            </a:xfrm>
            <a:custGeom>
              <a:avLst/>
              <a:gdLst/>
              <a:ahLst/>
              <a:cxnLst/>
              <a:rect r="r" b="b" t="t" l="l"/>
              <a:pathLst>
                <a:path h="79933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4823" r="0" b="-7482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5120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4CAF5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SIMULATION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9491472" y="4297680"/>
            <a:ext cx="3657600" cy="1426464"/>
            <a:chOff x="0" y="0"/>
            <a:chExt cx="4876800" cy="190195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876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3" t="0" r="-73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491472" y="4269105"/>
            <a:ext cx="3657600" cy="1455039"/>
            <a:chOff x="0" y="0"/>
            <a:chExt cx="4876800" cy="194005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876800" cy="1940052"/>
            </a:xfrm>
            <a:custGeom>
              <a:avLst/>
              <a:gdLst/>
              <a:ahLst/>
              <a:cxnLst/>
              <a:rect r="r" b="b" t="t" l="l"/>
              <a:pathLst>
                <a:path h="19400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40052"/>
                  </a:lnTo>
                  <a:lnTo>
                    <a:pt x="0" y="194005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40" t="0" r="-1040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4876800" cy="1987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Play a complete rollout from expanded node using heuristic or random moves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331981" y="3906517"/>
            <a:ext cx="402336" cy="50768"/>
            <a:chOff x="0" y="0"/>
            <a:chExt cx="536448" cy="67691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36448" cy="67691"/>
            </a:xfrm>
            <a:custGeom>
              <a:avLst/>
              <a:gdLst/>
              <a:ahLst/>
              <a:cxnLst/>
              <a:rect r="r" b="b" t="t" l="l"/>
              <a:pathLst>
                <a:path h="67691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4CAF50"/>
            </a:solidFill>
          </p:spPr>
        </p:sp>
      </p:grpSp>
      <p:sp>
        <p:nvSpPr>
          <p:cNvPr name="Freeform 75" id="75"/>
          <p:cNvSpPr/>
          <p:nvPr/>
        </p:nvSpPr>
        <p:spPr>
          <a:xfrm flipH="false" flipV="false" rot="0">
            <a:off x="13708885" y="1986277"/>
            <a:ext cx="4074224" cy="3891344"/>
          </a:xfrm>
          <a:custGeom>
            <a:avLst/>
            <a:gdLst/>
            <a:ahLst/>
            <a:cxnLst/>
            <a:rect r="r" b="b" t="t" l="l"/>
            <a:pathLst>
              <a:path h="3891344" w="4074224">
                <a:moveTo>
                  <a:pt x="0" y="0"/>
                </a:moveTo>
                <a:lnTo>
                  <a:pt x="4074223" y="0"/>
                </a:lnTo>
                <a:lnTo>
                  <a:pt x="4074223" y="3891343"/>
                </a:lnTo>
                <a:lnTo>
                  <a:pt x="0" y="3891343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15093191" y="2181863"/>
            <a:ext cx="1305497" cy="1305497"/>
          </a:xfrm>
          <a:custGeom>
            <a:avLst/>
            <a:gdLst/>
            <a:ahLst/>
            <a:cxnLst/>
            <a:rect r="r" b="b" t="t" l="l"/>
            <a:pathLst>
              <a:path h="1305497" w="1305497">
                <a:moveTo>
                  <a:pt x="0" y="0"/>
                </a:moveTo>
                <a:lnTo>
                  <a:pt x="1305497" y="0"/>
                </a:lnTo>
                <a:lnTo>
                  <a:pt x="1305497" y="1305497"/>
                </a:lnTo>
                <a:lnTo>
                  <a:pt x="0" y="1305497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15105888" y="2194560"/>
            <a:ext cx="1280160" cy="1280160"/>
            <a:chOff x="0" y="0"/>
            <a:chExt cx="1706880" cy="17068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70688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5105888" y="2173129"/>
            <a:ext cx="1280160" cy="1301591"/>
            <a:chOff x="0" y="0"/>
            <a:chExt cx="1706880" cy="173545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706880" cy="1735455"/>
            </a:xfrm>
            <a:custGeom>
              <a:avLst/>
              <a:gdLst/>
              <a:ahLst/>
              <a:cxnLst/>
              <a:rect r="r" b="b" t="t" l="l"/>
              <a:pathLst>
                <a:path h="1735455" w="1706880">
                  <a:moveTo>
                    <a:pt x="0" y="0"/>
                  </a:moveTo>
                  <a:lnTo>
                    <a:pt x="1706880" y="0"/>
                  </a:lnTo>
                  <a:lnTo>
                    <a:pt x="1706880" y="1735455"/>
                  </a:lnTo>
                  <a:lnTo>
                    <a:pt x="0" y="173545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80451" t="0" r="-80451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1706880" cy="175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79"/>
                </a:lnSpc>
              </a:pPr>
              <a:r>
                <a:rPr lang="en-US" sz="3899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825728" y="3657600"/>
            <a:ext cx="3840480" cy="585216"/>
            <a:chOff x="0" y="0"/>
            <a:chExt cx="5120640" cy="78028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5120640" cy="780288"/>
            </a:xfrm>
            <a:custGeom>
              <a:avLst/>
              <a:gdLst/>
              <a:ahLst/>
              <a:cxnLst/>
              <a:rect r="r" b="b" t="t" l="l"/>
              <a:pathLst>
                <a:path h="78028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7781" r="0" b="-77781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825728" y="3643312"/>
            <a:ext cx="3840480" cy="599504"/>
            <a:chOff x="0" y="0"/>
            <a:chExt cx="5120640" cy="79933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120640" cy="799338"/>
            </a:xfrm>
            <a:custGeom>
              <a:avLst/>
              <a:gdLst/>
              <a:ahLst/>
              <a:cxnLst/>
              <a:rect r="r" b="b" t="t" l="l"/>
              <a:pathLst>
                <a:path h="799338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99338"/>
                  </a:lnTo>
                  <a:lnTo>
                    <a:pt x="0" y="79933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74823" r="0" b="-74823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5120640" cy="808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FFD7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BACKPROP.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3917168" y="4297680"/>
            <a:ext cx="3657600" cy="1426464"/>
            <a:chOff x="0" y="0"/>
            <a:chExt cx="4876800" cy="1901952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876800" cy="1901952"/>
            </a:xfrm>
            <a:custGeom>
              <a:avLst/>
              <a:gdLst/>
              <a:ahLst/>
              <a:cxnLst/>
              <a:rect r="r" b="b" t="t" l="l"/>
              <a:pathLst>
                <a:path h="19019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3" t="0" r="-73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3917168" y="4269105"/>
            <a:ext cx="3657600" cy="1455039"/>
            <a:chOff x="0" y="0"/>
            <a:chExt cx="4876800" cy="194005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876800" cy="1940052"/>
            </a:xfrm>
            <a:custGeom>
              <a:avLst/>
              <a:gdLst/>
              <a:ahLst/>
              <a:cxnLst/>
              <a:rect r="r" b="b" t="t" l="l"/>
              <a:pathLst>
                <a:path h="194005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1940052"/>
                  </a:lnTo>
                  <a:lnTo>
                    <a:pt x="0" y="194005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040" t="0" r="-1040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4876800" cy="19876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 visit counts and simulation rewards up through path to root node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9345168" y="6876288"/>
            <a:ext cx="8229600" cy="512064"/>
            <a:chOff x="0" y="0"/>
            <a:chExt cx="10972800" cy="6827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0" cy="682752"/>
            </a:xfrm>
            <a:custGeom>
              <a:avLst/>
              <a:gdLst/>
              <a:ahLst/>
              <a:cxnLst/>
              <a:rect r="r" b="b" t="t" l="l"/>
              <a:pathLst>
                <a:path h="6827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2935" r="0" b="-262933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345168" y="6847713"/>
            <a:ext cx="8229600" cy="540639"/>
            <a:chOff x="0" y="0"/>
            <a:chExt cx="10972800" cy="72085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972800" cy="720852"/>
            </a:xfrm>
            <a:custGeom>
              <a:avLst/>
              <a:gdLst/>
              <a:ahLst/>
              <a:cxnLst/>
              <a:rect r="r" b="b" t="t" l="l"/>
              <a:pathLst>
                <a:path h="720852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6601" r="0" b="-24660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47625"/>
              <a:ext cx="10972800" cy="7684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4FC3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ROLLOUT SCORING FACTORS: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436608" y="7479792"/>
            <a:ext cx="3840480" cy="457200"/>
            <a:chOff x="0" y="0"/>
            <a:chExt cx="5120640" cy="609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560" r="0" b="-11356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436608" y="7451217"/>
            <a:ext cx="3840480" cy="485775"/>
            <a:chOff x="0" y="0"/>
            <a:chExt cx="5120640" cy="64770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120640" cy="647700"/>
            </a:xfrm>
            <a:custGeom>
              <a:avLst/>
              <a:gdLst/>
              <a:ahLst/>
              <a:cxnLst/>
              <a:rect r="r" b="b" t="t" l="l"/>
              <a:pathLst>
                <a:path h="6477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4046" r="0" b="-104046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47625"/>
              <a:ext cx="512064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◆  Escape progress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9436608" y="7973568"/>
            <a:ext cx="3840480" cy="457200"/>
            <a:chOff x="0" y="0"/>
            <a:chExt cx="5120640" cy="609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560" r="0" b="-11356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9436608" y="8032242"/>
            <a:ext cx="3840480" cy="485775"/>
            <a:chOff x="0" y="0"/>
            <a:chExt cx="5120640" cy="6477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120640" cy="647700"/>
            </a:xfrm>
            <a:custGeom>
              <a:avLst/>
              <a:gdLst/>
              <a:ahLst/>
              <a:cxnLst/>
              <a:rect r="r" b="b" t="t" l="l"/>
              <a:pathLst>
                <a:path h="6477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4046" r="0" b="-104046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47625"/>
              <a:ext cx="512064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◆  Distance to exit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436608" y="8467344"/>
            <a:ext cx="3840480" cy="457200"/>
            <a:chOff x="0" y="0"/>
            <a:chExt cx="5120640" cy="6096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560" r="0" b="-11356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436608" y="8438769"/>
            <a:ext cx="3840480" cy="485775"/>
            <a:chOff x="0" y="0"/>
            <a:chExt cx="5120640" cy="64770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5120640" cy="647700"/>
            </a:xfrm>
            <a:custGeom>
              <a:avLst/>
              <a:gdLst/>
              <a:ahLst/>
              <a:cxnLst/>
              <a:rect r="r" b="b" t="t" l="l"/>
              <a:pathLst>
                <a:path h="6477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4046" r="0" b="-10404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47625"/>
              <a:ext cx="512064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◆  Police safety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9436608" y="8961120"/>
            <a:ext cx="3840480" cy="457200"/>
            <a:chOff x="0" y="0"/>
            <a:chExt cx="5120640" cy="60960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560" r="0" b="-113560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9436608" y="8932545"/>
            <a:ext cx="3840480" cy="485775"/>
            <a:chOff x="0" y="0"/>
            <a:chExt cx="5120640" cy="6477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5120640" cy="647700"/>
            </a:xfrm>
            <a:custGeom>
              <a:avLst/>
              <a:gdLst/>
              <a:ahLst/>
              <a:cxnLst/>
              <a:rect r="r" b="b" t="t" l="l"/>
              <a:pathLst>
                <a:path h="6477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4046" r="0" b="-104046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47625"/>
              <a:ext cx="512064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◆  Dog/CCTV/fire danger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13423392" y="7479792"/>
            <a:ext cx="3840480" cy="457200"/>
            <a:chOff x="0" y="0"/>
            <a:chExt cx="5120640" cy="6096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560" r="0" b="-11356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3423392" y="7451217"/>
            <a:ext cx="3840480" cy="485775"/>
            <a:chOff x="0" y="0"/>
            <a:chExt cx="5120640" cy="6477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5120640" cy="647700"/>
            </a:xfrm>
            <a:custGeom>
              <a:avLst/>
              <a:gdLst/>
              <a:ahLst/>
              <a:cxnLst/>
              <a:rect r="r" b="b" t="t" l="l"/>
              <a:pathLst>
                <a:path h="6477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4046" r="0" b="-104046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-47625"/>
              <a:ext cx="512064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◆  Stamina cost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423392" y="7973568"/>
            <a:ext cx="3840480" cy="457200"/>
            <a:chOff x="0" y="0"/>
            <a:chExt cx="5120640" cy="60960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560" r="0" b="-11356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3423392" y="7944993"/>
            <a:ext cx="3840480" cy="485775"/>
            <a:chOff x="0" y="0"/>
            <a:chExt cx="5120640" cy="64770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5120640" cy="647700"/>
            </a:xfrm>
            <a:custGeom>
              <a:avLst/>
              <a:gdLst/>
              <a:ahLst/>
              <a:cxnLst/>
              <a:rect r="r" b="b" t="t" l="l"/>
              <a:pathLst>
                <a:path h="6477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4046" r="0" b="-104046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47625"/>
              <a:ext cx="512064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◆  Exit rotation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3423392" y="8467344"/>
            <a:ext cx="3840480" cy="457200"/>
            <a:chOff x="0" y="0"/>
            <a:chExt cx="5120640" cy="60960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5120640" cy="609600"/>
            </a:xfrm>
            <a:custGeom>
              <a:avLst/>
              <a:gdLst/>
              <a:ahLst/>
              <a:cxnLst/>
              <a:rect r="r" b="b" t="t" l="l"/>
              <a:pathLst>
                <a:path h="6096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560" r="0" b="-113560"/>
              </a:stretch>
            </a:blipFill>
          </p:spPr>
        </p:sp>
      </p:grpSp>
      <p:grpSp>
        <p:nvGrpSpPr>
          <p:cNvPr name="Group 129" id="129"/>
          <p:cNvGrpSpPr/>
          <p:nvPr/>
        </p:nvGrpSpPr>
        <p:grpSpPr>
          <a:xfrm rot="0">
            <a:off x="13423392" y="8438769"/>
            <a:ext cx="3840480" cy="485775"/>
            <a:chOff x="0" y="0"/>
            <a:chExt cx="5120640" cy="6477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5120640" cy="647700"/>
            </a:xfrm>
            <a:custGeom>
              <a:avLst/>
              <a:gdLst/>
              <a:ahLst/>
              <a:cxnLst/>
              <a:rect r="r" b="b" t="t" l="l"/>
              <a:pathLst>
                <a:path h="64770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647700"/>
                  </a:lnTo>
                  <a:lnTo>
                    <a:pt x="0" y="6477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04046" r="0" b="-104046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47625"/>
              <a:ext cx="5120640" cy="695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◆  Survival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246" t="0" r="-30244" b="0"/>
              </a:stretch>
            </a:blipFill>
          </p:spPr>
        </p:sp>
      </p:grpSp>
      <p:sp>
        <p:nvSpPr>
          <p:cNvPr name="TextBox 134" id="13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  <p:grpSp>
        <p:nvGrpSpPr>
          <p:cNvPr name="Group 135" id="135"/>
          <p:cNvGrpSpPr/>
          <p:nvPr/>
        </p:nvGrpSpPr>
        <p:grpSpPr>
          <a:xfrm rot="0">
            <a:off x="457200" y="6254496"/>
            <a:ext cx="8115300" cy="3895344"/>
            <a:chOff x="0" y="0"/>
            <a:chExt cx="10820400" cy="519379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820400" cy="5193792"/>
            </a:xfrm>
            <a:custGeom>
              <a:avLst/>
              <a:gdLst/>
              <a:ahLst/>
              <a:cxnLst/>
              <a:rect r="r" b="b" t="t" l="l"/>
              <a:pathLst>
                <a:path h="5193792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5193792"/>
                  </a:lnTo>
                  <a:lnTo>
                    <a:pt x="0" y="5193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-15104" r="0" b="-15104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0972" y="0"/>
            <a:ext cx="15546056" cy="10287000"/>
            <a:chOff x="0" y="0"/>
            <a:chExt cx="20728075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807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0728074">
                  <a:moveTo>
                    <a:pt x="0" y="0"/>
                  </a:moveTo>
                  <a:lnTo>
                    <a:pt x="20728074" y="0"/>
                  </a:lnTo>
                  <a:lnTo>
                    <a:pt x="2072807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991" r="0" b="-299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431129" y="-207247"/>
            <a:ext cx="5120640" cy="1737360"/>
            <a:chOff x="0" y="0"/>
            <a:chExt cx="6827520" cy="231648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383" y="1181738"/>
            <a:ext cx="3865816" cy="83772"/>
          </a:xfrm>
          <a:custGeom>
            <a:avLst/>
            <a:gdLst/>
            <a:ahLst/>
            <a:cxnLst/>
            <a:rect r="r" b="b" t="t" l="l"/>
            <a:pathLst>
              <a:path h="83772" w="3865816">
                <a:moveTo>
                  <a:pt x="0" y="0"/>
                </a:moveTo>
                <a:lnTo>
                  <a:pt x="3865817" y="0"/>
                </a:lnTo>
                <a:lnTo>
                  <a:pt x="3865817" y="83773"/>
                </a:lnTo>
                <a:lnTo>
                  <a:pt x="0" y="83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67863" y="1181738"/>
            <a:ext cx="6426136" cy="83772"/>
          </a:xfrm>
          <a:custGeom>
            <a:avLst/>
            <a:gdLst/>
            <a:ahLst/>
            <a:cxnLst/>
            <a:rect r="r" b="b" t="t" l="l"/>
            <a:pathLst>
              <a:path h="83772" w="6426136">
                <a:moveTo>
                  <a:pt x="0" y="0"/>
                </a:moveTo>
                <a:lnTo>
                  <a:pt x="6426137" y="0"/>
                </a:lnTo>
                <a:lnTo>
                  <a:pt x="6426137" y="83773"/>
                </a:lnTo>
                <a:lnTo>
                  <a:pt x="0" y="837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Simulation Loop &amp; Scoring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48640" y="1133856"/>
            <a:ext cx="12801600" cy="47882"/>
            <a:chOff x="0" y="0"/>
            <a:chExt cx="17068800" cy="638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068800" cy="63881"/>
            </a:xfrm>
            <a:custGeom>
              <a:avLst/>
              <a:gdLst/>
              <a:ahLst/>
              <a:cxnLst/>
              <a:rect r="r" b="b" t="t" l="l"/>
              <a:pathLst>
                <a:path h="63881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63881"/>
                  </a:lnTo>
                  <a:lnTo>
                    <a:pt x="0" y="63881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152743" r="0" b="-5152703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438026" y="1997835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38026" y="1997835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450240" y="2010049"/>
            <a:ext cx="791641" cy="650904"/>
            <a:chOff x="0" y="0"/>
            <a:chExt cx="1097280" cy="9022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0240" y="1968817"/>
            <a:ext cx="791641" cy="692136"/>
            <a:chOff x="0" y="0"/>
            <a:chExt cx="1097280" cy="95935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9841" y="2010049"/>
            <a:ext cx="7142357" cy="650904"/>
            <a:chOff x="0" y="0"/>
            <a:chExt cx="9899904" cy="90220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29841" y="1968817"/>
            <a:ext cx="7142357" cy="692136"/>
            <a:chOff x="0" y="0"/>
            <a:chExt cx="9899904" cy="9593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 perception, CCTV hints, alert decay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438026" y="2701516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6"/>
                </a:lnTo>
                <a:lnTo>
                  <a:pt x="0" y="6752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438026" y="2701516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6"/>
                </a:lnTo>
                <a:lnTo>
                  <a:pt x="0" y="6752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450240" y="2713729"/>
            <a:ext cx="791641" cy="650904"/>
            <a:chOff x="0" y="0"/>
            <a:chExt cx="1097280" cy="9022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50240" y="2672498"/>
            <a:ext cx="791641" cy="692136"/>
            <a:chOff x="0" y="0"/>
            <a:chExt cx="1097280" cy="95935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29841" y="2713729"/>
            <a:ext cx="7142357" cy="650904"/>
            <a:chOff x="0" y="0"/>
            <a:chExt cx="9899904" cy="9022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29841" y="2672498"/>
            <a:ext cx="7142357" cy="692136"/>
            <a:chOff x="0" y="0"/>
            <a:chExt cx="9899904" cy="95935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Rebuild danger &amp; cost maps</a:t>
              </a: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438026" y="3405196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438026" y="3405196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450240" y="3417410"/>
            <a:ext cx="791641" cy="650904"/>
            <a:chOff x="0" y="0"/>
            <a:chExt cx="1097280" cy="9022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450240" y="3376178"/>
            <a:ext cx="791641" cy="692136"/>
            <a:chOff x="0" y="0"/>
            <a:chExt cx="1097280" cy="95935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29841" y="3417410"/>
            <a:ext cx="7142357" cy="650904"/>
            <a:chOff x="0" y="0"/>
            <a:chExt cx="9899904" cy="9022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29841" y="3376178"/>
            <a:ext cx="7142357" cy="692136"/>
            <a:chOff x="0" y="0"/>
            <a:chExt cx="9899904" cy="95935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Ask Police/Hunter fuzzy AI for decision</a:t>
              </a: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438026" y="4115742"/>
            <a:ext cx="8034171" cy="668411"/>
          </a:xfrm>
          <a:custGeom>
            <a:avLst/>
            <a:gdLst/>
            <a:ahLst/>
            <a:cxnLst/>
            <a:rect r="r" b="b" t="t" l="l"/>
            <a:pathLst>
              <a:path h="668411" w="8034171">
                <a:moveTo>
                  <a:pt x="0" y="0"/>
                </a:moveTo>
                <a:lnTo>
                  <a:pt x="8034172" y="0"/>
                </a:lnTo>
                <a:lnTo>
                  <a:pt x="8034172" y="668411"/>
                </a:lnTo>
                <a:lnTo>
                  <a:pt x="0" y="6684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438026" y="4108877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6"/>
                </a:lnTo>
                <a:lnTo>
                  <a:pt x="0" y="6752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450240" y="4121090"/>
            <a:ext cx="791641" cy="650904"/>
            <a:chOff x="0" y="0"/>
            <a:chExt cx="1097280" cy="9022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50240" y="4079859"/>
            <a:ext cx="791641" cy="692136"/>
            <a:chOff x="0" y="0"/>
            <a:chExt cx="1097280" cy="95935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04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29841" y="4121090"/>
            <a:ext cx="7142357" cy="650904"/>
            <a:chOff x="0" y="0"/>
            <a:chExt cx="9899904" cy="90220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29841" y="4079859"/>
            <a:ext cx="7142357" cy="692136"/>
            <a:chOff x="0" y="0"/>
            <a:chExt cx="9899904" cy="95935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Ask Red Minimax AI for decision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438026" y="4812557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438026" y="4812557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5" id="65"/>
          <p:cNvGrpSpPr/>
          <p:nvPr/>
        </p:nvGrpSpPr>
        <p:grpSpPr>
          <a:xfrm rot="0">
            <a:off x="450240" y="4824771"/>
            <a:ext cx="791641" cy="650904"/>
            <a:chOff x="0" y="0"/>
            <a:chExt cx="1097280" cy="9022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450240" y="4783539"/>
            <a:ext cx="791641" cy="692136"/>
            <a:chOff x="0" y="0"/>
            <a:chExt cx="1097280" cy="95935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29841" y="4824771"/>
            <a:ext cx="7142357" cy="650904"/>
            <a:chOff x="0" y="0"/>
            <a:chExt cx="9899904" cy="90220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329841" y="4783539"/>
            <a:ext cx="7142357" cy="692136"/>
            <a:chOff x="0" y="0"/>
            <a:chExt cx="9899904" cy="95935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Ask Blue MCTS AI for decision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438026" y="5516238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6"/>
                </a:lnTo>
                <a:lnTo>
                  <a:pt x="0" y="67527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438026" y="5516238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6"/>
                </a:lnTo>
                <a:lnTo>
                  <a:pt x="0" y="6752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7" id="77"/>
          <p:cNvGrpSpPr/>
          <p:nvPr/>
        </p:nvGrpSpPr>
        <p:grpSpPr>
          <a:xfrm rot="0">
            <a:off x="274320" y="5792331"/>
            <a:ext cx="791641" cy="650904"/>
            <a:chOff x="0" y="0"/>
            <a:chExt cx="1097280" cy="9022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438026" y="5507808"/>
            <a:ext cx="791641" cy="692136"/>
            <a:chOff x="0" y="0"/>
            <a:chExt cx="1097280" cy="95935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8"/>
                </a:lnSpc>
              </a:pPr>
              <a:r>
                <a:rPr lang="en-US" sz="21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06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329841" y="5528451"/>
            <a:ext cx="7142357" cy="650904"/>
            <a:chOff x="0" y="0"/>
            <a:chExt cx="9899904" cy="902208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329841" y="5487220"/>
            <a:ext cx="7142357" cy="692136"/>
            <a:chOff x="0" y="0"/>
            <a:chExt cx="9899904" cy="95935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Resolve actions &amp; movement</a:t>
              </a: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438026" y="6219918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438026" y="6219918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9" id="89"/>
          <p:cNvGrpSpPr/>
          <p:nvPr/>
        </p:nvGrpSpPr>
        <p:grpSpPr>
          <a:xfrm rot="0">
            <a:off x="450240" y="6232132"/>
            <a:ext cx="791641" cy="650904"/>
            <a:chOff x="0" y="0"/>
            <a:chExt cx="1097280" cy="90220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450240" y="6190900"/>
            <a:ext cx="791641" cy="692136"/>
            <a:chOff x="0" y="0"/>
            <a:chExt cx="1097280" cy="95935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07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29841" y="6232132"/>
            <a:ext cx="7142357" cy="650904"/>
            <a:chOff x="0" y="0"/>
            <a:chExt cx="9899904" cy="90220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329841" y="6190900"/>
            <a:ext cx="7142357" cy="692136"/>
            <a:chOff x="0" y="0"/>
            <a:chExt cx="9899904" cy="959358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 dog NPC &amp; fire hazards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438026" y="6923598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438026" y="6923598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1" id="101"/>
          <p:cNvGrpSpPr/>
          <p:nvPr/>
        </p:nvGrpSpPr>
        <p:grpSpPr>
          <a:xfrm rot="0">
            <a:off x="450240" y="6935812"/>
            <a:ext cx="791641" cy="650904"/>
            <a:chOff x="0" y="0"/>
            <a:chExt cx="1097280" cy="90220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450240" y="6894581"/>
            <a:ext cx="791641" cy="692136"/>
            <a:chOff x="0" y="0"/>
            <a:chExt cx="1097280" cy="95935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08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329841" y="6935812"/>
            <a:ext cx="7142357" cy="650904"/>
            <a:chOff x="0" y="0"/>
            <a:chExt cx="9899904" cy="90220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108" id="108"/>
          <p:cNvGrpSpPr/>
          <p:nvPr/>
        </p:nvGrpSpPr>
        <p:grpSpPr>
          <a:xfrm rot="0">
            <a:off x="1329841" y="6894581"/>
            <a:ext cx="7142357" cy="692136"/>
            <a:chOff x="0" y="0"/>
            <a:chExt cx="9899904" cy="95935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 capture / escape / timeout / elimination</a:t>
              </a:r>
            </a:p>
          </p:txBody>
        </p:sp>
      </p:grpSp>
      <p:sp>
        <p:nvSpPr>
          <p:cNvPr name="Freeform 111" id="111"/>
          <p:cNvSpPr/>
          <p:nvPr/>
        </p:nvSpPr>
        <p:spPr>
          <a:xfrm flipH="false" flipV="false" rot="0">
            <a:off x="438026" y="7627279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2" id="112"/>
          <p:cNvSpPr/>
          <p:nvPr/>
        </p:nvSpPr>
        <p:spPr>
          <a:xfrm flipH="false" flipV="false" rot="0">
            <a:off x="438026" y="7627279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3" id="113"/>
          <p:cNvGrpSpPr/>
          <p:nvPr/>
        </p:nvGrpSpPr>
        <p:grpSpPr>
          <a:xfrm rot="0">
            <a:off x="450240" y="7639493"/>
            <a:ext cx="791641" cy="650904"/>
            <a:chOff x="0" y="0"/>
            <a:chExt cx="1097280" cy="90220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50240" y="7598261"/>
            <a:ext cx="791641" cy="692136"/>
            <a:chOff x="0" y="0"/>
            <a:chExt cx="1097280" cy="959358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29841" y="7639493"/>
            <a:ext cx="7142357" cy="650904"/>
            <a:chOff x="0" y="0"/>
            <a:chExt cx="9899904" cy="90220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1329841" y="7598261"/>
            <a:ext cx="7142357" cy="692136"/>
            <a:chOff x="0" y="0"/>
            <a:chExt cx="9899904" cy="959358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 scoring &amp; performance metrics</a:t>
              </a:r>
            </a:p>
          </p:txBody>
        </p:sp>
      </p:grpSp>
      <p:sp>
        <p:nvSpPr>
          <p:cNvPr name="Freeform 123" id="123"/>
          <p:cNvSpPr/>
          <p:nvPr/>
        </p:nvSpPr>
        <p:spPr>
          <a:xfrm flipH="false" flipV="false" rot="0">
            <a:off x="438026" y="8330959"/>
            <a:ext cx="8116698" cy="675277"/>
          </a:xfrm>
          <a:custGeom>
            <a:avLst/>
            <a:gdLst/>
            <a:ahLst/>
            <a:cxnLst/>
            <a:rect r="r" b="b" t="t" l="l"/>
            <a:pathLst>
              <a:path h="675277" w="8116698">
                <a:moveTo>
                  <a:pt x="0" y="0"/>
                </a:moveTo>
                <a:lnTo>
                  <a:pt x="8116698" y="0"/>
                </a:lnTo>
                <a:lnTo>
                  <a:pt x="8116698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4" id="124"/>
          <p:cNvSpPr/>
          <p:nvPr/>
        </p:nvSpPr>
        <p:spPr>
          <a:xfrm flipH="false" flipV="false" rot="0">
            <a:off x="438026" y="8330959"/>
            <a:ext cx="816013" cy="675277"/>
          </a:xfrm>
          <a:custGeom>
            <a:avLst/>
            <a:gdLst/>
            <a:ahLst/>
            <a:cxnLst/>
            <a:rect r="r" b="b" t="t" l="l"/>
            <a:pathLst>
              <a:path h="675277" w="816013">
                <a:moveTo>
                  <a:pt x="0" y="0"/>
                </a:moveTo>
                <a:lnTo>
                  <a:pt x="816013" y="0"/>
                </a:lnTo>
                <a:lnTo>
                  <a:pt x="816013" y="675277"/>
                </a:lnTo>
                <a:lnTo>
                  <a:pt x="0" y="67527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5" id="125"/>
          <p:cNvGrpSpPr/>
          <p:nvPr/>
        </p:nvGrpSpPr>
        <p:grpSpPr>
          <a:xfrm rot="0">
            <a:off x="450240" y="8343173"/>
            <a:ext cx="791641" cy="650904"/>
            <a:chOff x="0" y="0"/>
            <a:chExt cx="1097280" cy="90220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097280" cy="902208"/>
            </a:xfrm>
            <a:custGeom>
              <a:avLst/>
              <a:gdLst/>
              <a:ahLst/>
              <a:cxnLst/>
              <a:rect r="r" b="b" t="t" l="l"/>
              <a:pathLst>
                <a:path h="90220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5567" t="0" r="-55568" b="0"/>
              </a:stretch>
            </a:blip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450240" y="8301942"/>
            <a:ext cx="791641" cy="692136"/>
            <a:chOff x="0" y="0"/>
            <a:chExt cx="1097280" cy="959358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097280" cy="959358"/>
            </a:xfrm>
            <a:custGeom>
              <a:avLst/>
              <a:gdLst/>
              <a:ahLst/>
              <a:cxnLst/>
              <a:rect r="r" b="b" t="t" l="l"/>
              <a:pathLst>
                <a:path h="959358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62176" t="0" r="-62176" b="0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47625"/>
              <a:ext cx="1097280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329841" y="8343173"/>
            <a:ext cx="7142357" cy="650904"/>
            <a:chOff x="0" y="0"/>
            <a:chExt cx="9899904" cy="90220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899904" cy="902208"/>
            </a:xfrm>
            <a:custGeom>
              <a:avLst/>
              <a:gdLst/>
              <a:ahLst/>
              <a:cxnLst/>
              <a:rect r="r" b="b" t="t" l="l"/>
              <a:pathLst>
                <a:path h="90220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3659" r="0" b="-163659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329841" y="8301942"/>
            <a:ext cx="7142357" cy="692136"/>
            <a:chOff x="0" y="0"/>
            <a:chExt cx="9899904" cy="95935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899904" cy="959358"/>
            </a:xfrm>
            <a:custGeom>
              <a:avLst/>
              <a:gdLst/>
              <a:ahLst/>
              <a:cxnLst/>
              <a:rect r="r" b="b" t="t" l="l"/>
              <a:pathLst>
                <a:path h="959358" w="9899904">
                  <a:moveTo>
                    <a:pt x="0" y="0"/>
                  </a:moveTo>
                  <a:lnTo>
                    <a:pt x="9899904" y="0"/>
                  </a:lnTo>
                  <a:lnTo>
                    <a:pt x="9899904" y="959358"/>
                  </a:lnTo>
                  <a:lnTo>
                    <a:pt x="0" y="95935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1071" r="0" b="-151071"/>
              </a:stretch>
            </a:blipFill>
          </p:spPr>
        </p:sp>
        <p:sp>
          <p:nvSpPr>
            <p:cNvPr name="TextBox 134" id="134"/>
            <p:cNvSpPr txBox="true"/>
            <p:nvPr/>
          </p:nvSpPr>
          <p:spPr>
            <a:xfrm>
              <a:off x="0" y="-47625"/>
              <a:ext cx="9899904" cy="10069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 AI analysis &amp; replay snapshot → Update HUD</a:t>
              </a:r>
            </a:p>
          </p:txBody>
        </p:sp>
      </p:grpSp>
      <p:grpSp>
        <p:nvGrpSpPr>
          <p:cNvPr name="Group 135" id="135"/>
          <p:cNvGrpSpPr/>
          <p:nvPr/>
        </p:nvGrpSpPr>
        <p:grpSpPr>
          <a:xfrm rot="0">
            <a:off x="9326880" y="2011680"/>
            <a:ext cx="8503920" cy="512064"/>
            <a:chOff x="0" y="0"/>
            <a:chExt cx="11338560" cy="682752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1338560" cy="682752"/>
            </a:xfrm>
            <a:custGeom>
              <a:avLst/>
              <a:gdLst/>
              <a:ahLst/>
              <a:cxnLst/>
              <a:rect r="r" b="b" t="t" l="l"/>
              <a:pathLst>
                <a:path h="68275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73364" r="0" b="-273366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9326880" y="1968817"/>
            <a:ext cx="8503920" cy="554926"/>
            <a:chOff x="0" y="0"/>
            <a:chExt cx="11338560" cy="739902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1338560" cy="739902"/>
            </a:xfrm>
            <a:custGeom>
              <a:avLst/>
              <a:gdLst/>
              <a:ahLst/>
              <a:cxnLst/>
              <a:rect r="r" b="b" t="t" l="l"/>
              <a:pathLst>
                <a:path h="73990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9902"/>
                  </a:lnTo>
                  <a:lnTo>
                    <a:pt x="0" y="739902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48596" r="0" b="-248596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57150"/>
              <a:ext cx="11338560" cy="7970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8" b="true">
                  <a:solidFill>
                    <a:srgbClr val="E8C87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SCORING EVENTS</a:t>
              </a:r>
            </a:p>
          </p:txBody>
        </p:sp>
      </p:grpSp>
      <p:sp>
        <p:nvSpPr>
          <p:cNvPr name="Freeform 140" id="140"/>
          <p:cNvSpPr/>
          <p:nvPr/>
        </p:nvSpPr>
        <p:spPr>
          <a:xfrm flipH="false" flipV="false" rot="0">
            <a:off x="9314183" y="2584199"/>
            <a:ext cx="2951416" cy="647128"/>
          </a:xfrm>
          <a:custGeom>
            <a:avLst/>
            <a:gdLst/>
            <a:ahLst/>
            <a:cxnLst/>
            <a:rect r="r" b="b" t="t" l="l"/>
            <a:pathLst>
              <a:path h="647128" w="2951416">
                <a:moveTo>
                  <a:pt x="0" y="0"/>
                </a:moveTo>
                <a:lnTo>
                  <a:pt x="2951417" y="0"/>
                </a:lnTo>
                <a:lnTo>
                  <a:pt x="2951417" y="647129"/>
                </a:lnTo>
                <a:lnTo>
                  <a:pt x="0" y="647129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1" id="141"/>
          <p:cNvGrpSpPr/>
          <p:nvPr/>
        </p:nvGrpSpPr>
        <p:grpSpPr>
          <a:xfrm rot="0">
            <a:off x="9418320" y="2596896"/>
            <a:ext cx="2926080" cy="621792"/>
            <a:chOff x="0" y="0"/>
            <a:chExt cx="3901440" cy="82905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3901440" cy="829056"/>
            </a:xfrm>
            <a:custGeom>
              <a:avLst/>
              <a:gdLst/>
              <a:ahLst/>
              <a:cxnLst/>
              <a:rect r="r" b="b" t="t" l="l"/>
              <a:pathLst>
                <a:path h="829056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1629" r="0" b="-41631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9418320" y="2561177"/>
            <a:ext cx="2926080" cy="657511"/>
            <a:chOff x="0" y="0"/>
            <a:chExt cx="3901440" cy="876681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3901440" cy="876681"/>
            </a:xfrm>
            <a:custGeom>
              <a:avLst/>
              <a:gdLst/>
              <a:ahLst/>
              <a:cxnLst/>
              <a:rect r="r" b="b" t="t" l="l"/>
              <a:pathLst>
                <a:path h="876681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713" r="0" b="-36713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47625"/>
              <a:ext cx="390144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Event</a:t>
              </a:r>
            </a:p>
          </p:txBody>
        </p:sp>
      </p:grpSp>
      <p:sp>
        <p:nvSpPr>
          <p:cNvPr name="Freeform 146" id="146"/>
          <p:cNvSpPr/>
          <p:nvPr/>
        </p:nvSpPr>
        <p:spPr>
          <a:xfrm flipH="false" flipV="false" rot="0">
            <a:off x="12331703" y="2584199"/>
            <a:ext cx="2622233" cy="647128"/>
          </a:xfrm>
          <a:custGeom>
            <a:avLst/>
            <a:gdLst/>
            <a:ahLst/>
            <a:cxnLst/>
            <a:rect r="r" b="b" t="t" l="l"/>
            <a:pathLst>
              <a:path h="647128" w="2622233">
                <a:moveTo>
                  <a:pt x="0" y="0"/>
                </a:moveTo>
                <a:lnTo>
                  <a:pt x="2622233" y="0"/>
                </a:lnTo>
                <a:lnTo>
                  <a:pt x="2622233" y="647129"/>
                </a:lnTo>
                <a:lnTo>
                  <a:pt x="0" y="647129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7" id="147"/>
          <p:cNvGrpSpPr/>
          <p:nvPr/>
        </p:nvGrpSpPr>
        <p:grpSpPr>
          <a:xfrm rot="0">
            <a:off x="12435840" y="2596896"/>
            <a:ext cx="2596896" cy="621792"/>
            <a:chOff x="0" y="0"/>
            <a:chExt cx="3462528" cy="829056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3462528" cy="829056"/>
            </a:xfrm>
            <a:custGeom>
              <a:avLst/>
              <a:gdLst/>
              <a:ahLst/>
              <a:cxnLst/>
              <a:rect r="r" b="b" t="t" l="l"/>
              <a:pathLst>
                <a:path h="829056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1321" r="0" b="-31322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435840" y="2561177"/>
            <a:ext cx="2596896" cy="657511"/>
            <a:chOff x="0" y="0"/>
            <a:chExt cx="3462528" cy="876681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462528" cy="876681"/>
            </a:xfrm>
            <a:custGeom>
              <a:avLst/>
              <a:gdLst/>
              <a:ahLst/>
              <a:cxnLst/>
              <a:rect r="r" b="b" t="t" l="l"/>
              <a:pathLst>
                <a:path h="876681" w="3462528">
                  <a:moveTo>
                    <a:pt x="0" y="0"/>
                  </a:moveTo>
                  <a:lnTo>
                    <a:pt x="3462528" y="0"/>
                  </a:lnTo>
                  <a:lnTo>
                    <a:pt x="3462528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6957" r="0" b="-26957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-47625"/>
              <a:ext cx="3462528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Police Effect</a:t>
              </a:r>
            </a:p>
          </p:txBody>
        </p:sp>
      </p:grpSp>
      <p:sp>
        <p:nvSpPr>
          <p:cNvPr name="Freeform 152" id="152"/>
          <p:cNvSpPr/>
          <p:nvPr/>
        </p:nvSpPr>
        <p:spPr>
          <a:xfrm flipH="false" flipV="false" rot="0">
            <a:off x="14983463" y="2584199"/>
            <a:ext cx="2859976" cy="647128"/>
          </a:xfrm>
          <a:custGeom>
            <a:avLst/>
            <a:gdLst/>
            <a:ahLst/>
            <a:cxnLst/>
            <a:rect r="r" b="b" t="t" l="l"/>
            <a:pathLst>
              <a:path h="647128" w="2859976">
                <a:moveTo>
                  <a:pt x="0" y="0"/>
                </a:moveTo>
                <a:lnTo>
                  <a:pt x="2859977" y="0"/>
                </a:lnTo>
                <a:lnTo>
                  <a:pt x="2859977" y="647129"/>
                </a:lnTo>
                <a:lnTo>
                  <a:pt x="0" y="647129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3" id="153"/>
          <p:cNvGrpSpPr/>
          <p:nvPr/>
        </p:nvGrpSpPr>
        <p:grpSpPr>
          <a:xfrm rot="0">
            <a:off x="15087600" y="2596896"/>
            <a:ext cx="2834640" cy="621792"/>
            <a:chOff x="0" y="0"/>
            <a:chExt cx="3779520" cy="82905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3779520" cy="829056"/>
            </a:xfrm>
            <a:custGeom>
              <a:avLst/>
              <a:gdLst/>
              <a:ahLst/>
              <a:cxnLst/>
              <a:rect r="r" b="b" t="t" l="l"/>
              <a:pathLst>
                <a:path h="829056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8766" r="0" b="-38766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15087600" y="2561177"/>
            <a:ext cx="2834640" cy="657511"/>
            <a:chOff x="0" y="0"/>
            <a:chExt cx="3779520" cy="87668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3779520" cy="876681"/>
            </a:xfrm>
            <a:custGeom>
              <a:avLst/>
              <a:gdLst/>
              <a:ahLst/>
              <a:cxnLst/>
              <a:rect r="r" b="b" t="t" l="l"/>
              <a:pathLst>
                <a:path h="876681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4003" r="0" b="-3400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47625"/>
              <a:ext cx="3779520" cy="924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Prisoner Effect</a:t>
              </a:r>
            </a:p>
          </p:txBody>
        </p:sp>
      </p:grpSp>
      <p:sp>
        <p:nvSpPr>
          <p:cNvPr name="Freeform 158" id="158"/>
          <p:cNvSpPr/>
          <p:nvPr/>
        </p:nvSpPr>
        <p:spPr>
          <a:xfrm flipH="false" flipV="false" rot="0">
            <a:off x="9314183" y="3242567"/>
            <a:ext cx="2951416" cy="775144"/>
          </a:xfrm>
          <a:custGeom>
            <a:avLst/>
            <a:gdLst/>
            <a:ahLst/>
            <a:cxnLst/>
            <a:rect r="r" b="b" t="t" l="l"/>
            <a:pathLst>
              <a:path h="775144" w="2951416">
                <a:moveTo>
                  <a:pt x="0" y="0"/>
                </a:moveTo>
                <a:lnTo>
                  <a:pt x="2951417" y="0"/>
                </a:lnTo>
                <a:lnTo>
                  <a:pt x="295141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9" id="159"/>
          <p:cNvGrpSpPr/>
          <p:nvPr/>
        </p:nvGrpSpPr>
        <p:grpSpPr>
          <a:xfrm rot="0">
            <a:off x="9454896" y="3255264"/>
            <a:ext cx="2743200" cy="749808"/>
            <a:chOff x="0" y="0"/>
            <a:chExt cx="3657600" cy="999744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3657600" cy="999744"/>
            </a:xfrm>
            <a:custGeom>
              <a:avLst/>
              <a:gdLst/>
              <a:ahLst/>
              <a:cxnLst/>
              <a:rect r="r" b="b" t="t" l="l"/>
              <a:pathLst>
                <a:path h="9997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7" r="0" b="-21237"/>
              </a:stretch>
            </a:blipFill>
          </p:spPr>
        </p:sp>
      </p:grpSp>
      <p:grpSp>
        <p:nvGrpSpPr>
          <p:cNvPr name="Group 161" id="161"/>
          <p:cNvGrpSpPr/>
          <p:nvPr/>
        </p:nvGrpSpPr>
        <p:grpSpPr>
          <a:xfrm rot="0">
            <a:off x="9454896" y="3219545"/>
            <a:ext cx="2743200" cy="785527"/>
            <a:chOff x="0" y="0"/>
            <a:chExt cx="3657600" cy="1047369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365760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045" r="0" b="-18045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47625"/>
              <a:ext cx="365760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CAF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Prisoner escapes</a:t>
              </a:r>
            </a:p>
          </p:txBody>
        </p:sp>
      </p:grpSp>
      <p:sp>
        <p:nvSpPr>
          <p:cNvPr name="Freeform 164" id="164"/>
          <p:cNvSpPr/>
          <p:nvPr/>
        </p:nvSpPr>
        <p:spPr>
          <a:xfrm flipH="false" flipV="false" rot="0">
            <a:off x="12331703" y="3242567"/>
            <a:ext cx="2622233" cy="775144"/>
          </a:xfrm>
          <a:custGeom>
            <a:avLst/>
            <a:gdLst/>
            <a:ahLst/>
            <a:cxnLst/>
            <a:rect r="r" b="b" t="t" l="l"/>
            <a:pathLst>
              <a:path h="775144" w="2622233">
                <a:moveTo>
                  <a:pt x="0" y="0"/>
                </a:moveTo>
                <a:lnTo>
                  <a:pt x="2622233" y="0"/>
                </a:lnTo>
                <a:lnTo>
                  <a:pt x="2622233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5" id="165"/>
          <p:cNvGrpSpPr/>
          <p:nvPr/>
        </p:nvGrpSpPr>
        <p:grpSpPr>
          <a:xfrm rot="0">
            <a:off x="12472416" y="3255264"/>
            <a:ext cx="2414016" cy="749808"/>
            <a:chOff x="0" y="0"/>
            <a:chExt cx="3218688" cy="999744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3218688" cy="999744"/>
            </a:xfrm>
            <a:custGeom>
              <a:avLst/>
              <a:gdLst/>
              <a:ahLst/>
              <a:cxnLst/>
              <a:rect r="r" b="b" t="t" l="l"/>
              <a:pathLst>
                <a:path h="999744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689" r="0" b="-12688"/>
              </a:stretch>
            </a:blipFill>
          </p:spPr>
        </p:sp>
      </p:grpSp>
      <p:grpSp>
        <p:nvGrpSpPr>
          <p:cNvPr name="Group 167" id="167"/>
          <p:cNvGrpSpPr/>
          <p:nvPr/>
        </p:nvGrpSpPr>
        <p:grpSpPr>
          <a:xfrm rot="0">
            <a:off x="12472416" y="3219545"/>
            <a:ext cx="2414016" cy="785527"/>
            <a:chOff x="0" y="0"/>
            <a:chExt cx="3218688" cy="1047369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3218688" cy="1047369"/>
            </a:xfrm>
            <a:custGeom>
              <a:avLst/>
              <a:gdLst/>
              <a:ahLst/>
              <a:cxnLst/>
              <a:rect r="r" b="b" t="t" l="l"/>
              <a:pathLst>
                <a:path h="1047369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879" r="0" b="-9879"/>
              </a:stretch>
            </a:blip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47625"/>
              <a:ext cx="3218688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Escape penalty</a:t>
              </a:r>
            </a:p>
          </p:txBody>
        </p:sp>
      </p:grpSp>
      <p:sp>
        <p:nvSpPr>
          <p:cNvPr name="Freeform 170" id="170"/>
          <p:cNvSpPr/>
          <p:nvPr/>
        </p:nvSpPr>
        <p:spPr>
          <a:xfrm flipH="false" flipV="false" rot="0">
            <a:off x="14983463" y="3242567"/>
            <a:ext cx="2859976" cy="775144"/>
          </a:xfrm>
          <a:custGeom>
            <a:avLst/>
            <a:gdLst/>
            <a:ahLst/>
            <a:cxnLst/>
            <a:rect r="r" b="b" t="t" l="l"/>
            <a:pathLst>
              <a:path h="775144" w="2859976">
                <a:moveTo>
                  <a:pt x="0" y="0"/>
                </a:moveTo>
                <a:lnTo>
                  <a:pt x="2859977" y="0"/>
                </a:lnTo>
                <a:lnTo>
                  <a:pt x="285997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1" id="171"/>
          <p:cNvGrpSpPr/>
          <p:nvPr/>
        </p:nvGrpSpPr>
        <p:grpSpPr>
          <a:xfrm rot="0">
            <a:off x="15124176" y="3255264"/>
            <a:ext cx="2651760" cy="749808"/>
            <a:chOff x="0" y="0"/>
            <a:chExt cx="3535680" cy="999744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3535680" cy="999744"/>
            </a:xfrm>
            <a:custGeom>
              <a:avLst/>
              <a:gdLst/>
              <a:ahLst/>
              <a:cxnLst/>
              <a:rect r="r" b="b" t="t" l="l"/>
              <a:pathLst>
                <a:path h="99974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863" r="0" b="-18861"/>
              </a:stretch>
            </a:blip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15124176" y="3219545"/>
            <a:ext cx="2651760" cy="785527"/>
            <a:chOff x="0" y="0"/>
            <a:chExt cx="3535680" cy="1047369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353568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777" r="0" b="-15777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47625"/>
              <a:ext cx="353568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Large bonus</a:t>
              </a:r>
            </a:p>
          </p:txBody>
        </p:sp>
      </p:grpSp>
      <p:sp>
        <p:nvSpPr>
          <p:cNvPr name="Freeform 176" id="176"/>
          <p:cNvSpPr/>
          <p:nvPr/>
        </p:nvSpPr>
        <p:spPr>
          <a:xfrm flipH="false" flipV="false" rot="0">
            <a:off x="9314183" y="4047239"/>
            <a:ext cx="2951416" cy="775144"/>
          </a:xfrm>
          <a:custGeom>
            <a:avLst/>
            <a:gdLst/>
            <a:ahLst/>
            <a:cxnLst/>
            <a:rect r="r" b="b" t="t" l="l"/>
            <a:pathLst>
              <a:path h="775144" w="2951416">
                <a:moveTo>
                  <a:pt x="0" y="0"/>
                </a:moveTo>
                <a:lnTo>
                  <a:pt x="2951417" y="0"/>
                </a:lnTo>
                <a:lnTo>
                  <a:pt x="295141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7" id="177"/>
          <p:cNvGrpSpPr/>
          <p:nvPr/>
        </p:nvGrpSpPr>
        <p:grpSpPr>
          <a:xfrm rot="0">
            <a:off x="9454896" y="4059936"/>
            <a:ext cx="2743200" cy="749808"/>
            <a:chOff x="0" y="0"/>
            <a:chExt cx="3657600" cy="999744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3657600" cy="999744"/>
            </a:xfrm>
            <a:custGeom>
              <a:avLst/>
              <a:gdLst/>
              <a:ahLst/>
              <a:cxnLst/>
              <a:rect r="r" b="b" t="t" l="l"/>
              <a:pathLst>
                <a:path h="9997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7" r="0" b="-21237"/>
              </a:stretch>
            </a:blipFill>
          </p:spPr>
        </p:sp>
      </p:grpSp>
      <p:grpSp>
        <p:nvGrpSpPr>
          <p:cNvPr name="Group 179" id="179"/>
          <p:cNvGrpSpPr/>
          <p:nvPr/>
        </p:nvGrpSpPr>
        <p:grpSpPr>
          <a:xfrm rot="0">
            <a:off x="9454896" y="4024217"/>
            <a:ext cx="2743200" cy="785527"/>
            <a:chOff x="0" y="0"/>
            <a:chExt cx="3657600" cy="1047369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365760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045" r="0" b="-18045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47625"/>
              <a:ext cx="365760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E0525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Police captures</a:t>
              </a:r>
            </a:p>
          </p:txBody>
        </p:sp>
      </p:grpSp>
      <p:sp>
        <p:nvSpPr>
          <p:cNvPr name="Freeform 182" id="182"/>
          <p:cNvSpPr/>
          <p:nvPr/>
        </p:nvSpPr>
        <p:spPr>
          <a:xfrm flipH="false" flipV="false" rot="0">
            <a:off x="12331703" y="4047239"/>
            <a:ext cx="2622233" cy="775144"/>
          </a:xfrm>
          <a:custGeom>
            <a:avLst/>
            <a:gdLst/>
            <a:ahLst/>
            <a:cxnLst/>
            <a:rect r="r" b="b" t="t" l="l"/>
            <a:pathLst>
              <a:path h="775144" w="2622233">
                <a:moveTo>
                  <a:pt x="0" y="0"/>
                </a:moveTo>
                <a:lnTo>
                  <a:pt x="2622233" y="0"/>
                </a:lnTo>
                <a:lnTo>
                  <a:pt x="2622233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3" id="183"/>
          <p:cNvGrpSpPr/>
          <p:nvPr/>
        </p:nvGrpSpPr>
        <p:grpSpPr>
          <a:xfrm rot="0">
            <a:off x="12472416" y="4059936"/>
            <a:ext cx="2414016" cy="749808"/>
            <a:chOff x="0" y="0"/>
            <a:chExt cx="3218688" cy="999744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3218688" cy="999744"/>
            </a:xfrm>
            <a:custGeom>
              <a:avLst/>
              <a:gdLst/>
              <a:ahLst/>
              <a:cxnLst/>
              <a:rect r="r" b="b" t="t" l="l"/>
              <a:pathLst>
                <a:path h="999744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689" r="0" b="-12688"/>
              </a:stretch>
            </a:blip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2472416" y="4024217"/>
            <a:ext cx="2414016" cy="785527"/>
            <a:chOff x="0" y="0"/>
            <a:chExt cx="3218688" cy="1047369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3218688" cy="1047369"/>
            </a:xfrm>
            <a:custGeom>
              <a:avLst/>
              <a:gdLst/>
              <a:ahLst/>
              <a:cxnLst/>
              <a:rect r="r" b="b" t="t" l="l"/>
              <a:pathLst>
                <a:path h="1047369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879" r="0" b="-9879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47625"/>
              <a:ext cx="3218688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 bonus</a:t>
              </a:r>
            </a:p>
          </p:txBody>
        </p:sp>
      </p:grpSp>
      <p:sp>
        <p:nvSpPr>
          <p:cNvPr name="Freeform 188" id="188"/>
          <p:cNvSpPr/>
          <p:nvPr/>
        </p:nvSpPr>
        <p:spPr>
          <a:xfrm flipH="false" flipV="false" rot="0">
            <a:off x="14983463" y="4047239"/>
            <a:ext cx="2859976" cy="775144"/>
          </a:xfrm>
          <a:custGeom>
            <a:avLst/>
            <a:gdLst/>
            <a:ahLst/>
            <a:cxnLst/>
            <a:rect r="r" b="b" t="t" l="l"/>
            <a:pathLst>
              <a:path h="775144" w="2859976">
                <a:moveTo>
                  <a:pt x="0" y="0"/>
                </a:moveTo>
                <a:lnTo>
                  <a:pt x="2859977" y="0"/>
                </a:lnTo>
                <a:lnTo>
                  <a:pt x="285997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9" id="189"/>
          <p:cNvGrpSpPr/>
          <p:nvPr/>
        </p:nvGrpSpPr>
        <p:grpSpPr>
          <a:xfrm rot="0">
            <a:off x="15124176" y="4059936"/>
            <a:ext cx="2651760" cy="749808"/>
            <a:chOff x="0" y="0"/>
            <a:chExt cx="3535680" cy="999744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3535680" cy="999744"/>
            </a:xfrm>
            <a:custGeom>
              <a:avLst/>
              <a:gdLst/>
              <a:ahLst/>
              <a:cxnLst/>
              <a:rect r="r" b="b" t="t" l="l"/>
              <a:pathLst>
                <a:path h="99974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863" r="0" b="-18861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15124176" y="4024217"/>
            <a:ext cx="2651760" cy="785527"/>
            <a:chOff x="0" y="0"/>
            <a:chExt cx="3535680" cy="1047369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353568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777" r="0" b="-15777"/>
              </a:stretch>
            </a:blipFill>
          </p:spPr>
        </p:sp>
        <p:sp>
          <p:nvSpPr>
            <p:cNvPr name="TextBox 193" id="193"/>
            <p:cNvSpPr txBox="true"/>
            <p:nvPr/>
          </p:nvSpPr>
          <p:spPr>
            <a:xfrm>
              <a:off x="0" y="-47625"/>
              <a:ext cx="353568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Capture penalty</a:t>
              </a:r>
            </a:p>
          </p:txBody>
        </p:sp>
      </p:grpSp>
      <p:sp>
        <p:nvSpPr>
          <p:cNvPr name="Freeform 194" id="194"/>
          <p:cNvSpPr/>
          <p:nvPr/>
        </p:nvSpPr>
        <p:spPr>
          <a:xfrm flipH="false" flipV="false" rot="0">
            <a:off x="9314183" y="4851911"/>
            <a:ext cx="2951416" cy="775144"/>
          </a:xfrm>
          <a:custGeom>
            <a:avLst/>
            <a:gdLst/>
            <a:ahLst/>
            <a:cxnLst/>
            <a:rect r="r" b="b" t="t" l="l"/>
            <a:pathLst>
              <a:path h="775144" w="2951416">
                <a:moveTo>
                  <a:pt x="0" y="0"/>
                </a:moveTo>
                <a:lnTo>
                  <a:pt x="2951417" y="0"/>
                </a:lnTo>
                <a:lnTo>
                  <a:pt x="295141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5" id="195"/>
          <p:cNvGrpSpPr/>
          <p:nvPr/>
        </p:nvGrpSpPr>
        <p:grpSpPr>
          <a:xfrm rot="0">
            <a:off x="9454896" y="4864608"/>
            <a:ext cx="2743200" cy="749808"/>
            <a:chOff x="0" y="0"/>
            <a:chExt cx="3657600" cy="999744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3657600" cy="999744"/>
            </a:xfrm>
            <a:custGeom>
              <a:avLst/>
              <a:gdLst/>
              <a:ahLst/>
              <a:cxnLst/>
              <a:rect r="r" b="b" t="t" l="l"/>
              <a:pathLst>
                <a:path h="9997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7" r="0" b="-21237"/>
              </a:stretch>
            </a:blip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9454896" y="4828889"/>
            <a:ext cx="2743200" cy="785527"/>
            <a:chOff x="0" y="0"/>
            <a:chExt cx="3657600" cy="1047369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365760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045" r="0" b="-18045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47625"/>
              <a:ext cx="365760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98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CCTV detects</a:t>
              </a:r>
            </a:p>
          </p:txBody>
        </p:sp>
      </p:grpSp>
      <p:sp>
        <p:nvSpPr>
          <p:cNvPr name="Freeform 200" id="200"/>
          <p:cNvSpPr/>
          <p:nvPr/>
        </p:nvSpPr>
        <p:spPr>
          <a:xfrm flipH="false" flipV="false" rot="0">
            <a:off x="12331703" y="4851911"/>
            <a:ext cx="2622233" cy="775144"/>
          </a:xfrm>
          <a:custGeom>
            <a:avLst/>
            <a:gdLst/>
            <a:ahLst/>
            <a:cxnLst/>
            <a:rect r="r" b="b" t="t" l="l"/>
            <a:pathLst>
              <a:path h="775144" w="2622233">
                <a:moveTo>
                  <a:pt x="0" y="0"/>
                </a:moveTo>
                <a:lnTo>
                  <a:pt x="2622233" y="0"/>
                </a:lnTo>
                <a:lnTo>
                  <a:pt x="2622233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1" id="201"/>
          <p:cNvGrpSpPr/>
          <p:nvPr/>
        </p:nvGrpSpPr>
        <p:grpSpPr>
          <a:xfrm rot="0">
            <a:off x="12472416" y="4864608"/>
            <a:ext cx="2414016" cy="749808"/>
            <a:chOff x="0" y="0"/>
            <a:chExt cx="3218688" cy="999744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0" y="0"/>
              <a:ext cx="3218688" cy="999744"/>
            </a:xfrm>
            <a:custGeom>
              <a:avLst/>
              <a:gdLst/>
              <a:ahLst/>
              <a:cxnLst/>
              <a:rect r="r" b="b" t="t" l="l"/>
              <a:pathLst>
                <a:path h="999744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689" r="0" b="-12688"/>
              </a:stretch>
            </a:blipFill>
          </p:spPr>
        </p:sp>
      </p:grpSp>
      <p:grpSp>
        <p:nvGrpSpPr>
          <p:cNvPr name="Group 203" id="203"/>
          <p:cNvGrpSpPr/>
          <p:nvPr/>
        </p:nvGrpSpPr>
        <p:grpSpPr>
          <a:xfrm rot="0">
            <a:off x="12472416" y="4828889"/>
            <a:ext cx="2414016" cy="785527"/>
            <a:chOff x="0" y="0"/>
            <a:chExt cx="3218688" cy="1047369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0" y="0"/>
              <a:ext cx="3218688" cy="1047369"/>
            </a:xfrm>
            <a:custGeom>
              <a:avLst/>
              <a:gdLst/>
              <a:ahLst/>
              <a:cxnLst/>
              <a:rect r="r" b="b" t="t" l="l"/>
              <a:pathLst>
                <a:path h="1047369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879" r="0" b="-9879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>
              <a:off x="0" y="-47625"/>
              <a:ext cx="3218688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CCTV assist</a:t>
              </a:r>
            </a:p>
          </p:txBody>
        </p:sp>
      </p:grpSp>
      <p:sp>
        <p:nvSpPr>
          <p:cNvPr name="Freeform 206" id="206"/>
          <p:cNvSpPr/>
          <p:nvPr/>
        </p:nvSpPr>
        <p:spPr>
          <a:xfrm flipH="false" flipV="false" rot="0">
            <a:off x="14983463" y="4851911"/>
            <a:ext cx="2859976" cy="775144"/>
          </a:xfrm>
          <a:custGeom>
            <a:avLst/>
            <a:gdLst/>
            <a:ahLst/>
            <a:cxnLst/>
            <a:rect r="r" b="b" t="t" l="l"/>
            <a:pathLst>
              <a:path h="775144" w="2859976">
                <a:moveTo>
                  <a:pt x="0" y="0"/>
                </a:moveTo>
                <a:lnTo>
                  <a:pt x="2859977" y="0"/>
                </a:lnTo>
                <a:lnTo>
                  <a:pt x="285997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7" id="207"/>
          <p:cNvGrpSpPr/>
          <p:nvPr/>
        </p:nvGrpSpPr>
        <p:grpSpPr>
          <a:xfrm rot="0">
            <a:off x="15124176" y="4864608"/>
            <a:ext cx="2651760" cy="749808"/>
            <a:chOff x="0" y="0"/>
            <a:chExt cx="3535680" cy="999744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0" y="0"/>
              <a:ext cx="3535680" cy="999744"/>
            </a:xfrm>
            <a:custGeom>
              <a:avLst/>
              <a:gdLst/>
              <a:ahLst/>
              <a:cxnLst/>
              <a:rect r="r" b="b" t="t" l="l"/>
              <a:pathLst>
                <a:path h="99974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863" r="0" b="-18861"/>
              </a:stretch>
            </a:blipFill>
          </p:spPr>
        </p:sp>
      </p:grpSp>
      <p:grpSp>
        <p:nvGrpSpPr>
          <p:cNvPr name="Group 209" id="209"/>
          <p:cNvGrpSpPr/>
          <p:nvPr/>
        </p:nvGrpSpPr>
        <p:grpSpPr>
          <a:xfrm rot="0">
            <a:off x="15124176" y="4828889"/>
            <a:ext cx="2651760" cy="785527"/>
            <a:chOff x="0" y="0"/>
            <a:chExt cx="3535680" cy="1047369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0" y="0"/>
              <a:ext cx="353568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777" r="0" b="-15777"/>
              </a:stretch>
            </a:blipFill>
          </p:spPr>
        </p:sp>
        <p:sp>
          <p:nvSpPr>
            <p:cNvPr name="TextBox 211" id="211"/>
            <p:cNvSpPr txBox="true"/>
            <p:nvPr/>
          </p:nvSpPr>
          <p:spPr>
            <a:xfrm>
              <a:off x="0" y="-47625"/>
              <a:ext cx="353568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Detection penalty</a:t>
              </a:r>
            </a:p>
          </p:txBody>
        </p:sp>
      </p:grpSp>
      <p:sp>
        <p:nvSpPr>
          <p:cNvPr name="Freeform 212" id="212"/>
          <p:cNvSpPr/>
          <p:nvPr/>
        </p:nvSpPr>
        <p:spPr>
          <a:xfrm flipH="false" flipV="false" rot="0">
            <a:off x="9314183" y="5656583"/>
            <a:ext cx="2951416" cy="775145"/>
          </a:xfrm>
          <a:custGeom>
            <a:avLst/>
            <a:gdLst/>
            <a:ahLst/>
            <a:cxnLst/>
            <a:rect r="r" b="b" t="t" l="l"/>
            <a:pathLst>
              <a:path h="775145" w="2951416">
                <a:moveTo>
                  <a:pt x="0" y="0"/>
                </a:moveTo>
                <a:lnTo>
                  <a:pt x="2951417" y="0"/>
                </a:lnTo>
                <a:lnTo>
                  <a:pt x="295141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3" id="213"/>
          <p:cNvGrpSpPr/>
          <p:nvPr/>
        </p:nvGrpSpPr>
        <p:grpSpPr>
          <a:xfrm rot="0">
            <a:off x="9454896" y="5669280"/>
            <a:ext cx="2743200" cy="749808"/>
            <a:chOff x="0" y="0"/>
            <a:chExt cx="3657600" cy="999744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0" y="0"/>
              <a:ext cx="3657600" cy="999744"/>
            </a:xfrm>
            <a:custGeom>
              <a:avLst/>
              <a:gdLst/>
              <a:ahLst/>
              <a:cxnLst/>
              <a:rect r="r" b="b" t="t" l="l"/>
              <a:pathLst>
                <a:path h="9997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7" r="0" b="-21237"/>
              </a:stretch>
            </a:blipFill>
          </p:spPr>
        </p:sp>
      </p:grpSp>
      <p:grpSp>
        <p:nvGrpSpPr>
          <p:cNvPr name="Group 215" id="215"/>
          <p:cNvGrpSpPr/>
          <p:nvPr/>
        </p:nvGrpSpPr>
        <p:grpSpPr>
          <a:xfrm rot="0">
            <a:off x="9454896" y="5633561"/>
            <a:ext cx="2743200" cy="785527"/>
            <a:chOff x="0" y="0"/>
            <a:chExt cx="3657600" cy="1047369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0" y="0"/>
              <a:ext cx="365760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045" r="0" b="-18045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>
              <a:off x="0" y="-47625"/>
              <a:ext cx="365760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FC3F7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Dog engages</a:t>
              </a:r>
            </a:p>
          </p:txBody>
        </p:sp>
      </p:grpSp>
      <p:sp>
        <p:nvSpPr>
          <p:cNvPr name="Freeform 218" id="218"/>
          <p:cNvSpPr/>
          <p:nvPr/>
        </p:nvSpPr>
        <p:spPr>
          <a:xfrm flipH="false" flipV="false" rot="0">
            <a:off x="12331703" y="5656583"/>
            <a:ext cx="2622233" cy="775145"/>
          </a:xfrm>
          <a:custGeom>
            <a:avLst/>
            <a:gdLst/>
            <a:ahLst/>
            <a:cxnLst/>
            <a:rect r="r" b="b" t="t" l="l"/>
            <a:pathLst>
              <a:path h="775145" w="2622233">
                <a:moveTo>
                  <a:pt x="0" y="0"/>
                </a:moveTo>
                <a:lnTo>
                  <a:pt x="2622233" y="0"/>
                </a:lnTo>
                <a:lnTo>
                  <a:pt x="2622233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9" id="219"/>
          <p:cNvGrpSpPr/>
          <p:nvPr/>
        </p:nvGrpSpPr>
        <p:grpSpPr>
          <a:xfrm rot="0">
            <a:off x="12472416" y="5669280"/>
            <a:ext cx="2414016" cy="749808"/>
            <a:chOff x="0" y="0"/>
            <a:chExt cx="3218688" cy="999744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0" y="0"/>
              <a:ext cx="3218688" cy="999744"/>
            </a:xfrm>
            <a:custGeom>
              <a:avLst/>
              <a:gdLst/>
              <a:ahLst/>
              <a:cxnLst/>
              <a:rect r="r" b="b" t="t" l="l"/>
              <a:pathLst>
                <a:path h="999744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689" r="0" b="-12688"/>
              </a:stretch>
            </a:blipFill>
          </p:spPr>
        </p:sp>
      </p:grpSp>
      <p:grpSp>
        <p:nvGrpSpPr>
          <p:cNvPr name="Group 221" id="221"/>
          <p:cNvGrpSpPr/>
          <p:nvPr/>
        </p:nvGrpSpPr>
        <p:grpSpPr>
          <a:xfrm rot="0">
            <a:off x="12472416" y="5633561"/>
            <a:ext cx="2414016" cy="785527"/>
            <a:chOff x="0" y="0"/>
            <a:chExt cx="3218688" cy="1047369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0" y="0"/>
              <a:ext cx="3218688" cy="1047369"/>
            </a:xfrm>
            <a:custGeom>
              <a:avLst/>
              <a:gdLst/>
              <a:ahLst/>
              <a:cxnLst/>
              <a:rect r="r" b="b" t="t" l="l"/>
              <a:pathLst>
                <a:path h="1047369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879" r="0" b="-9879"/>
              </a:stretch>
            </a:blipFill>
          </p:spPr>
        </p:sp>
        <p:sp>
          <p:nvSpPr>
            <p:cNvPr name="TextBox 223" id="223"/>
            <p:cNvSpPr txBox="true"/>
            <p:nvPr/>
          </p:nvSpPr>
          <p:spPr>
            <a:xfrm>
              <a:off x="0" y="-47625"/>
              <a:ext cx="3218688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Dog assist</a:t>
              </a:r>
            </a:p>
          </p:txBody>
        </p:sp>
      </p:grpSp>
      <p:sp>
        <p:nvSpPr>
          <p:cNvPr name="Freeform 224" id="224"/>
          <p:cNvSpPr/>
          <p:nvPr/>
        </p:nvSpPr>
        <p:spPr>
          <a:xfrm flipH="false" flipV="false" rot="0">
            <a:off x="14983463" y="5656583"/>
            <a:ext cx="2859976" cy="775145"/>
          </a:xfrm>
          <a:custGeom>
            <a:avLst/>
            <a:gdLst/>
            <a:ahLst/>
            <a:cxnLst/>
            <a:rect r="r" b="b" t="t" l="l"/>
            <a:pathLst>
              <a:path h="775145" w="2859976">
                <a:moveTo>
                  <a:pt x="0" y="0"/>
                </a:moveTo>
                <a:lnTo>
                  <a:pt x="2859977" y="0"/>
                </a:lnTo>
                <a:lnTo>
                  <a:pt x="285997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5" id="225"/>
          <p:cNvGrpSpPr/>
          <p:nvPr/>
        </p:nvGrpSpPr>
        <p:grpSpPr>
          <a:xfrm rot="0">
            <a:off x="15124176" y="5669280"/>
            <a:ext cx="2651760" cy="749808"/>
            <a:chOff x="0" y="0"/>
            <a:chExt cx="3535680" cy="999744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0" y="0"/>
              <a:ext cx="3535680" cy="999744"/>
            </a:xfrm>
            <a:custGeom>
              <a:avLst/>
              <a:gdLst/>
              <a:ahLst/>
              <a:cxnLst/>
              <a:rect r="r" b="b" t="t" l="l"/>
              <a:pathLst>
                <a:path h="99974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863" r="0" b="-18861"/>
              </a:stretch>
            </a:blipFill>
          </p:spPr>
        </p:sp>
      </p:grpSp>
      <p:grpSp>
        <p:nvGrpSpPr>
          <p:cNvPr name="Group 227" id="227"/>
          <p:cNvGrpSpPr/>
          <p:nvPr/>
        </p:nvGrpSpPr>
        <p:grpSpPr>
          <a:xfrm rot="0">
            <a:off x="15124176" y="5633561"/>
            <a:ext cx="2651760" cy="785527"/>
            <a:chOff x="0" y="0"/>
            <a:chExt cx="3535680" cy="1047369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0" y="0"/>
              <a:ext cx="353568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777" r="0" b="-15777"/>
              </a:stretch>
            </a:blipFill>
          </p:spPr>
        </p:sp>
        <p:sp>
          <p:nvSpPr>
            <p:cNvPr name="TextBox 229" id="229"/>
            <p:cNvSpPr txBox="true"/>
            <p:nvPr/>
          </p:nvSpPr>
          <p:spPr>
            <a:xfrm>
              <a:off x="0" y="-47625"/>
              <a:ext cx="353568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Zone penalty</a:t>
              </a:r>
            </a:p>
          </p:txBody>
        </p:sp>
      </p:grpSp>
      <p:sp>
        <p:nvSpPr>
          <p:cNvPr name="Freeform 230" id="230"/>
          <p:cNvSpPr/>
          <p:nvPr/>
        </p:nvSpPr>
        <p:spPr>
          <a:xfrm flipH="false" flipV="false" rot="0">
            <a:off x="9314183" y="6461255"/>
            <a:ext cx="2951416" cy="775145"/>
          </a:xfrm>
          <a:custGeom>
            <a:avLst/>
            <a:gdLst/>
            <a:ahLst/>
            <a:cxnLst/>
            <a:rect r="r" b="b" t="t" l="l"/>
            <a:pathLst>
              <a:path h="775145" w="2951416">
                <a:moveTo>
                  <a:pt x="0" y="0"/>
                </a:moveTo>
                <a:lnTo>
                  <a:pt x="2951417" y="0"/>
                </a:lnTo>
                <a:lnTo>
                  <a:pt x="295141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1" id="231"/>
          <p:cNvGrpSpPr/>
          <p:nvPr/>
        </p:nvGrpSpPr>
        <p:grpSpPr>
          <a:xfrm rot="0">
            <a:off x="9454896" y="6473952"/>
            <a:ext cx="2743200" cy="749808"/>
            <a:chOff x="0" y="0"/>
            <a:chExt cx="3657600" cy="999744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3657600" cy="999744"/>
            </a:xfrm>
            <a:custGeom>
              <a:avLst/>
              <a:gdLst/>
              <a:ahLst/>
              <a:cxnLst/>
              <a:rect r="r" b="b" t="t" l="l"/>
              <a:pathLst>
                <a:path h="9997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7" r="0" b="-21237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9454896" y="6438233"/>
            <a:ext cx="2743200" cy="785527"/>
            <a:chOff x="0" y="0"/>
            <a:chExt cx="3657600" cy="1047369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365760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045" r="0" b="-18045"/>
              </a:stretch>
            </a:blipFill>
          </p:spPr>
        </p:sp>
        <p:sp>
          <p:nvSpPr>
            <p:cNvPr name="TextBox 235" id="235"/>
            <p:cNvSpPr txBox="true"/>
            <p:nvPr/>
          </p:nvSpPr>
          <p:spPr>
            <a:xfrm>
              <a:off x="0" y="-47625"/>
              <a:ext cx="365760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98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 contact</a:t>
              </a:r>
            </a:p>
          </p:txBody>
        </p:sp>
      </p:grpSp>
      <p:sp>
        <p:nvSpPr>
          <p:cNvPr name="Freeform 236" id="236"/>
          <p:cNvSpPr/>
          <p:nvPr/>
        </p:nvSpPr>
        <p:spPr>
          <a:xfrm flipH="false" flipV="false" rot="0">
            <a:off x="12331703" y="6461255"/>
            <a:ext cx="2622233" cy="775145"/>
          </a:xfrm>
          <a:custGeom>
            <a:avLst/>
            <a:gdLst/>
            <a:ahLst/>
            <a:cxnLst/>
            <a:rect r="r" b="b" t="t" l="l"/>
            <a:pathLst>
              <a:path h="775145" w="2622233">
                <a:moveTo>
                  <a:pt x="0" y="0"/>
                </a:moveTo>
                <a:lnTo>
                  <a:pt x="2622233" y="0"/>
                </a:lnTo>
                <a:lnTo>
                  <a:pt x="2622233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7" id="237"/>
          <p:cNvGrpSpPr/>
          <p:nvPr/>
        </p:nvGrpSpPr>
        <p:grpSpPr>
          <a:xfrm rot="0">
            <a:off x="12472416" y="6473952"/>
            <a:ext cx="2414016" cy="749808"/>
            <a:chOff x="0" y="0"/>
            <a:chExt cx="3218688" cy="999744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3218688" cy="999744"/>
            </a:xfrm>
            <a:custGeom>
              <a:avLst/>
              <a:gdLst/>
              <a:ahLst/>
              <a:cxnLst/>
              <a:rect r="r" b="b" t="t" l="l"/>
              <a:pathLst>
                <a:path h="999744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689" r="0" b="-12688"/>
              </a:stretch>
            </a:blip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12472416" y="6438233"/>
            <a:ext cx="2414016" cy="785527"/>
            <a:chOff x="0" y="0"/>
            <a:chExt cx="3218688" cy="1047369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3218688" cy="1047369"/>
            </a:xfrm>
            <a:custGeom>
              <a:avLst/>
              <a:gdLst/>
              <a:ahLst/>
              <a:cxnLst/>
              <a:rect r="r" b="b" t="t" l="l"/>
              <a:pathLst>
                <a:path h="1047369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879" r="0" b="-9879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>
              <a:off x="0" y="-47625"/>
              <a:ext cx="3218688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 assist</a:t>
              </a:r>
            </a:p>
          </p:txBody>
        </p:sp>
      </p:grpSp>
      <p:sp>
        <p:nvSpPr>
          <p:cNvPr name="Freeform 242" id="242"/>
          <p:cNvSpPr/>
          <p:nvPr/>
        </p:nvSpPr>
        <p:spPr>
          <a:xfrm flipH="false" flipV="false" rot="0">
            <a:off x="14983463" y="6461255"/>
            <a:ext cx="2859976" cy="775145"/>
          </a:xfrm>
          <a:custGeom>
            <a:avLst/>
            <a:gdLst/>
            <a:ahLst/>
            <a:cxnLst/>
            <a:rect r="r" b="b" t="t" l="l"/>
            <a:pathLst>
              <a:path h="775145" w="2859976">
                <a:moveTo>
                  <a:pt x="0" y="0"/>
                </a:moveTo>
                <a:lnTo>
                  <a:pt x="2859977" y="0"/>
                </a:lnTo>
                <a:lnTo>
                  <a:pt x="285997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3" id="243"/>
          <p:cNvGrpSpPr/>
          <p:nvPr/>
        </p:nvGrpSpPr>
        <p:grpSpPr>
          <a:xfrm rot="0">
            <a:off x="15124176" y="6473952"/>
            <a:ext cx="2651760" cy="749808"/>
            <a:chOff x="0" y="0"/>
            <a:chExt cx="3535680" cy="999744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3535680" cy="999744"/>
            </a:xfrm>
            <a:custGeom>
              <a:avLst/>
              <a:gdLst/>
              <a:ahLst/>
              <a:cxnLst/>
              <a:rect r="r" b="b" t="t" l="l"/>
              <a:pathLst>
                <a:path h="99974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863" r="0" b="-18861"/>
              </a:stretch>
            </a:blip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15124176" y="6438233"/>
            <a:ext cx="2651760" cy="785527"/>
            <a:chOff x="0" y="0"/>
            <a:chExt cx="3535680" cy="1047369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353568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777" r="0" b="-15777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47625"/>
              <a:ext cx="353568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 penalty</a:t>
              </a:r>
            </a:p>
          </p:txBody>
        </p:sp>
      </p:grpSp>
      <p:sp>
        <p:nvSpPr>
          <p:cNvPr name="Freeform 248" id="248"/>
          <p:cNvSpPr/>
          <p:nvPr/>
        </p:nvSpPr>
        <p:spPr>
          <a:xfrm flipH="false" flipV="false" rot="0">
            <a:off x="9314183" y="7265927"/>
            <a:ext cx="2951416" cy="775144"/>
          </a:xfrm>
          <a:custGeom>
            <a:avLst/>
            <a:gdLst/>
            <a:ahLst/>
            <a:cxnLst/>
            <a:rect r="r" b="b" t="t" l="l"/>
            <a:pathLst>
              <a:path h="775144" w="2951416">
                <a:moveTo>
                  <a:pt x="0" y="0"/>
                </a:moveTo>
                <a:lnTo>
                  <a:pt x="2951417" y="0"/>
                </a:lnTo>
                <a:lnTo>
                  <a:pt x="295141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9" id="249"/>
          <p:cNvGrpSpPr/>
          <p:nvPr/>
        </p:nvGrpSpPr>
        <p:grpSpPr>
          <a:xfrm rot="0">
            <a:off x="9454896" y="7278624"/>
            <a:ext cx="2743200" cy="749808"/>
            <a:chOff x="0" y="0"/>
            <a:chExt cx="3657600" cy="999744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0" y="0"/>
              <a:ext cx="3657600" cy="999744"/>
            </a:xfrm>
            <a:custGeom>
              <a:avLst/>
              <a:gdLst/>
              <a:ahLst/>
              <a:cxnLst/>
              <a:rect r="r" b="b" t="t" l="l"/>
              <a:pathLst>
                <a:path h="9997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7" r="0" b="-21237"/>
              </a:stretch>
            </a:blipFill>
          </p:spPr>
        </p:sp>
      </p:grpSp>
      <p:grpSp>
        <p:nvGrpSpPr>
          <p:cNvPr name="Group 251" id="251"/>
          <p:cNvGrpSpPr/>
          <p:nvPr/>
        </p:nvGrpSpPr>
        <p:grpSpPr>
          <a:xfrm rot="0">
            <a:off x="9454896" y="7242905"/>
            <a:ext cx="2743200" cy="785527"/>
            <a:chOff x="0" y="0"/>
            <a:chExt cx="3657600" cy="1047369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0" y="0"/>
              <a:ext cx="365760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045" r="0" b="-18045"/>
              </a:stretch>
            </a:blipFill>
          </p:spPr>
        </p:sp>
        <p:sp>
          <p:nvSpPr>
            <p:cNvPr name="TextBox 253" id="253"/>
            <p:cNvSpPr txBox="true"/>
            <p:nvPr/>
          </p:nvSpPr>
          <p:spPr>
            <a:xfrm>
              <a:off x="0" y="-47625"/>
              <a:ext cx="365760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AACCB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Timeout</a:t>
              </a:r>
            </a:p>
          </p:txBody>
        </p:sp>
      </p:grpSp>
      <p:sp>
        <p:nvSpPr>
          <p:cNvPr name="Freeform 254" id="254"/>
          <p:cNvSpPr/>
          <p:nvPr/>
        </p:nvSpPr>
        <p:spPr>
          <a:xfrm flipH="false" flipV="false" rot="0">
            <a:off x="12331703" y="7265927"/>
            <a:ext cx="2622233" cy="775144"/>
          </a:xfrm>
          <a:custGeom>
            <a:avLst/>
            <a:gdLst/>
            <a:ahLst/>
            <a:cxnLst/>
            <a:rect r="r" b="b" t="t" l="l"/>
            <a:pathLst>
              <a:path h="775144" w="2622233">
                <a:moveTo>
                  <a:pt x="0" y="0"/>
                </a:moveTo>
                <a:lnTo>
                  <a:pt x="2622233" y="0"/>
                </a:lnTo>
                <a:lnTo>
                  <a:pt x="2622233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5" id="255"/>
          <p:cNvGrpSpPr/>
          <p:nvPr/>
        </p:nvGrpSpPr>
        <p:grpSpPr>
          <a:xfrm rot="0">
            <a:off x="12472416" y="7278624"/>
            <a:ext cx="2414016" cy="749808"/>
            <a:chOff x="0" y="0"/>
            <a:chExt cx="3218688" cy="999744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0" y="0"/>
              <a:ext cx="3218688" cy="999744"/>
            </a:xfrm>
            <a:custGeom>
              <a:avLst/>
              <a:gdLst/>
              <a:ahLst/>
              <a:cxnLst/>
              <a:rect r="r" b="b" t="t" l="l"/>
              <a:pathLst>
                <a:path h="999744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689" r="0" b="-12688"/>
              </a:stretch>
            </a:blipFill>
          </p:spPr>
        </p:sp>
      </p:grpSp>
      <p:grpSp>
        <p:nvGrpSpPr>
          <p:cNvPr name="Group 257" id="257"/>
          <p:cNvGrpSpPr/>
          <p:nvPr/>
        </p:nvGrpSpPr>
        <p:grpSpPr>
          <a:xfrm rot="0">
            <a:off x="12472416" y="7242905"/>
            <a:ext cx="2414016" cy="785527"/>
            <a:chOff x="0" y="0"/>
            <a:chExt cx="3218688" cy="1047369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0" y="0"/>
              <a:ext cx="3218688" cy="1047369"/>
            </a:xfrm>
            <a:custGeom>
              <a:avLst/>
              <a:gdLst/>
              <a:ahLst/>
              <a:cxnLst/>
              <a:rect r="r" b="b" t="t" l="l"/>
              <a:pathLst>
                <a:path h="1047369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879" r="0" b="-9879"/>
              </a:stretch>
            </a:blipFill>
          </p:spPr>
        </p:sp>
        <p:sp>
          <p:nvSpPr>
            <p:cNvPr name="TextBox 259" id="259"/>
            <p:cNvSpPr txBox="true"/>
            <p:nvPr/>
          </p:nvSpPr>
          <p:spPr>
            <a:xfrm>
              <a:off x="0" y="-47625"/>
              <a:ext cx="3218688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Containment</a:t>
              </a:r>
            </a:p>
          </p:txBody>
        </p:sp>
      </p:grpSp>
      <p:sp>
        <p:nvSpPr>
          <p:cNvPr name="Freeform 260" id="260"/>
          <p:cNvSpPr/>
          <p:nvPr/>
        </p:nvSpPr>
        <p:spPr>
          <a:xfrm flipH="false" flipV="false" rot="0">
            <a:off x="14983463" y="7265927"/>
            <a:ext cx="2859976" cy="775144"/>
          </a:xfrm>
          <a:custGeom>
            <a:avLst/>
            <a:gdLst/>
            <a:ahLst/>
            <a:cxnLst/>
            <a:rect r="r" b="b" t="t" l="l"/>
            <a:pathLst>
              <a:path h="775144" w="2859976">
                <a:moveTo>
                  <a:pt x="0" y="0"/>
                </a:moveTo>
                <a:lnTo>
                  <a:pt x="2859977" y="0"/>
                </a:lnTo>
                <a:lnTo>
                  <a:pt x="285997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1" id="261"/>
          <p:cNvGrpSpPr/>
          <p:nvPr/>
        </p:nvGrpSpPr>
        <p:grpSpPr>
          <a:xfrm rot="0">
            <a:off x="15124176" y="7278624"/>
            <a:ext cx="2651760" cy="749808"/>
            <a:chOff x="0" y="0"/>
            <a:chExt cx="3535680" cy="999744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0" y="0"/>
              <a:ext cx="3535680" cy="999744"/>
            </a:xfrm>
            <a:custGeom>
              <a:avLst/>
              <a:gdLst/>
              <a:ahLst/>
              <a:cxnLst/>
              <a:rect r="r" b="b" t="t" l="l"/>
              <a:pathLst>
                <a:path h="99974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863" r="0" b="-18861"/>
              </a:stretch>
            </a:blipFill>
          </p:spPr>
        </p:sp>
      </p:grpSp>
      <p:grpSp>
        <p:nvGrpSpPr>
          <p:cNvPr name="Group 263" id="263"/>
          <p:cNvGrpSpPr/>
          <p:nvPr/>
        </p:nvGrpSpPr>
        <p:grpSpPr>
          <a:xfrm rot="0">
            <a:off x="15124176" y="7242905"/>
            <a:ext cx="2651760" cy="785527"/>
            <a:chOff x="0" y="0"/>
            <a:chExt cx="3535680" cy="1047369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0" y="0"/>
              <a:ext cx="353568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777" r="0" b="-15777"/>
              </a:stretch>
            </a:blipFill>
          </p:spPr>
        </p:sp>
        <p:sp>
          <p:nvSpPr>
            <p:cNvPr name="TextBox 265" id="265"/>
            <p:cNvSpPr txBox="true"/>
            <p:nvPr/>
          </p:nvSpPr>
          <p:spPr>
            <a:xfrm>
              <a:off x="0" y="-47625"/>
              <a:ext cx="353568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Timeout penalty</a:t>
              </a:r>
            </a:p>
          </p:txBody>
        </p:sp>
      </p:grpSp>
      <p:sp>
        <p:nvSpPr>
          <p:cNvPr name="Freeform 266" id="266"/>
          <p:cNvSpPr/>
          <p:nvPr/>
        </p:nvSpPr>
        <p:spPr>
          <a:xfrm flipH="false" flipV="false" rot="0">
            <a:off x="9314183" y="8070599"/>
            <a:ext cx="2951416" cy="775144"/>
          </a:xfrm>
          <a:custGeom>
            <a:avLst/>
            <a:gdLst/>
            <a:ahLst/>
            <a:cxnLst/>
            <a:rect r="r" b="b" t="t" l="l"/>
            <a:pathLst>
              <a:path h="775144" w="2951416">
                <a:moveTo>
                  <a:pt x="0" y="0"/>
                </a:moveTo>
                <a:lnTo>
                  <a:pt x="2951417" y="0"/>
                </a:lnTo>
                <a:lnTo>
                  <a:pt x="295141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7" id="267"/>
          <p:cNvGrpSpPr/>
          <p:nvPr/>
        </p:nvGrpSpPr>
        <p:grpSpPr>
          <a:xfrm rot="0">
            <a:off x="9454896" y="8083296"/>
            <a:ext cx="2743200" cy="749808"/>
            <a:chOff x="0" y="0"/>
            <a:chExt cx="3657600" cy="999744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3657600" cy="999744"/>
            </a:xfrm>
            <a:custGeom>
              <a:avLst/>
              <a:gdLst/>
              <a:ahLst/>
              <a:cxnLst/>
              <a:rect r="r" b="b" t="t" l="l"/>
              <a:pathLst>
                <a:path h="99974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7" r="0" b="-21237"/>
              </a:stretch>
            </a:blip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9454896" y="8047577"/>
            <a:ext cx="2743200" cy="785527"/>
            <a:chOff x="0" y="0"/>
            <a:chExt cx="3657600" cy="1047369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365760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8045" r="0" b="-18045"/>
              </a:stretch>
            </a:blipFill>
          </p:spPr>
        </p:sp>
        <p:sp>
          <p:nvSpPr>
            <p:cNvPr name="TextBox 271" id="271"/>
            <p:cNvSpPr txBox="true"/>
            <p:nvPr/>
          </p:nvSpPr>
          <p:spPr>
            <a:xfrm>
              <a:off x="0" y="-47625"/>
              <a:ext cx="365760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4CAF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Patrol coverage</a:t>
              </a:r>
            </a:p>
          </p:txBody>
        </p:sp>
      </p:grpSp>
      <p:sp>
        <p:nvSpPr>
          <p:cNvPr name="Freeform 272" id="272"/>
          <p:cNvSpPr/>
          <p:nvPr/>
        </p:nvSpPr>
        <p:spPr>
          <a:xfrm flipH="false" flipV="false" rot="0">
            <a:off x="12331703" y="8070599"/>
            <a:ext cx="2622233" cy="775144"/>
          </a:xfrm>
          <a:custGeom>
            <a:avLst/>
            <a:gdLst/>
            <a:ahLst/>
            <a:cxnLst/>
            <a:rect r="r" b="b" t="t" l="l"/>
            <a:pathLst>
              <a:path h="775144" w="2622233">
                <a:moveTo>
                  <a:pt x="0" y="0"/>
                </a:moveTo>
                <a:lnTo>
                  <a:pt x="2622233" y="0"/>
                </a:lnTo>
                <a:lnTo>
                  <a:pt x="2622233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3" id="273"/>
          <p:cNvGrpSpPr/>
          <p:nvPr/>
        </p:nvGrpSpPr>
        <p:grpSpPr>
          <a:xfrm rot="0">
            <a:off x="12472416" y="8083296"/>
            <a:ext cx="2414016" cy="749808"/>
            <a:chOff x="0" y="0"/>
            <a:chExt cx="3218688" cy="999744"/>
          </a:xfrm>
        </p:grpSpPr>
        <p:sp>
          <p:nvSpPr>
            <p:cNvPr name="Freeform 274" id="274"/>
            <p:cNvSpPr/>
            <p:nvPr/>
          </p:nvSpPr>
          <p:spPr>
            <a:xfrm flipH="false" flipV="false" rot="0">
              <a:off x="0" y="0"/>
              <a:ext cx="3218688" cy="999744"/>
            </a:xfrm>
            <a:custGeom>
              <a:avLst/>
              <a:gdLst/>
              <a:ahLst/>
              <a:cxnLst/>
              <a:rect r="r" b="b" t="t" l="l"/>
              <a:pathLst>
                <a:path h="999744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689" r="0" b="-12688"/>
              </a:stretch>
            </a:blipFill>
          </p:spPr>
        </p:sp>
      </p:grpSp>
      <p:grpSp>
        <p:nvGrpSpPr>
          <p:cNvPr name="Group 275" id="275"/>
          <p:cNvGrpSpPr/>
          <p:nvPr/>
        </p:nvGrpSpPr>
        <p:grpSpPr>
          <a:xfrm rot="0">
            <a:off x="12472416" y="8047577"/>
            <a:ext cx="2414016" cy="785527"/>
            <a:chOff x="0" y="0"/>
            <a:chExt cx="3218688" cy="1047369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0" y="0"/>
              <a:ext cx="3218688" cy="1047369"/>
            </a:xfrm>
            <a:custGeom>
              <a:avLst/>
              <a:gdLst/>
              <a:ahLst/>
              <a:cxnLst/>
              <a:rect r="r" b="b" t="t" l="l"/>
              <a:pathLst>
                <a:path h="1047369" w="3218688">
                  <a:moveTo>
                    <a:pt x="0" y="0"/>
                  </a:moveTo>
                  <a:lnTo>
                    <a:pt x="3218688" y="0"/>
                  </a:lnTo>
                  <a:lnTo>
                    <a:pt x="3218688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9879" r="0" b="-9879"/>
              </a:stretch>
            </a:blipFill>
          </p:spPr>
        </p:sp>
        <p:sp>
          <p:nvSpPr>
            <p:cNvPr name="TextBox 277" id="277"/>
            <p:cNvSpPr txBox="true"/>
            <p:nvPr/>
          </p:nvSpPr>
          <p:spPr>
            <a:xfrm>
              <a:off x="0" y="-47625"/>
              <a:ext cx="3218688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Coverage bonus</a:t>
              </a:r>
            </a:p>
          </p:txBody>
        </p:sp>
      </p:grpSp>
      <p:sp>
        <p:nvSpPr>
          <p:cNvPr name="Freeform 278" id="278"/>
          <p:cNvSpPr/>
          <p:nvPr/>
        </p:nvSpPr>
        <p:spPr>
          <a:xfrm flipH="false" flipV="false" rot="0">
            <a:off x="14983463" y="8070599"/>
            <a:ext cx="2859976" cy="775144"/>
          </a:xfrm>
          <a:custGeom>
            <a:avLst/>
            <a:gdLst/>
            <a:ahLst/>
            <a:cxnLst/>
            <a:rect r="r" b="b" t="t" l="l"/>
            <a:pathLst>
              <a:path h="775144" w="2859976">
                <a:moveTo>
                  <a:pt x="0" y="0"/>
                </a:moveTo>
                <a:lnTo>
                  <a:pt x="2859977" y="0"/>
                </a:lnTo>
                <a:lnTo>
                  <a:pt x="2859977" y="775145"/>
                </a:lnTo>
                <a:lnTo>
                  <a:pt x="0" y="77514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9" id="279"/>
          <p:cNvGrpSpPr/>
          <p:nvPr/>
        </p:nvGrpSpPr>
        <p:grpSpPr>
          <a:xfrm rot="0">
            <a:off x="15124176" y="8083296"/>
            <a:ext cx="2651760" cy="749808"/>
            <a:chOff x="0" y="0"/>
            <a:chExt cx="3535680" cy="999744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0" y="0"/>
              <a:ext cx="3535680" cy="999744"/>
            </a:xfrm>
            <a:custGeom>
              <a:avLst/>
              <a:gdLst/>
              <a:ahLst/>
              <a:cxnLst/>
              <a:rect r="r" b="b" t="t" l="l"/>
              <a:pathLst>
                <a:path h="999744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999744"/>
                  </a:lnTo>
                  <a:lnTo>
                    <a:pt x="0" y="9997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863" r="0" b="-18861"/>
              </a:stretch>
            </a:blipFill>
          </p:spPr>
        </p:sp>
      </p:grpSp>
      <p:grpSp>
        <p:nvGrpSpPr>
          <p:cNvPr name="Group 281" id="281"/>
          <p:cNvGrpSpPr/>
          <p:nvPr/>
        </p:nvGrpSpPr>
        <p:grpSpPr>
          <a:xfrm rot="0">
            <a:off x="15124176" y="8047577"/>
            <a:ext cx="2651760" cy="785527"/>
            <a:chOff x="0" y="0"/>
            <a:chExt cx="3535680" cy="1047369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0" y="0"/>
              <a:ext cx="3535680" cy="1047369"/>
            </a:xfrm>
            <a:custGeom>
              <a:avLst/>
              <a:gdLst/>
              <a:ahLst/>
              <a:cxnLst/>
              <a:rect r="r" b="b" t="t" l="l"/>
              <a:pathLst>
                <a:path h="1047369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1047369"/>
                  </a:lnTo>
                  <a:lnTo>
                    <a:pt x="0" y="1047369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777" r="0" b="-15777"/>
              </a:stretch>
            </a:blipFill>
          </p:spPr>
        </p:sp>
        <p:sp>
          <p:nvSpPr>
            <p:cNvPr name="TextBox 283" id="283"/>
            <p:cNvSpPr txBox="true"/>
            <p:nvPr/>
          </p:nvSpPr>
          <p:spPr>
            <a:xfrm>
              <a:off x="0" y="-47625"/>
              <a:ext cx="3535680" cy="10949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N/A</a:t>
              </a:r>
            </a:p>
          </p:txBody>
        </p:sp>
      </p:grpSp>
      <p:grpSp>
        <p:nvGrpSpPr>
          <p:cNvPr name="Group 284" id="284"/>
          <p:cNvGrpSpPr/>
          <p:nvPr/>
        </p:nvGrpSpPr>
        <p:grpSpPr>
          <a:xfrm rot="0">
            <a:off x="17373600" y="9784080"/>
            <a:ext cx="731520" cy="457200"/>
            <a:chOff x="0" y="0"/>
            <a:chExt cx="975360" cy="609600"/>
          </a:xfrm>
        </p:grpSpPr>
        <p:sp>
          <p:nvSpPr>
            <p:cNvPr name="Freeform 285" id="285"/>
            <p:cNvSpPr/>
            <p:nvPr/>
          </p:nvSpPr>
          <p:spPr>
            <a:xfrm flipH="false" flipV="false" rot="0">
              <a:off x="0" y="0"/>
              <a:ext cx="97536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246" t="0" r="-30244" b="0"/>
              </a:stretch>
            </a:blipFill>
          </p:spPr>
        </p:sp>
      </p:grpSp>
      <p:sp>
        <p:nvSpPr>
          <p:cNvPr name="TextBox 286" id="28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693640" y="969264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383" y="1724663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7" y="0"/>
                </a:lnTo>
                <a:lnTo>
                  <a:pt x="38658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67863" y="172466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7" y="0"/>
                </a:lnTo>
                <a:lnTo>
                  <a:pt x="64261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Capture, Escape &amp; Outcome Logic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8640" y="2146459"/>
            <a:ext cx="8609648" cy="2574608"/>
          </a:xfrm>
          <a:custGeom>
            <a:avLst/>
            <a:gdLst/>
            <a:ahLst/>
            <a:cxnLst/>
            <a:rect r="r" b="b" t="t" l="l"/>
            <a:pathLst>
              <a:path h="2574608" w="8609648">
                <a:moveTo>
                  <a:pt x="0" y="0"/>
                </a:moveTo>
                <a:lnTo>
                  <a:pt x="8609647" y="0"/>
                </a:lnTo>
                <a:lnTo>
                  <a:pt x="8609647" y="2574607"/>
                </a:lnTo>
                <a:lnTo>
                  <a:pt x="0" y="25746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61346" y="2159165"/>
            <a:ext cx="8584120" cy="793432"/>
          </a:xfrm>
          <a:custGeom>
            <a:avLst/>
            <a:gdLst/>
            <a:ahLst/>
            <a:cxnLst/>
            <a:rect r="r" b="b" t="t" l="l"/>
            <a:pathLst>
              <a:path h="793432" w="8584120">
                <a:moveTo>
                  <a:pt x="0" y="0"/>
                </a:moveTo>
                <a:lnTo>
                  <a:pt x="8584121" y="0"/>
                </a:lnTo>
                <a:lnTo>
                  <a:pt x="8584121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756923" y="2171862"/>
            <a:ext cx="8193024" cy="768096"/>
            <a:chOff x="0" y="0"/>
            <a:chExt cx="10924032" cy="10241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240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7695" r="0" b="-15769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56923" y="2157574"/>
            <a:ext cx="8193024" cy="782384"/>
            <a:chOff x="0" y="0"/>
            <a:chExt cx="10924032" cy="104317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24032" cy="1043178"/>
            </a:xfrm>
            <a:custGeom>
              <a:avLst/>
              <a:gdLst/>
              <a:ahLst/>
              <a:cxnLst/>
              <a:rect r="r" b="b" t="t" l="l"/>
              <a:pathLst>
                <a:path h="104317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43178"/>
                  </a:lnTo>
                  <a:lnTo>
                    <a:pt x="0" y="104317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044" r="0" b="-15404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9240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PRISONERS WIN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48363" y="3049686"/>
            <a:ext cx="8010144" cy="1499616"/>
            <a:chOff x="0" y="0"/>
            <a:chExt cx="10680192" cy="19994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801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4005" r="0" b="-5400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48363" y="3013967"/>
            <a:ext cx="8010144" cy="1535335"/>
            <a:chOff x="0" y="0"/>
            <a:chExt cx="10680192" cy="20471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680192" cy="2047113"/>
            </a:xfrm>
            <a:custGeom>
              <a:avLst/>
              <a:gdLst/>
              <a:ahLst/>
              <a:cxnLst/>
              <a:rect r="r" b="b" t="t" l="l"/>
              <a:pathLst>
                <a:path h="2047113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2047113"/>
                  </a:lnTo>
                  <a:lnTo>
                    <a:pt x="0" y="20471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1657" r="0" b="-5165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680192" cy="2094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prisoners successfully reach the active exit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9473184" y="2146459"/>
            <a:ext cx="8609648" cy="2574608"/>
          </a:xfrm>
          <a:custGeom>
            <a:avLst/>
            <a:gdLst/>
            <a:ahLst/>
            <a:cxnLst/>
            <a:rect r="r" b="b" t="t" l="l"/>
            <a:pathLst>
              <a:path h="2574608" w="8609648">
                <a:moveTo>
                  <a:pt x="0" y="0"/>
                </a:moveTo>
                <a:lnTo>
                  <a:pt x="8609647" y="0"/>
                </a:lnTo>
                <a:lnTo>
                  <a:pt x="8609647" y="2574607"/>
                </a:lnTo>
                <a:lnTo>
                  <a:pt x="0" y="257460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485890" y="2159165"/>
            <a:ext cx="8584120" cy="793432"/>
          </a:xfrm>
          <a:custGeom>
            <a:avLst/>
            <a:gdLst/>
            <a:ahLst/>
            <a:cxnLst/>
            <a:rect r="r" b="b" t="t" l="l"/>
            <a:pathLst>
              <a:path h="793432" w="8584120">
                <a:moveTo>
                  <a:pt x="0" y="0"/>
                </a:moveTo>
                <a:lnTo>
                  <a:pt x="8584121" y="0"/>
                </a:lnTo>
                <a:lnTo>
                  <a:pt x="8584121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681467" y="2171862"/>
            <a:ext cx="8193024" cy="768096"/>
            <a:chOff x="0" y="0"/>
            <a:chExt cx="10924032" cy="10241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240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7695" r="0" b="-15769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681467" y="2157574"/>
            <a:ext cx="8193024" cy="782384"/>
            <a:chOff x="0" y="0"/>
            <a:chExt cx="10924032" cy="10431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24032" cy="1043178"/>
            </a:xfrm>
            <a:custGeom>
              <a:avLst/>
              <a:gdLst/>
              <a:ahLst/>
              <a:cxnLst/>
              <a:rect r="r" b="b" t="t" l="l"/>
              <a:pathLst>
                <a:path h="104317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43178"/>
                  </a:lnTo>
                  <a:lnTo>
                    <a:pt x="0" y="104317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044" r="0" b="-15404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09240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POLICE WINS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772907" y="3049686"/>
            <a:ext cx="8010144" cy="1499616"/>
            <a:chOff x="0" y="0"/>
            <a:chExt cx="10680192" cy="19994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6801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4005" r="0" b="-5400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772907" y="3013967"/>
            <a:ext cx="8010144" cy="1535335"/>
            <a:chOff x="0" y="0"/>
            <a:chExt cx="10680192" cy="20471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680192" cy="2047113"/>
            </a:xfrm>
            <a:custGeom>
              <a:avLst/>
              <a:gdLst/>
              <a:ahLst/>
              <a:cxnLst/>
              <a:rect r="r" b="b" t="t" l="l"/>
              <a:pathLst>
                <a:path h="2047113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2047113"/>
                  </a:lnTo>
                  <a:lnTo>
                    <a:pt x="0" y="20471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1657" r="0" b="-5165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10680192" cy="2094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prisoners are captured, eliminated, or fail to escape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548640" y="4926235"/>
            <a:ext cx="8609648" cy="2574608"/>
          </a:xfrm>
          <a:custGeom>
            <a:avLst/>
            <a:gdLst/>
            <a:ahLst/>
            <a:cxnLst/>
            <a:rect r="r" b="b" t="t" l="l"/>
            <a:pathLst>
              <a:path h="2574608" w="8609648">
                <a:moveTo>
                  <a:pt x="0" y="0"/>
                </a:moveTo>
                <a:lnTo>
                  <a:pt x="8609647" y="0"/>
                </a:lnTo>
                <a:lnTo>
                  <a:pt x="8609647" y="2574607"/>
                </a:lnTo>
                <a:lnTo>
                  <a:pt x="0" y="2574607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61346" y="4938941"/>
            <a:ext cx="8584120" cy="793433"/>
          </a:xfrm>
          <a:custGeom>
            <a:avLst/>
            <a:gdLst/>
            <a:ahLst/>
            <a:cxnLst/>
            <a:rect r="r" b="b" t="t" l="l"/>
            <a:pathLst>
              <a:path h="793433" w="8584120">
                <a:moveTo>
                  <a:pt x="0" y="0"/>
                </a:moveTo>
                <a:lnTo>
                  <a:pt x="8584121" y="0"/>
                </a:lnTo>
                <a:lnTo>
                  <a:pt x="8584121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756923" y="4951638"/>
            <a:ext cx="8193024" cy="768096"/>
            <a:chOff x="0" y="0"/>
            <a:chExt cx="10924032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240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7695" r="0" b="-157695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56923" y="4937350"/>
            <a:ext cx="8193024" cy="782384"/>
            <a:chOff x="0" y="0"/>
            <a:chExt cx="10924032" cy="104317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24032" cy="1043178"/>
            </a:xfrm>
            <a:custGeom>
              <a:avLst/>
              <a:gdLst/>
              <a:ahLst/>
              <a:cxnLst/>
              <a:rect r="r" b="b" t="t" l="l"/>
              <a:pathLst>
                <a:path h="104317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43178"/>
                  </a:lnTo>
                  <a:lnTo>
                    <a:pt x="0" y="104317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044" r="0" b="-15404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09240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PARTIAL ESCAPE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48363" y="5829462"/>
            <a:ext cx="8010144" cy="1499616"/>
            <a:chOff x="0" y="0"/>
            <a:chExt cx="10680192" cy="19994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6801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4005" r="0" b="-54006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48363" y="5793743"/>
            <a:ext cx="8010144" cy="1535335"/>
            <a:chOff x="0" y="0"/>
            <a:chExt cx="10680192" cy="204711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680192" cy="2047113"/>
            </a:xfrm>
            <a:custGeom>
              <a:avLst/>
              <a:gdLst/>
              <a:ahLst/>
              <a:cxnLst/>
              <a:rect r="r" b="b" t="t" l="l"/>
              <a:pathLst>
                <a:path h="2047113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2047113"/>
                  </a:lnTo>
                  <a:lnTo>
                    <a:pt x="0" y="20471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1657" r="0" b="-5165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47625"/>
              <a:ext cx="10680192" cy="2094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At least one prisoner escapes but not all escape within time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9473184" y="4926235"/>
            <a:ext cx="8609648" cy="2574608"/>
          </a:xfrm>
          <a:custGeom>
            <a:avLst/>
            <a:gdLst/>
            <a:ahLst/>
            <a:cxnLst/>
            <a:rect r="r" b="b" t="t" l="l"/>
            <a:pathLst>
              <a:path h="2574608" w="8609648">
                <a:moveTo>
                  <a:pt x="0" y="0"/>
                </a:moveTo>
                <a:lnTo>
                  <a:pt x="8609647" y="0"/>
                </a:lnTo>
                <a:lnTo>
                  <a:pt x="8609647" y="2574607"/>
                </a:lnTo>
                <a:lnTo>
                  <a:pt x="0" y="257460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9485890" y="4938941"/>
            <a:ext cx="8584120" cy="793433"/>
          </a:xfrm>
          <a:custGeom>
            <a:avLst/>
            <a:gdLst/>
            <a:ahLst/>
            <a:cxnLst/>
            <a:rect r="r" b="b" t="t" l="l"/>
            <a:pathLst>
              <a:path h="793433" w="8584120">
                <a:moveTo>
                  <a:pt x="0" y="0"/>
                </a:moveTo>
                <a:lnTo>
                  <a:pt x="8584121" y="0"/>
                </a:lnTo>
                <a:lnTo>
                  <a:pt x="8584121" y="793433"/>
                </a:lnTo>
                <a:lnTo>
                  <a:pt x="0" y="793433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9681467" y="4951638"/>
            <a:ext cx="8193024" cy="768096"/>
            <a:chOff x="0" y="0"/>
            <a:chExt cx="10924032" cy="102412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24032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7695" r="0" b="-157695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81467" y="4937350"/>
            <a:ext cx="8193024" cy="782384"/>
            <a:chOff x="0" y="0"/>
            <a:chExt cx="10924032" cy="104317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24032" cy="1043178"/>
            </a:xfrm>
            <a:custGeom>
              <a:avLst/>
              <a:gdLst/>
              <a:ahLst/>
              <a:cxnLst/>
              <a:rect r="r" b="b" t="t" l="l"/>
              <a:pathLst>
                <a:path h="1043178" w="10924032">
                  <a:moveTo>
                    <a:pt x="0" y="0"/>
                  </a:moveTo>
                  <a:lnTo>
                    <a:pt x="10924032" y="0"/>
                  </a:lnTo>
                  <a:lnTo>
                    <a:pt x="10924032" y="1043178"/>
                  </a:lnTo>
                  <a:lnTo>
                    <a:pt x="0" y="104317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54044" r="0" b="-15404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19050"/>
              <a:ext cx="10924032" cy="10622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TIMEOUT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772907" y="5829462"/>
            <a:ext cx="8010144" cy="1499616"/>
            <a:chOff x="0" y="0"/>
            <a:chExt cx="10680192" cy="19994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680192" cy="1999488"/>
            </a:xfrm>
            <a:custGeom>
              <a:avLst/>
              <a:gdLst/>
              <a:ahLst/>
              <a:cxnLst/>
              <a:rect r="r" b="b" t="t" l="l"/>
              <a:pathLst>
                <a:path h="1999488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4005" r="0" b="-54006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772907" y="5793743"/>
            <a:ext cx="8010144" cy="1535335"/>
            <a:chOff x="0" y="0"/>
            <a:chExt cx="10680192" cy="204711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680192" cy="2047113"/>
            </a:xfrm>
            <a:custGeom>
              <a:avLst/>
              <a:gdLst/>
              <a:ahLst/>
              <a:cxnLst/>
              <a:rect r="r" b="b" t="t" l="l"/>
              <a:pathLst>
                <a:path h="2047113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2047113"/>
                  </a:lnTo>
                  <a:lnTo>
                    <a:pt x="0" y="204711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1657" r="0" b="-5165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10680192" cy="20947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60-second timer expires — remaining prisoners timed out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444503" y="7704839"/>
            <a:ext cx="10632376" cy="939736"/>
          </a:xfrm>
          <a:custGeom>
            <a:avLst/>
            <a:gdLst/>
            <a:ahLst/>
            <a:cxnLst/>
            <a:rect r="r" b="b" t="t" l="l"/>
            <a:pathLst>
              <a:path h="939736" w="10632376">
                <a:moveTo>
                  <a:pt x="0" y="0"/>
                </a:moveTo>
                <a:lnTo>
                  <a:pt x="10632377" y="0"/>
                </a:lnTo>
                <a:lnTo>
                  <a:pt x="10632377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640080" y="7717536"/>
            <a:ext cx="1828800" cy="914400"/>
            <a:chOff x="0" y="0"/>
            <a:chExt cx="2438400" cy="12192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96" t="0" r="-14196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640080" y="7681817"/>
            <a:ext cx="1828800" cy="950119"/>
            <a:chOff x="0" y="0"/>
            <a:chExt cx="2438400" cy="12668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4384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6657" t="0" r="-1665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4384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Capture: 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2468880" y="7717536"/>
            <a:ext cx="8412480" cy="914400"/>
            <a:chOff x="0" y="0"/>
            <a:chExt cx="11216640" cy="12192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9137" r="0" b="-129137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2468880" y="7688961"/>
            <a:ext cx="8412480" cy="942975"/>
            <a:chOff x="0" y="0"/>
            <a:chExt cx="11216640" cy="12573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21664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23830" r="0" b="-12383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112166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Police within tile range + cooldown expired → updates counters, scoring, state. Repeated captures → elimination/respawn.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444503" y="8674103"/>
            <a:ext cx="10632376" cy="939736"/>
          </a:xfrm>
          <a:custGeom>
            <a:avLst/>
            <a:gdLst/>
            <a:ahLst/>
            <a:cxnLst/>
            <a:rect r="r" b="b" t="t" l="l"/>
            <a:pathLst>
              <a:path h="939736" w="10632376">
                <a:moveTo>
                  <a:pt x="0" y="0"/>
                </a:moveTo>
                <a:lnTo>
                  <a:pt x="10632377" y="0"/>
                </a:lnTo>
                <a:lnTo>
                  <a:pt x="10632377" y="939737"/>
                </a:lnTo>
                <a:lnTo>
                  <a:pt x="0" y="939737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640080" y="8686800"/>
            <a:ext cx="1828800" cy="914400"/>
            <a:chOff x="0" y="0"/>
            <a:chExt cx="2438400" cy="12192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4196" t="0" r="-14196" b="0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40080" y="8651081"/>
            <a:ext cx="1828800" cy="950119"/>
            <a:chOff x="0" y="0"/>
            <a:chExt cx="2438400" cy="1266825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1266825"/>
            </a:xfrm>
            <a:custGeom>
              <a:avLst/>
              <a:gdLst/>
              <a:ahLst/>
              <a:cxnLst/>
              <a:rect r="r" b="b" t="t" l="l"/>
              <a:pathLst>
                <a:path h="126682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66825"/>
                  </a:lnTo>
                  <a:lnTo>
                    <a:pt x="0" y="126682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16657" t="0" r="-16657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2438400" cy="1314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sz="2299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Escape: 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2468880" y="8686800"/>
            <a:ext cx="8412480" cy="914400"/>
            <a:chOff x="0" y="0"/>
            <a:chExt cx="11216640" cy="121920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21664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29137" r="0" b="-129137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2468880" y="8658225"/>
            <a:ext cx="8412480" cy="942975"/>
            <a:chOff x="0" y="0"/>
            <a:chExt cx="11216640" cy="12573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216640" cy="1257300"/>
            </a:xfrm>
            <a:custGeom>
              <a:avLst/>
              <a:gdLst/>
              <a:ahLst/>
              <a:cxnLst/>
              <a:rect r="r" b="b" t="t" l="l"/>
              <a:pathLst>
                <a:path h="125730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1257300"/>
                  </a:lnTo>
                  <a:lnTo>
                    <a:pt x="0" y="125730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23830" r="0" b="-12383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47625"/>
              <a:ext cx="1121664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Prisoner reaches active exit → becomes inactive, receives escape bonus. Police receives escape-allowed penalty.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7282160" y="9784080"/>
            <a:ext cx="822960" cy="457200"/>
            <a:chOff x="0" y="0"/>
            <a:chExt cx="1097280" cy="6096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09728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1329" t="0" r="-21328" b="0"/>
              </a:stretch>
            </a:blip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383" y="1724663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7" y="0"/>
                </a:lnTo>
                <a:lnTo>
                  <a:pt x="38658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67863" y="172466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7" y="0"/>
                </a:lnTo>
                <a:lnTo>
                  <a:pt x="64261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AI Decision Visualization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38150" y="1956054"/>
            <a:ext cx="8670036" cy="3293364"/>
          </a:xfrm>
          <a:custGeom>
            <a:avLst/>
            <a:gdLst/>
            <a:ahLst/>
            <a:cxnLst/>
            <a:rect r="r" b="b" t="t" l="l"/>
            <a:pathLst>
              <a:path h="3293364" w="8670036">
                <a:moveTo>
                  <a:pt x="0" y="0"/>
                </a:moveTo>
                <a:lnTo>
                  <a:pt x="8670036" y="0"/>
                </a:lnTo>
                <a:lnTo>
                  <a:pt x="8670036" y="3293364"/>
                </a:lnTo>
                <a:lnTo>
                  <a:pt x="0" y="329336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44503" y="1962407"/>
            <a:ext cx="8657272" cy="720280"/>
          </a:xfrm>
          <a:custGeom>
            <a:avLst/>
            <a:gdLst/>
            <a:ahLst/>
            <a:cxnLst/>
            <a:rect r="r" b="b" t="t" l="l"/>
            <a:pathLst>
              <a:path h="720280" w="8657272">
                <a:moveTo>
                  <a:pt x="0" y="0"/>
                </a:moveTo>
                <a:lnTo>
                  <a:pt x="8657273" y="0"/>
                </a:lnTo>
                <a:lnTo>
                  <a:pt x="8657273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40080" y="2011680"/>
            <a:ext cx="8266176" cy="621792"/>
            <a:chOff x="0" y="0"/>
            <a:chExt cx="11021568" cy="8290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21568" cy="829056"/>
            </a:xfrm>
            <a:custGeom>
              <a:avLst/>
              <a:gdLst/>
              <a:ahLst/>
              <a:cxnLst/>
              <a:rect r="r" b="b" t="t" l="l"/>
              <a:pathLst>
                <a:path h="829056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8855" r="0" b="-208857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40080" y="2004536"/>
            <a:ext cx="8266176" cy="628936"/>
            <a:chOff x="0" y="0"/>
            <a:chExt cx="11021568" cy="83858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021568" cy="838581"/>
            </a:xfrm>
            <a:custGeom>
              <a:avLst/>
              <a:gdLst/>
              <a:ahLst/>
              <a:cxnLst/>
              <a:rect r="r" b="b" t="t" l="l"/>
              <a:pathLst>
                <a:path h="838581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838581"/>
                  </a:lnTo>
                  <a:lnTo>
                    <a:pt x="0" y="83858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6094" r="0" b="-20609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1021568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8"/>
                </a:lnSpc>
              </a:pPr>
              <a:r>
                <a:rPr lang="en-US" sz="2999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Live HUD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31520" y="2779776"/>
            <a:ext cx="8138160" cy="694944"/>
            <a:chOff x="0" y="0"/>
            <a:chExt cx="1085088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31520" y="2744057"/>
            <a:ext cx="8138160" cy="730663"/>
            <a:chOff x="0" y="0"/>
            <a:chExt cx="10850880" cy="97421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Timer, score events, agent status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31520" y="3547872"/>
            <a:ext cx="8138160" cy="694944"/>
            <a:chOff x="0" y="0"/>
            <a:chExt cx="1085088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31520" y="3512153"/>
            <a:ext cx="8138160" cy="730663"/>
            <a:chOff x="0" y="0"/>
            <a:chExt cx="10850880" cy="97421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Fuzzy behaviour bars (Chase/Intercept/Investigate/Patrol)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31520" y="4315968"/>
            <a:ext cx="8138160" cy="694944"/>
            <a:chOff x="0" y="0"/>
            <a:chExt cx="1085088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31520" y="4280249"/>
            <a:ext cx="8138160" cy="730663"/>
            <a:chOff x="0" y="0"/>
            <a:chExt cx="10850880" cy="97421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Threat level gauge &amp; incident log</a:t>
              </a: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438150" y="5430774"/>
            <a:ext cx="8670036" cy="3293364"/>
          </a:xfrm>
          <a:custGeom>
            <a:avLst/>
            <a:gdLst/>
            <a:ahLst/>
            <a:cxnLst/>
            <a:rect r="r" b="b" t="t" l="l"/>
            <a:pathLst>
              <a:path h="3293364" w="8670036">
                <a:moveTo>
                  <a:pt x="0" y="0"/>
                </a:moveTo>
                <a:lnTo>
                  <a:pt x="8670036" y="0"/>
                </a:lnTo>
                <a:lnTo>
                  <a:pt x="8670036" y="3293364"/>
                </a:lnTo>
                <a:lnTo>
                  <a:pt x="0" y="329336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44503" y="5437127"/>
            <a:ext cx="8657272" cy="720280"/>
          </a:xfrm>
          <a:custGeom>
            <a:avLst/>
            <a:gdLst/>
            <a:ahLst/>
            <a:cxnLst/>
            <a:rect r="r" b="b" t="t" l="l"/>
            <a:pathLst>
              <a:path h="720280" w="8657272">
                <a:moveTo>
                  <a:pt x="0" y="0"/>
                </a:moveTo>
                <a:lnTo>
                  <a:pt x="8657273" y="0"/>
                </a:lnTo>
                <a:lnTo>
                  <a:pt x="8657273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640080" y="5486400"/>
            <a:ext cx="8266176" cy="621792"/>
            <a:chOff x="0" y="0"/>
            <a:chExt cx="11021568" cy="82905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021568" cy="829056"/>
            </a:xfrm>
            <a:custGeom>
              <a:avLst/>
              <a:gdLst/>
              <a:ahLst/>
              <a:cxnLst/>
              <a:rect r="r" b="b" t="t" l="l"/>
              <a:pathLst>
                <a:path h="829056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8855" r="0" b="-208857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640080" y="5479256"/>
            <a:ext cx="8266176" cy="628936"/>
            <a:chOff x="0" y="0"/>
            <a:chExt cx="11021568" cy="83858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21568" cy="838581"/>
            </a:xfrm>
            <a:custGeom>
              <a:avLst/>
              <a:gdLst/>
              <a:ahLst/>
              <a:cxnLst/>
              <a:rect r="r" b="b" t="t" l="l"/>
              <a:pathLst>
                <a:path h="838581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838581"/>
                  </a:lnTo>
                  <a:lnTo>
                    <a:pt x="0" y="83858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6094" r="0" b="-206094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11021568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8"/>
                </a:lnSpc>
              </a:pPr>
              <a:r>
                <a:rPr lang="en-US" sz="2999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Decision Overlays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31520" y="6254496"/>
            <a:ext cx="8138160" cy="694944"/>
            <a:chOff x="0" y="0"/>
            <a:chExt cx="10850880" cy="9265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31520" y="6218777"/>
            <a:ext cx="8138160" cy="730663"/>
            <a:chOff x="0" y="0"/>
            <a:chExt cx="10850880" cy="97421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Candidate path highlights on grid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31520" y="7022592"/>
            <a:ext cx="8138160" cy="694944"/>
            <a:chOff x="0" y="0"/>
            <a:chExt cx="1085088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731520" y="6986873"/>
            <a:ext cx="8138160" cy="730663"/>
            <a:chOff x="0" y="0"/>
            <a:chExt cx="10850880" cy="97421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Danger heatmap &amp; CCTV vision cone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1520" y="7790688"/>
            <a:ext cx="8138160" cy="694944"/>
            <a:chOff x="0" y="0"/>
            <a:chExt cx="10850880" cy="92659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31520" y="7754969"/>
            <a:ext cx="8138160" cy="730663"/>
            <a:chOff x="0" y="0"/>
            <a:chExt cx="10850880" cy="974217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Dog patrol route &amp; AI cycle label per tick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9490710" y="1956054"/>
            <a:ext cx="8670036" cy="3293364"/>
          </a:xfrm>
          <a:custGeom>
            <a:avLst/>
            <a:gdLst/>
            <a:ahLst/>
            <a:cxnLst/>
            <a:rect r="r" b="b" t="t" l="l"/>
            <a:pathLst>
              <a:path h="3293364" w="8670036">
                <a:moveTo>
                  <a:pt x="0" y="0"/>
                </a:moveTo>
                <a:lnTo>
                  <a:pt x="8670036" y="0"/>
                </a:lnTo>
                <a:lnTo>
                  <a:pt x="8670036" y="3293364"/>
                </a:lnTo>
                <a:lnTo>
                  <a:pt x="0" y="3293364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497063" y="1962407"/>
            <a:ext cx="8657272" cy="720280"/>
          </a:xfrm>
          <a:custGeom>
            <a:avLst/>
            <a:gdLst/>
            <a:ahLst/>
            <a:cxnLst/>
            <a:rect r="r" b="b" t="t" l="l"/>
            <a:pathLst>
              <a:path h="720280" w="8657272">
                <a:moveTo>
                  <a:pt x="0" y="0"/>
                </a:moveTo>
                <a:lnTo>
                  <a:pt x="8657273" y="0"/>
                </a:lnTo>
                <a:lnTo>
                  <a:pt x="8657273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9" id="59"/>
          <p:cNvGrpSpPr/>
          <p:nvPr/>
        </p:nvGrpSpPr>
        <p:grpSpPr>
          <a:xfrm rot="0">
            <a:off x="9692640" y="2011680"/>
            <a:ext cx="8266176" cy="621792"/>
            <a:chOff x="0" y="0"/>
            <a:chExt cx="11021568" cy="82905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021568" cy="829056"/>
            </a:xfrm>
            <a:custGeom>
              <a:avLst/>
              <a:gdLst/>
              <a:ahLst/>
              <a:cxnLst/>
              <a:rect r="r" b="b" t="t" l="l"/>
              <a:pathLst>
                <a:path h="829056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8855" r="0" b="-208857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692640" y="2004536"/>
            <a:ext cx="8266176" cy="628936"/>
            <a:chOff x="0" y="0"/>
            <a:chExt cx="11021568" cy="83858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021568" cy="838581"/>
            </a:xfrm>
            <a:custGeom>
              <a:avLst/>
              <a:gdLst/>
              <a:ahLst/>
              <a:cxnLst/>
              <a:rect r="r" b="b" t="t" l="l"/>
              <a:pathLst>
                <a:path h="838581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838581"/>
                  </a:lnTo>
                  <a:lnTo>
                    <a:pt x="0" y="83858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6094" r="0" b="-206094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1021568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8"/>
                </a:lnSpc>
              </a:pPr>
              <a:r>
                <a:rPr lang="en-US" sz="2999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Analysis Page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784080" y="2779776"/>
            <a:ext cx="8138160" cy="694944"/>
            <a:chOff x="0" y="0"/>
            <a:chExt cx="10850880" cy="92659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784080" y="2744057"/>
            <a:ext cx="8138160" cy="730663"/>
            <a:chOff x="0" y="0"/>
            <a:chExt cx="10850880" cy="97421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Police Fuzzy: target priority + behaviour scores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784080" y="3547872"/>
            <a:ext cx="8138160" cy="694944"/>
            <a:chOff x="0" y="0"/>
            <a:chExt cx="10850880" cy="92659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784080" y="3512153"/>
            <a:ext cx="8138160" cy="730663"/>
            <a:chOff x="0" y="0"/>
            <a:chExt cx="10850880" cy="974217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Red Minimax: candidate moves + police response branches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784080" y="4315968"/>
            <a:ext cx="8138160" cy="866194"/>
            <a:chOff x="0" y="0"/>
            <a:chExt cx="10850880" cy="1154925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850880" cy="1154938"/>
            </a:xfrm>
            <a:custGeom>
              <a:avLst/>
              <a:gdLst/>
              <a:ahLst/>
              <a:cxnLst/>
              <a:rect r="r" b="b" t="t" l="l"/>
              <a:pathLst>
                <a:path h="1154938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1154938"/>
                  </a:lnTo>
                  <a:lnTo>
                    <a:pt x="0" y="115493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2939" r="0" b="-132938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784080" y="4280249"/>
            <a:ext cx="8138160" cy="901913"/>
            <a:chOff x="0" y="0"/>
            <a:chExt cx="10850880" cy="120255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850880" cy="1202556"/>
            </a:xfrm>
            <a:custGeom>
              <a:avLst/>
              <a:gdLst/>
              <a:ahLst/>
              <a:cxnLst/>
              <a:rect r="r" b="b" t="t" l="l"/>
              <a:pathLst>
                <a:path h="1202556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1202556"/>
                  </a:lnTo>
                  <a:lnTo>
                    <a:pt x="0" y="1202556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25817" r="0" b="-12581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10850880" cy="12501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Blue MCTS: visit counts, rewards, UCT values + Decision Timeline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9490710" y="5430774"/>
            <a:ext cx="8670036" cy="3293364"/>
          </a:xfrm>
          <a:custGeom>
            <a:avLst/>
            <a:gdLst/>
            <a:ahLst/>
            <a:cxnLst/>
            <a:rect r="r" b="b" t="t" l="l"/>
            <a:pathLst>
              <a:path h="3293364" w="8670036">
                <a:moveTo>
                  <a:pt x="0" y="0"/>
                </a:moveTo>
                <a:lnTo>
                  <a:pt x="8670036" y="0"/>
                </a:lnTo>
                <a:lnTo>
                  <a:pt x="8670036" y="3293364"/>
                </a:lnTo>
                <a:lnTo>
                  <a:pt x="0" y="3293364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0" id="80"/>
          <p:cNvSpPr/>
          <p:nvPr/>
        </p:nvSpPr>
        <p:spPr>
          <a:xfrm flipH="false" flipV="false" rot="0">
            <a:off x="9497063" y="5437127"/>
            <a:ext cx="8657272" cy="720280"/>
          </a:xfrm>
          <a:custGeom>
            <a:avLst/>
            <a:gdLst/>
            <a:ahLst/>
            <a:cxnLst/>
            <a:rect r="r" b="b" t="t" l="l"/>
            <a:pathLst>
              <a:path h="720280" w="8657272">
                <a:moveTo>
                  <a:pt x="0" y="0"/>
                </a:moveTo>
                <a:lnTo>
                  <a:pt x="8657273" y="0"/>
                </a:lnTo>
                <a:lnTo>
                  <a:pt x="8657273" y="720281"/>
                </a:lnTo>
                <a:lnTo>
                  <a:pt x="0" y="72028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1" id="81"/>
          <p:cNvGrpSpPr/>
          <p:nvPr/>
        </p:nvGrpSpPr>
        <p:grpSpPr>
          <a:xfrm rot="0">
            <a:off x="9692640" y="5486400"/>
            <a:ext cx="8266176" cy="621792"/>
            <a:chOff x="0" y="0"/>
            <a:chExt cx="11021568" cy="82905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1021568" cy="829056"/>
            </a:xfrm>
            <a:custGeom>
              <a:avLst/>
              <a:gdLst/>
              <a:ahLst/>
              <a:cxnLst/>
              <a:rect r="r" b="b" t="t" l="l"/>
              <a:pathLst>
                <a:path h="829056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8855" r="0" b="-208857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692640" y="5479256"/>
            <a:ext cx="8266176" cy="628936"/>
            <a:chOff x="0" y="0"/>
            <a:chExt cx="11021568" cy="83858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1021568" cy="838581"/>
            </a:xfrm>
            <a:custGeom>
              <a:avLst/>
              <a:gdLst/>
              <a:ahLst/>
              <a:cxnLst/>
              <a:rect r="r" b="b" t="t" l="l"/>
              <a:pathLst>
                <a:path h="838581" w="11021568">
                  <a:moveTo>
                    <a:pt x="0" y="0"/>
                  </a:moveTo>
                  <a:lnTo>
                    <a:pt x="11021568" y="0"/>
                  </a:lnTo>
                  <a:lnTo>
                    <a:pt x="11021568" y="838581"/>
                  </a:lnTo>
                  <a:lnTo>
                    <a:pt x="0" y="838581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06094" r="0" b="-20609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9525"/>
              <a:ext cx="11021568" cy="8481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8"/>
                </a:lnSpc>
              </a:pPr>
              <a:r>
                <a:rPr lang="en-US" sz="2999" b="true">
                  <a:solidFill>
                    <a:srgbClr val="E8F5E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Result Screen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784080" y="6254496"/>
            <a:ext cx="8138160" cy="694944"/>
            <a:chOff x="0" y="0"/>
            <a:chExt cx="10850880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784080" y="6218777"/>
            <a:ext cx="8138160" cy="730663"/>
            <a:chOff x="0" y="0"/>
            <a:chExt cx="10850880" cy="97421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Final ranking (Police / Blue / Red) with scores &amp; %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784080" y="7022592"/>
            <a:ext cx="8138160" cy="694944"/>
            <a:chOff x="0" y="0"/>
            <a:chExt cx="10850880" cy="92659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784080" y="6986873"/>
            <a:ext cx="8138160" cy="730663"/>
            <a:chOff x="0" y="0"/>
            <a:chExt cx="10850880" cy="97421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0850880" cy="974217"/>
            </a:xfrm>
            <a:custGeom>
              <a:avLst/>
              <a:gdLst/>
              <a:ahLst/>
              <a:cxnLst/>
              <a:rect r="r" b="b" t="t" l="l"/>
              <a:pathLst>
                <a:path h="974217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74217"/>
                  </a:lnTo>
                  <a:lnTo>
                    <a:pt x="0" y="97421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67025" r="0" b="-167025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47625"/>
              <a:ext cx="10850880" cy="1021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 Captures, escapes, timeout summary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9784080" y="7790688"/>
            <a:ext cx="8138160" cy="694944"/>
            <a:chOff x="0" y="0"/>
            <a:chExt cx="10850880" cy="92659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0850880" cy="926592"/>
            </a:xfrm>
            <a:custGeom>
              <a:avLst/>
              <a:gdLst/>
              <a:ahLst/>
              <a:cxnLst/>
              <a:rect r="r" b="b" t="t" l="l"/>
              <a:pathLst>
                <a:path h="926592" w="10850880">
                  <a:moveTo>
                    <a:pt x="0" y="0"/>
                  </a:moveTo>
                  <a:lnTo>
                    <a:pt x="10850880" y="0"/>
                  </a:lnTo>
                  <a:lnTo>
                    <a:pt x="10850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78020" r="0" b="-178022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555480" y="9914763"/>
            <a:ext cx="8321040" cy="1188720"/>
            <a:chOff x="0" y="0"/>
            <a:chExt cx="11094720" cy="15849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10947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6300" r="0" b="-8630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7282160" y="9784080"/>
            <a:ext cx="822960" cy="480270"/>
            <a:chOff x="0" y="0"/>
            <a:chExt cx="1097280" cy="64035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1097280" cy="640334"/>
            </a:xfrm>
            <a:custGeom>
              <a:avLst/>
              <a:gdLst/>
              <a:ahLst/>
              <a:cxnLst/>
              <a:rect r="r" b="b" t="t" l="l"/>
              <a:pathLst>
                <a:path h="640334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40334"/>
                  </a:lnTo>
                  <a:lnTo>
                    <a:pt x="0" y="64033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928" t="0" r="-24928" b="-3"/>
              </a:stretch>
            </a:blipFill>
          </p:spPr>
        </p:sp>
      </p:grpSp>
      <p:sp>
        <p:nvSpPr>
          <p:cNvPr name="TextBox 102" id="10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383" y="1724663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7" y="0"/>
                </a:lnTo>
                <a:lnTo>
                  <a:pt x="38658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67863" y="172466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7" y="0"/>
                </a:lnTo>
                <a:lnTo>
                  <a:pt x="64261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Tools &amp; Technologies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548640" y="3132830"/>
            <a:ext cx="8437816" cy="1159193"/>
          </a:xfrm>
          <a:custGeom>
            <a:avLst/>
            <a:gdLst/>
            <a:ahLst/>
            <a:cxnLst/>
            <a:rect r="r" b="b" t="t" l="l"/>
            <a:pathLst>
              <a:path h="1159193" w="8437816">
                <a:moveTo>
                  <a:pt x="0" y="0"/>
                </a:moveTo>
                <a:lnTo>
                  <a:pt x="8437816" y="0"/>
                </a:lnTo>
                <a:lnTo>
                  <a:pt x="8437816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48640" y="3132830"/>
            <a:ext cx="171640" cy="1159193"/>
          </a:xfrm>
          <a:custGeom>
            <a:avLst/>
            <a:gdLst/>
            <a:ahLst/>
            <a:cxnLst/>
            <a:rect r="r" b="b" t="t" l="l"/>
            <a:pathLst>
              <a:path h="1159193" w="171640">
                <a:moveTo>
                  <a:pt x="0" y="0"/>
                </a:moveTo>
                <a:lnTo>
                  <a:pt x="171640" y="0"/>
                </a:lnTo>
                <a:lnTo>
                  <a:pt x="171640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27097" y="3145526"/>
            <a:ext cx="2743200" cy="1133856"/>
            <a:chOff x="0" y="0"/>
            <a:chExt cx="3657600" cy="151180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657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69" t="0" r="-3069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27097" y="3116951"/>
            <a:ext cx="2743200" cy="1162431"/>
            <a:chOff x="0" y="0"/>
            <a:chExt cx="3657600" cy="15499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576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368" t="0" r="-4368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3657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Game Engine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53177" y="3145526"/>
            <a:ext cx="4937760" cy="1133856"/>
            <a:chOff x="0" y="0"/>
            <a:chExt cx="6583680" cy="15118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795" r="0" b="-34795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853177" y="3109808"/>
            <a:ext cx="4937760" cy="1169575"/>
            <a:chOff x="0" y="0"/>
            <a:chExt cx="6583680" cy="155943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0" cy="1559433"/>
            </a:xfrm>
            <a:custGeom>
              <a:avLst/>
              <a:gdLst/>
              <a:ahLst/>
              <a:cxnLst/>
              <a:rect r="r" b="b" t="t" l="l"/>
              <a:pathLst>
                <a:path h="155943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262" r="0" b="-3226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83680" cy="1616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Godot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48640" y="4376414"/>
            <a:ext cx="8437816" cy="1159192"/>
          </a:xfrm>
          <a:custGeom>
            <a:avLst/>
            <a:gdLst/>
            <a:ahLst/>
            <a:cxnLst/>
            <a:rect r="r" b="b" t="t" l="l"/>
            <a:pathLst>
              <a:path h="1159192" w="8437816">
                <a:moveTo>
                  <a:pt x="0" y="0"/>
                </a:moveTo>
                <a:lnTo>
                  <a:pt x="8437816" y="0"/>
                </a:lnTo>
                <a:lnTo>
                  <a:pt x="8437816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48640" y="4376414"/>
            <a:ext cx="171640" cy="1159192"/>
          </a:xfrm>
          <a:custGeom>
            <a:avLst/>
            <a:gdLst/>
            <a:ahLst/>
            <a:cxnLst/>
            <a:rect r="r" b="b" t="t" l="l"/>
            <a:pathLst>
              <a:path h="1159192" w="171640">
                <a:moveTo>
                  <a:pt x="0" y="0"/>
                </a:moveTo>
                <a:lnTo>
                  <a:pt x="171640" y="0"/>
                </a:lnTo>
                <a:lnTo>
                  <a:pt x="171640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27097" y="4389110"/>
            <a:ext cx="2743200" cy="1133856"/>
            <a:chOff x="0" y="0"/>
            <a:chExt cx="3657600" cy="151180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69" t="0" r="-3069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27097" y="4360535"/>
            <a:ext cx="2743200" cy="1162431"/>
            <a:chOff x="0" y="0"/>
            <a:chExt cx="3657600" cy="154990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368" t="0" r="-4368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657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Language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853177" y="4389110"/>
            <a:ext cx="4937760" cy="1133856"/>
            <a:chOff x="0" y="0"/>
            <a:chExt cx="6583680" cy="151180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795" r="0" b="-3479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3853177" y="4353392"/>
            <a:ext cx="4937760" cy="1169575"/>
            <a:chOff x="0" y="0"/>
            <a:chExt cx="6583680" cy="155943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1559433"/>
            </a:xfrm>
            <a:custGeom>
              <a:avLst/>
              <a:gdLst/>
              <a:ahLst/>
              <a:cxnLst/>
              <a:rect r="r" b="b" t="t" l="l"/>
              <a:pathLst>
                <a:path h="155943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262" r="0" b="-322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6583680" cy="1616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5FC8D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GDScript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548640" y="5619998"/>
            <a:ext cx="8437816" cy="1159192"/>
          </a:xfrm>
          <a:custGeom>
            <a:avLst/>
            <a:gdLst/>
            <a:ahLst/>
            <a:cxnLst/>
            <a:rect r="r" b="b" t="t" l="l"/>
            <a:pathLst>
              <a:path h="1159192" w="8437816">
                <a:moveTo>
                  <a:pt x="0" y="0"/>
                </a:moveTo>
                <a:lnTo>
                  <a:pt x="8437816" y="0"/>
                </a:lnTo>
                <a:lnTo>
                  <a:pt x="8437816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48640" y="5619998"/>
            <a:ext cx="171640" cy="1159192"/>
          </a:xfrm>
          <a:custGeom>
            <a:avLst/>
            <a:gdLst/>
            <a:ahLst/>
            <a:cxnLst/>
            <a:rect r="r" b="b" t="t" l="l"/>
            <a:pathLst>
              <a:path h="1159192" w="171640">
                <a:moveTo>
                  <a:pt x="0" y="0"/>
                </a:moveTo>
                <a:lnTo>
                  <a:pt x="171640" y="0"/>
                </a:lnTo>
                <a:lnTo>
                  <a:pt x="171640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927097" y="5632694"/>
            <a:ext cx="2743200" cy="1133856"/>
            <a:chOff x="0" y="0"/>
            <a:chExt cx="3657600" cy="15118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7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69" t="0" r="-3069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27097" y="5604119"/>
            <a:ext cx="2743200" cy="1162431"/>
            <a:chOff x="0" y="0"/>
            <a:chExt cx="3657600" cy="15499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368" t="0" r="-436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3657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Technique 1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853177" y="5632694"/>
            <a:ext cx="4937760" cy="1133856"/>
            <a:chOff x="0" y="0"/>
            <a:chExt cx="6583680" cy="15118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5836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795" r="0" b="-34795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3853177" y="5596976"/>
            <a:ext cx="4937760" cy="1169575"/>
            <a:chOff x="0" y="0"/>
            <a:chExt cx="6583680" cy="155943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83680" cy="1559433"/>
            </a:xfrm>
            <a:custGeom>
              <a:avLst/>
              <a:gdLst/>
              <a:ahLst/>
              <a:cxnLst/>
              <a:rect r="r" b="b" t="t" l="l"/>
              <a:pathLst>
                <a:path h="155943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262" r="0" b="-3226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6583680" cy="1616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4CAF5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Fuzzy Logic Inference System</a:t>
              </a:r>
            </a:p>
          </p:txBody>
        </p:sp>
      </p:grpSp>
      <p:sp>
        <p:nvSpPr>
          <p:cNvPr name="Freeform 49" id="49"/>
          <p:cNvSpPr/>
          <p:nvPr/>
        </p:nvSpPr>
        <p:spPr>
          <a:xfrm flipH="false" flipV="false" rot="0">
            <a:off x="548640" y="6863582"/>
            <a:ext cx="8437816" cy="1159192"/>
          </a:xfrm>
          <a:custGeom>
            <a:avLst/>
            <a:gdLst/>
            <a:ahLst/>
            <a:cxnLst/>
            <a:rect r="r" b="b" t="t" l="l"/>
            <a:pathLst>
              <a:path h="1159192" w="8437816">
                <a:moveTo>
                  <a:pt x="0" y="0"/>
                </a:moveTo>
                <a:lnTo>
                  <a:pt x="8437816" y="0"/>
                </a:lnTo>
                <a:lnTo>
                  <a:pt x="8437816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548640" y="6863582"/>
            <a:ext cx="171640" cy="1159192"/>
          </a:xfrm>
          <a:custGeom>
            <a:avLst/>
            <a:gdLst/>
            <a:ahLst/>
            <a:cxnLst/>
            <a:rect r="r" b="b" t="t" l="l"/>
            <a:pathLst>
              <a:path h="1159192" w="171640">
                <a:moveTo>
                  <a:pt x="0" y="0"/>
                </a:moveTo>
                <a:lnTo>
                  <a:pt x="171640" y="0"/>
                </a:lnTo>
                <a:lnTo>
                  <a:pt x="171640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927097" y="6876278"/>
            <a:ext cx="2743200" cy="1133856"/>
            <a:chOff x="0" y="0"/>
            <a:chExt cx="3657600" cy="151180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69" t="0" r="-3069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27097" y="6847703"/>
            <a:ext cx="2743200" cy="1162431"/>
            <a:chOff x="0" y="0"/>
            <a:chExt cx="3657600" cy="154990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368" t="0" r="-4368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3657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Technique 2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3853177" y="6876278"/>
            <a:ext cx="4937760" cy="1133856"/>
            <a:chOff x="0" y="0"/>
            <a:chExt cx="6583680" cy="15118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5836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795" r="0" b="-34795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853177" y="6840560"/>
            <a:ext cx="4937760" cy="1169575"/>
            <a:chOff x="0" y="0"/>
            <a:chExt cx="6583680" cy="155943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83680" cy="1559433"/>
            </a:xfrm>
            <a:custGeom>
              <a:avLst/>
              <a:gdLst/>
              <a:ahLst/>
              <a:cxnLst/>
              <a:rect r="r" b="b" t="t" l="l"/>
              <a:pathLst>
                <a:path h="155943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262" r="0" b="-32262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57150"/>
              <a:ext cx="6583680" cy="1616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E0525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Minimax + Alpha-Beta Pruning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509760" y="3132830"/>
            <a:ext cx="8437816" cy="1159193"/>
          </a:xfrm>
          <a:custGeom>
            <a:avLst/>
            <a:gdLst/>
            <a:ahLst/>
            <a:cxnLst/>
            <a:rect r="r" b="b" t="t" l="l"/>
            <a:pathLst>
              <a:path h="1159193" w="8437816">
                <a:moveTo>
                  <a:pt x="0" y="0"/>
                </a:moveTo>
                <a:lnTo>
                  <a:pt x="8437816" y="0"/>
                </a:lnTo>
                <a:lnTo>
                  <a:pt x="8437816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9509760" y="3132830"/>
            <a:ext cx="171640" cy="1159193"/>
          </a:xfrm>
          <a:custGeom>
            <a:avLst/>
            <a:gdLst/>
            <a:ahLst/>
            <a:cxnLst/>
            <a:rect r="r" b="b" t="t" l="l"/>
            <a:pathLst>
              <a:path h="1159193" w="171640">
                <a:moveTo>
                  <a:pt x="0" y="0"/>
                </a:moveTo>
                <a:lnTo>
                  <a:pt x="171640" y="0"/>
                </a:lnTo>
                <a:lnTo>
                  <a:pt x="171640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3" id="63"/>
          <p:cNvGrpSpPr/>
          <p:nvPr/>
        </p:nvGrpSpPr>
        <p:grpSpPr>
          <a:xfrm rot="0">
            <a:off x="9888217" y="3145526"/>
            <a:ext cx="2743200" cy="1133856"/>
            <a:chOff x="0" y="0"/>
            <a:chExt cx="3657600" cy="151180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69" t="0" r="-3069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88217" y="3116951"/>
            <a:ext cx="2743200" cy="1162431"/>
            <a:chOff x="0" y="0"/>
            <a:chExt cx="3657600" cy="154990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368" t="0" r="-4368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3657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Technique 3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814297" y="3145526"/>
            <a:ext cx="4937760" cy="1133856"/>
            <a:chOff x="0" y="0"/>
            <a:chExt cx="6583680" cy="151180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5836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795" r="0" b="-34795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814297" y="3109808"/>
            <a:ext cx="4937760" cy="1169575"/>
            <a:chOff x="0" y="0"/>
            <a:chExt cx="6583680" cy="1559433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6583680" cy="1559433"/>
            </a:xfrm>
            <a:custGeom>
              <a:avLst/>
              <a:gdLst/>
              <a:ahLst/>
              <a:cxnLst/>
              <a:rect r="r" b="b" t="t" l="l"/>
              <a:pathLst>
                <a:path h="155943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262" r="0" b="-32262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57150"/>
              <a:ext cx="6583680" cy="1616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4FC3F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Monte Carlo Tree Search (MCTS)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9509760" y="4376414"/>
            <a:ext cx="8437816" cy="1159192"/>
          </a:xfrm>
          <a:custGeom>
            <a:avLst/>
            <a:gdLst/>
            <a:ahLst/>
            <a:cxnLst/>
            <a:rect r="r" b="b" t="t" l="l"/>
            <a:pathLst>
              <a:path h="1159192" w="8437816">
                <a:moveTo>
                  <a:pt x="0" y="0"/>
                </a:moveTo>
                <a:lnTo>
                  <a:pt x="8437816" y="0"/>
                </a:lnTo>
                <a:lnTo>
                  <a:pt x="8437816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9509760" y="4376414"/>
            <a:ext cx="171640" cy="1159192"/>
          </a:xfrm>
          <a:custGeom>
            <a:avLst/>
            <a:gdLst/>
            <a:ahLst/>
            <a:cxnLst/>
            <a:rect r="r" b="b" t="t" l="l"/>
            <a:pathLst>
              <a:path h="1159192" w="171640">
                <a:moveTo>
                  <a:pt x="0" y="0"/>
                </a:moveTo>
                <a:lnTo>
                  <a:pt x="171640" y="0"/>
                </a:lnTo>
                <a:lnTo>
                  <a:pt x="171640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5" id="75"/>
          <p:cNvGrpSpPr/>
          <p:nvPr/>
        </p:nvGrpSpPr>
        <p:grpSpPr>
          <a:xfrm rot="0">
            <a:off x="9888217" y="4389110"/>
            <a:ext cx="2743200" cy="1133856"/>
            <a:chOff x="0" y="0"/>
            <a:chExt cx="3657600" cy="151180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57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69" t="0" r="-3069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88217" y="4360535"/>
            <a:ext cx="2743200" cy="1162431"/>
            <a:chOff x="0" y="0"/>
            <a:chExt cx="3657600" cy="154990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6576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368" t="0" r="-4368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3657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814297" y="4389110"/>
            <a:ext cx="4937760" cy="1133856"/>
            <a:chOff x="0" y="0"/>
            <a:chExt cx="6583680" cy="151180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5836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795" r="0" b="-34795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814297" y="4353392"/>
            <a:ext cx="4937760" cy="1169575"/>
            <a:chOff x="0" y="0"/>
            <a:chExt cx="6583680" cy="155943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583680" cy="1559433"/>
            </a:xfrm>
            <a:custGeom>
              <a:avLst/>
              <a:gdLst/>
              <a:ahLst/>
              <a:cxnLst/>
              <a:rect r="r" b="b" t="t" l="l"/>
              <a:pathLst>
                <a:path h="155943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262" r="0" b="-3226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57150"/>
              <a:ext cx="6583680" cy="1616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A0C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Grid-based tile simulation</a:t>
              </a:r>
            </a:p>
          </p:txBody>
        </p:sp>
      </p:grpSp>
      <p:sp>
        <p:nvSpPr>
          <p:cNvPr name="Freeform 85" id="85"/>
          <p:cNvSpPr/>
          <p:nvPr/>
        </p:nvSpPr>
        <p:spPr>
          <a:xfrm flipH="false" flipV="false" rot="0">
            <a:off x="9509760" y="5619998"/>
            <a:ext cx="8437816" cy="1159192"/>
          </a:xfrm>
          <a:custGeom>
            <a:avLst/>
            <a:gdLst/>
            <a:ahLst/>
            <a:cxnLst/>
            <a:rect r="r" b="b" t="t" l="l"/>
            <a:pathLst>
              <a:path h="1159192" w="8437816">
                <a:moveTo>
                  <a:pt x="0" y="0"/>
                </a:moveTo>
                <a:lnTo>
                  <a:pt x="8437816" y="0"/>
                </a:lnTo>
                <a:lnTo>
                  <a:pt x="8437816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9509760" y="5619998"/>
            <a:ext cx="171640" cy="1159192"/>
          </a:xfrm>
          <a:custGeom>
            <a:avLst/>
            <a:gdLst/>
            <a:ahLst/>
            <a:cxnLst/>
            <a:rect r="r" b="b" t="t" l="l"/>
            <a:pathLst>
              <a:path h="1159192" w="171640">
                <a:moveTo>
                  <a:pt x="0" y="0"/>
                </a:moveTo>
                <a:lnTo>
                  <a:pt x="171640" y="0"/>
                </a:lnTo>
                <a:lnTo>
                  <a:pt x="171640" y="1159192"/>
                </a:lnTo>
                <a:lnTo>
                  <a:pt x="0" y="1159192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7" id="87"/>
          <p:cNvGrpSpPr/>
          <p:nvPr/>
        </p:nvGrpSpPr>
        <p:grpSpPr>
          <a:xfrm rot="0">
            <a:off x="9888217" y="5632694"/>
            <a:ext cx="2743200" cy="1133856"/>
            <a:chOff x="0" y="0"/>
            <a:chExt cx="3657600" cy="151180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3657600" cy="1511808"/>
            </a:xfrm>
            <a:custGeom>
              <a:avLst/>
              <a:gdLst/>
              <a:ahLst/>
              <a:cxnLst/>
              <a:rect r="r" b="b" t="t" l="l"/>
              <a:pathLst>
                <a:path h="15118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069" t="0" r="-3069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9888217" y="5604119"/>
            <a:ext cx="2743200" cy="1162431"/>
            <a:chOff x="0" y="0"/>
            <a:chExt cx="3657600" cy="154990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3657600" cy="1549908"/>
            </a:xfrm>
            <a:custGeom>
              <a:avLst/>
              <a:gdLst/>
              <a:ahLst/>
              <a:cxnLst/>
              <a:rect r="r" b="b" t="t" l="l"/>
              <a:pathLst>
                <a:path h="1549908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549908"/>
                  </a:lnTo>
                  <a:lnTo>
                    <a:pt x="0" y="1549908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-4368" t="0" r="-4368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47625"/>
              <a:ext cx="3657600" cy="15975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AACCB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814297" y="5632694"/>
            <a:ext cx="4937760" cy="1133856"/>
            <a:chOff x="0" y="0"/>
            <a:chExt cx="6583680" cy="151180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5836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4795" r="0" b="-34795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2814297" y="5596976"/>
            <a:ext cx="4937760" cy="1169575"/>
            <a:chOff x="0" y="0"/>
            <a:chExt cx="6583680" cy="1559433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6583680" cy="1559433"/>
            </a:xfrm>
            <a:custGeom>
              <a:avLst/>
              <a:gdLst/>
              <a:ahLst/>
              <a:cxnLst/>
              <a:rect r="r" b="b" t="t" l="l"/>
              <a:pathLst>
                <a:path h="1559433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559433"/>
                  </a:lnTo>
                  <a:lnTo>
                    <a:pt x="0" y="1559433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2262" r="0" b="-32262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57150"/>
              <a:ext cx="6583680" cy="16165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 b="true">
                  <a:solidFill>
                    <a:srgbClr val="A0C0B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Signal/Event-driven (EventBus autoload)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7282160" y="9784080"/>
            <a:ext cx="822960" cy="457200"/>
            <a:chOff x="0" y="0"/>
            <a:chExt cx="1097280" cy="60960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097280" cy="609600"/>
            </a:xfrm>
            <a:custGeom>
              <a:avLst/>
              <a:gdLst/>
              <a:ahLst/>
              <a:cxnLst/>
              <a:rect r="r" b="b" t="t" l="l"/>
              <a:pathLst>
                <a:path h="60960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1329" t="0" r="-21328" b="0"/>
              </a:stretch>
            </a:blipFill>
          </p:spPr>
        </p:sp>
      </p:grpSp>
      <p:sp>
        <p:nvSpPr>
          <p:cNvPr name="TextBox 99" id="9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7" r="0" b="-487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556480" y="9418320"/>
            <a:ext cx="640080" cy="640080"/>
            <a:chOff x="0" y="0"/>
            <a:chExt cx="853440" cy="853440"/>
          </a:xfrm>
        </p:grpSpPr>
        <p:sp>
          <p:nvSpPr>
            <p:cNvPr name="Freeform 5" id="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7383" y="1724663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7" y="0"/>
                </a:lnTo>
                <a:lnTo>
                  <a:pt x="38658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467863" y="172466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7" y="0"/>
                </a:lnTo>
                <a:lnTo>
                  <a:pt x="64261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97819" r="0" b="-19781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48640" y="146304"/>
            <a:ext cx="12801600" cy="1005840"/>
            <a:chOff x="0" y="0"/>
            <a:chExt cx="17068800" cy="13411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0688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7068800" cy="1341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Conclusion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44503" y="1998983"/>
            <a:ext cx="17398936" cy="1342072"/>
          </a:xfrm>
          <a:custGeom>
            <a:avLst/>
            <a:gdLst/>
            <a:ahLst/>
            <a:cxnLst/>
            <a:rect r="r" b="b" t="t" l="l"/>
            <a:pathLst>
              <a:path h="1342072" w="17398936">
                <a:moveTo>
                  <a:pt x="0" y="0"/>
                </a:moveTo>
                <a:lnTo>
                  <a:pt x="17398937" y="0"/>
                </a:lnTo>
                <a:lnTo>
                  <a:pt x="17398937" y="1342073"/>
                </a:lnTo>
                <a:lnTo>
                  <a:pt x="0" y="13420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694944" y="2066544"/>
            <a:ext cx="16898112" cy="1207008"/>
            <a:chOff x="0" y="0"/>
            <a:chExt cx="22530816" cy="160934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530815" cy="1609344"/>
            </a:xfrm>
            <a:custGeom>
              <a:avLst/>
              <a:gdLst/>
              <a:ahLst/>
              <a:cxnLst/>
              <a:rect r="r" b="b" t="t" l="l"/>
              <a:pathLst>
                <a:path h="1609344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2601" r="0" b="-22260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4944" y="2023682"/>
            <a:ext cx="16898112" cy="1249870"/>
            <a:chOff x="0" y="0"/>
            <a:chExt cx="22530816" cy="16664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530815" cy="1666494"/>
            </a:xfrm>
            <a:custGeom>
              <a:avLst/>
              <a:gdLst/>
              <a:ahLst/>
              <a:cxnLst/>
              <a:rect r="r" b="b" t="t" l="l"/>
              <a:pathLst>
                <a:path h="1666494" w="22530815">
                  <a:moveTo>
                    <a:pt x="0" y="0"/>
                  </a:moveTo>
                  <a:lnTo>
                    <a:pt x="22530815" y="0"/>
                  </a:lnTo>
                  <a:lnTo>
                    <a:pt x="22530815" y="1666494"/>
                  </a:lnTo>
                  <a:lnTo>
                    <a:pt x="0" y="166649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13435" r="0" b="-21343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22530816" cy="1723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Prison Break demonstrates a complete multi-agent AI simulation where three different AI paradigms compete in the same dynamic prison environment.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431797" y="3540757"/>
            <a:ext cx="5720144" cy="2153984"/>
          </a:xfrm>
          <a:custGeom>
            <a:avLst/>
            <a:gdLst/>
            <a:ahLst/>
            <a:cxnLst/>
            <a:rect r="r" b="b" t="t" l="l"/>
            <a:pathLst>
              <a:path h="2153984" w="5720144">
                <a:moveTo>
                  <a:pt x="0" y="0"/>
                </a:moveTo>
                <a:lnTo>
                  <a:pt x="5720143" y="0"/>
                </a:lnTo>
                <a:lnTo>
                  <a:pt x="5720143" y="2153983"/>
                </a:lnTo>
                <a:lnTo>
                  <a:pt x="0" y="215398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44503" y="3553463"/>
            <a:ext cx="5694616" cy="171640"/>
          </a:xfrm>
          <a:custGeom>
            <a:avLst/>
            <a:gdLst/>
            <a:ahLst/>
            <a:cxnLst/>
            <a:rect r="r" b="b" t="t" l="l"/>
            <a:pathLst>
              <a:path h="171640" w="5694616">
                <a:moveTo>
                  <a:pt x="0" y="0"/>
                </a:moveTo>
                <a:lnTo>
                  <a:pt x="5694617" y="0"/>
                </a:lnTo>
                <a:lnTo>
                  <a:pt x="5694617" y="171641"/>
                </a:lnTo>
                <a:lnTo>
                  <a:pt x="0" y="17164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676656" y="3749040"/>
            <a:ext cx="5230368" cy="1792224"/>
            <a:chOff x="0" y="0"/>
            <a:chExt cx="6973824" cy="23896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824" cy="2389632"/>
            </a:xfrm>
            <a:custGeom>
              <a:avLst/>
              <a:gdLst/>
              <a:ahLst/>
              <a:cxnLst/>
              <a:rect r="r" b="b" t="t" l="l"/>
              <a:pathLst>
                <a:path h="238963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825" r="0" b="-682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76656" y="3713321"/>
            <a:ext cx="5230368" cy="1827943"/>
            <a:chOff x="0" y="0"/>
            <a:chExt cx="6973824" cy="243725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73824" cy="2437257"/>
            </a:xfrm>
            <a:custGeom>
              <a:avLst/>
              <a:gdLst/>
              <a:ahLst/>
              <a:cxnLst/>
              <a:rect r="r" b="b" t="t" l="l"/>
              <a:pathLst>
                <a:path h="2437257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2437257"/>
                  </a:lnTo>
                  <a:lnTo>
                    <a:pt x="0" y="243725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753" r="0" b="-57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973824" cy="2475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Fuzzy Logic gives the Police/Hunter human-like, uncertainty-aware behaviour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6320533" y="3540757"/>
            <a:ext cx="5720144" cy="2153984"/>
          </a:xfrm>
          <a:custGeom>
            <a:avLst/>
            <a:gdLst/>
            <a:ahLst/>
            <a:cxnLst/>
            <a:rect r="r" b="b" t="t" l="l"/>
            <a:pathLst>
              <a:path h="2153984" w="5720144">
                <a:moveTo>
                  <a:pt x="0" y="0"/>
                </a:moveTo>
                <a:lnTo>
                  <a:pt x="5720143" y="0"/>
                </a:lnTo>
                <a:lnTo>
                  <a:pt x="5720143" y="2153983"/>
                </a:lnTo>
                <a:lnTo>
                  <a:pt x="0" y="2153983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6333239" y="3553463"/>
            <a:ext cx="5694616" cy="171640"/>
          </a:xfrm>
          <a:custGeom>
            <a:avLst/>
            <a:gdLst/>
            <a:ahLst/>
            <a:cxnLst/>
            <a:rect r="r" b="b" t="t" l="l"/>
            <a:pathLst>
              <a:path h="171640" w="5694616">
                <a:moveTo>
                  <a:pt x="0" y="0"/>
                </a:moveTo>
                <a:lnTo>
                  <a:pt x="5694617" y="0"/>
                </a:lnTo>
                <a:lnTo>
                  <a:pt x="5694617" y="171641"/>
                </a:lnTo>
                <a:lnTo>
                  <a:pt x="0" y="17164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565392" y="3749040"/>
            <a:ext cx="5230368" cy="1792224"/>
            <a:chOff x="0" y="0"/>
            <a:chExt cx="6973824" cy="23896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73824" cy="2389632"/>
            </a:xfrm>
            <a:custGeom>
              <a:avLst/>
              <a:gdLst/>
              <a:ahLst/>
              <a:cxnLst/>
              <a:rect r="r" b="b" t="t" l="l"/>
              <a:pathLst>
                <a:path h="238963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825" r="0" b="-682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65392" y="3713321"/>
            <a:ext cx="5230368" cy="1827943"/>
            <a:chOff x="0" y="0"/>
            <a:chExt cx="6973824" cy="243725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73824" cy="2437257"/>
            </a:xfrm>
            <a:custGeom>
              <a:avLst/>
              <a:gdLst/>
              <a:ahLst/>
              <a:cxnLst/>
              <a:rect r="r" b="b" t="t" l="l"/>
              <a:pathLst>
                <a:path h="2437257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2437257"/>
                  </a:lnTo>
                  <a:lnTo>
                    <a:pt x="0" y="243725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753" r="0" b="-57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6973824" cy="2475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Minimax provides deterministic adversarial planning for the Red prisoner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2209269" y="3540757"/>
            <a:ext cx="5720144" cy="2153984"/>
          </a:xfrm>
          <a:custGeom>
            <a:avLst/>
            <a:gdLst/>
            <a:ahLst/>
            <a:cxnLst/>
            <a:rect r="r" b="b" t="t" l="l"/>
            <a:pathLst>
              <a:path h="2153984" w="5720144">
                <a:moveTo>
                  <a:pt x="0" y="0"/>
                </a:moveTo>
                <a:lnTo>
                  <a:pt x="5720143" y="0"/>
                </a:lnTo>
                <a:lnTo>
                  <a:pt x="5720143" y="2153983"/>
                </a:lnTo>
                <a:lnTo>
                  <a:pt x="0" y="2153983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221975" y="3553463"/>
            <a:ext cx="5694616" cy="171640"/>
          </a:xfrm>
          <a:custGeom>
            <a:avLst/>
            <a:gdLst/>
            <a:ahLst/>
            <a:cxnLst/>
            <a:rect r="r" b="b" t="t" l="l"/>
            <a:pathLst>
              <a:path h="171640" w="5694616">
                <a:moveTo>
                  <a:pt x="0" y="0"/>
                </a:moveTo>
                <a:lnTo>
                  <a:pt x="5694617" y="0"/>
                </a:lnTo>
                <a:lnTo>
                  <a:pt x="5694617" y="171641"/>
                </a:lnTo>
                <a:lnTo>
                  <a:pt x="0" y="171641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2454128" y="3749040"/>
            <a:ext cx="5230368" cy="1792224"/>
            <a:chOff x="0" y="0"/>
            <a:chExt cx="6973824" cy="23896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73824" cy="2389632"/>
            </a:xfrm>
            <a:custGeom>
              <a:avLst/>
              <a:gdLst/>
              <a:ahLst/>
              <a:cxnLst/>
              <a:rect r="r" b="b" t="t" l="l"/>
              <a:pathLst>
                <a:path h="2389632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825" r="0" b="-6825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54128" y="3713321"/>
            <a:ext cx="5230368" cy="1827943"/>
            <a:chOff x="0" y="0"/>
            <a:chExt cx="6973824" cy="243725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73824" cy="2437257"/>
            </a:xfrm>
            <a:custGeom>
              <a:avLst/>
              <a:gdLst/>
              <a:ahLst/>
              <a:cxnLst/>
              <a:rect r="r" b="b" t="t" l="l"/>
              <a:pathLst>
                <a:path h="2437257" w="6973824">
                  <a:moveTo>
                    <a:pt x="0" y="0"/>
                  </a:moveTo>
                  <a:lnTo>
                    <a:pt x="6973824" y="0"/>
                  </a:lnTo>
                  <a:lnTo>
                    <a:pt x="6973824" y="2437257"/>
                  </a:lnTo>
                  <a:lnTo>
                    <a:pt x="0" y="2437257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5753" r="0" b="-57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973824" cy="24753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MCTS enables simulation-based exploration for the stealthy Blue prisoner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5604510" y="6120984"/>
            <a:ext cx="7078980" cy="2561844"/>
          </a:xfrm>
          <a:custGeom>
            <a:avLst/>
            <a:gdLst/>
            <a:ahLst/>
            <a:cxnLst/>
            <a:rect r="r" b="b" t="t" l="l"/>
            <a:pathLst>
              <a:path h="2561844" w="7078980">
                <a:moveTo>
                  <a:pt x="0" y="0"/>
                </a:moveTo>
                <a:lnTo>
                  <a:pt x="7078980" y="0"/>
                </a:lnTo>
                <a:lnTo>
                  <a:pt x="7078980" y="2561844"/>
                </a:lnTo>
                <a:lnTo>
                  <a:pt x="0" y="2561844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5610863" y="6127337"/>
            <a:ext cx="7066216" cy="665416"/>
          </a:xfrm>
          <a:custGeom>
            <a:avLst/>
            <a:gdLst/>
            <a:ahLst/>
            <a:cxnLst/>
            <a:rect r="r" b="b" t="t" l="l"/>
            <a:pathLst>
              <a:path h="665416" w="7066216">
                <a:moveTo>
                  <a:pt x="0" y="0"/>
                </a:moveTo>
                <a:lnTo>
                  <a:pt x="7066217" y="0"/>
                </a:lnTo>
                <a:lnTo>
                  <a:pt x="7066217" y="665417"/>
                </a:lnTo>
                <a:lnTo>
                  <a:pt x="0" y="66541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5806440" y="6140034"/>
            <a:ext cx="6675120" cy="640080"/>
            <a:chOff x="0" y="0"/>
            <a:chExt cx="8900160" cy="8534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900160" cy="853440"/>
            </a:xfrm>
            <a:custGeom>
              <a:avLst/>
              <a:gdLst/>
              <a:ahLst/>
              <a:cxnLst/>
              <a:rect r="r" b="b" t="t" l="l"/>
              <a:pathLst>
                <a:path h="853440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3059" r="0" b="-153059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806440" y="6104315"/>
            <a:ext cx="6675120" cy="675799"/>
            <a:chOff x="0" y="0"/>
            <a:chExt cx="8900160" cy="90106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900160" cy="901065"/>
            </a:xfrm>
            <a:custGeom>
              <a:avLst/>
              <a:gdLst/>
              <a:ahLst/>
              <a:cxnLst/>
              <a:rect r="r" b="b" t="t" l="l"/>
              <a:pathLst>
                <a:path h="901065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901065"/>
                  </a:lnTo>
                  <a:lnTo>
                    <a:pt x="0" y="901065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142461" r="0" b="-14246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900160" cy="939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Strongest Contribution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806440" y="6834978"/>
            <a:ext cx="6675120" cy="1755648"/>
            <a:chOff x="0" y="0"/>
            <a:chExt cx="8900160" cy="23408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00160" cy="2340864"/>
            </a:xfrm>
            <a:custGeom>
              <a:avLst/>
              <a:gdLst/>
              <a:ahLst/>
              <a:cxnLst/>
              <a:rect r="r" b="b" t="t" l="l"/>
              <a:pathLst>
                <a:path h="234086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340864"/>
                  </a:lnTo>
                  <a:lnTo>
                    <a:pt x="0" y="23408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4032" r="0" b="-24032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806440" y="6806403"/>
            <a:ext cx="6675120" cy="1784223"/>
            <a:chOff x="0" y="0"/>
            <a:chExt cx="8900160" cy="23789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00160" cy="2378964"/>
            </a:xfrm>
            <a:custGeom>
              <a:avLst/>
              <a:gdLst/>
              <a:ahLst/>
              <a:cxnLst/>
              <a:rect r="r" b="b" t="t" l="l"/>
              <a:pathLst>
                <a:path h="2378964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2378964"/>
                  </a:lnTo>
                  <a:lnTo>
                    <a:pt x="0" y="237896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22897" r="0" b="-2289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900160" cy="2426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Visible AI Reasoning — supporting systems (CCTV, dog, fire, exits, danger maps, replay, AI analysis) make the environment explainable and suitable for AI Lab demonstration.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982" y="2352932"/>
            <a:ext cx="17216056" cy="573976"/>
          </a:xfrm>
          <a:custGeom>
            <a:avLst/>
            <a:gdLst/>
            <a:ahLst/>
            <a:cxnLst/>
            <a:rect r="r" b="b" t="t" l="l"/>
            <a:pathLst>
              <a:path h="573976" w="17216056">
                <a:moveTo>
                  <a:pt x="0" y="0"/>
                </a:moveTo>
                <a:lnTo>
                  <a:pt x="17216056" y="0"/>
                </a:lnTo>
                <a:lnTo>
                  <a:pt x="17216056" y="573977"/>
                </a:lnTo>
                <a:lnTo>
                  <a:pt x="0" y="57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83559" y="2365629"/>
            <a:ext cx="16824960" cy="581120"/>
            <a:chOff x="0" y="0"/>
            <a:chExt cx="22433280" cy="7748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433280" cy="774827"/>
            </a:xfrm>
            <a:custGeom>
              <a:avLst/>
              <a:gdLst/>
              <a:ahLst/>
              <a:cxnLst/>
              <a:rect r="r" b="b" t="t" l="l"/>
              <a:pathLst>
                <a:path h="774827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74827"/>
                  </a:lnTo>
                  <a:lnTo>
                    <a:pt x="0" y="7748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13751" r="0" b="-51375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83559" y="2322766"/>
            <a:ext cx="16824960" cy="623979"/>
            <a:chOff x="0" y="0"/>
            <a:chExt cx="22433280" cy="83197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33280" cy="831968"/>
            </a:xfrm>
            <a:custGeom>
              <a:avLst/>
              <a:gdLst/>
              <a:ahLst/>
              <a:cxnLst/>
              <a:rect r="r" b="b" t="t" l="l"/>
              <a:pathLst>
                <a:path h="83196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31968"/>
                  </a:lnTo>
                  <a:lnTo>
                    <a:pt x="0" y="83196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5396" r="0" b="-47539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2433280" cy="8891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E8F5E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REFERENCES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87982" y="2938148"/>
            <a:ext cx="17216056" cy="464248"/>
          </a:xfrm>
          <a:custGeom>
            <a:avLst/>
            <a:gdLst/>
            <a:ahLst/>
            <a:cxnLst/>
            <a:rect r="r" b="b" t="t" l="l"/>
            <a:pathLst>
              <a:path h="464248" w="17216056">
                <a:moveTo>
                  <a:pt x="0" y="0"/>
                </a:moveTo>
                <a:lnTo>
                  <a:pt x="17216056" y="0"/>
                </a:lnTo>
                <a:lnTo>
                  <a:pt x="17216056" y="464249"/>
                </a:lnTo>
                <a:lnTo>
                  <a:pt x="0" y="4642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83559" y="2950845"/>
            <a:ext cx="16824960" cy="518703"/>
            <a:chOff x="0" y="0"/>
            <a:chExt cx="22433280" cy="6916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433280" cy="691642"/>
            </a:xfrm>
            <a:custGeom>
              <a:avLst/>
              <a:gdLst/>
              <a:ahLst/>
              <a:cxnLst/>
              <a:rect r="r" b="b" t="t" l="l"/>
              <a:pathLst>
                <a:path h="69164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91642"/>
                  </a:lnTo>
                  <a:lnTo>
                    <a:pt x="0" y="6916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557" r="0" b="-58155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83559" y="2907983"/>
            <a:ext cx="16824960" cy="561566"/>
            <a:chOff x="0" y="0"/>
            <a:chExt cx="22433280" cy="74875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433280" cy="748754"/>
            </a:xfrm>
            <a:custGeom>
              <a:avLst/>
              <a:gdLst/>
              <a:ahLst/>
              <a:cxnLst/>
              <a:rect r="r" b="b" t="t" l="l"/>
              <a:pathLst>
                <a:path h="74875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48754"/>
                  </a:lnTo>
                  <a:lnTo>
                    <a:pt x="0" y="748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3787" r="0" b="-53378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2433280" cy="805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[1]  Russell &amp; Norvig — Artificial Intelligence: A Modern Approach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87982" y="3395348"/>
            <a:ext cx="17216056" cy="464249"/>
          </a:xfrm>
          <a:custGeom>
            <a:avLst/>
            <a:gdLst/>
            <a:ahLst/>
            <a:cxnLst/>
            <a:rect r="r" b="b" t="t" l="l"/>
            <a:pathLst>
              <a:path h="464249" w="17216056">
                <a:moveTo>
                  <a:pt x="0" y="0"/>
                </a:moveTo>
                <a:lnTo>
                  <a:pt x="17216056" y="0"/>
                </a:lnTo>
                <a:lnTo>
                  <a:pt x="17216056" y="464249"/>
                </a:lnTo>
                <a:lnTo>
                  <a:pt x="0" y="4642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83559" y="3408045"/>
            <a:ext cx="16824960" cy="518703"/>
            <a:chOff x="0" y="0"/>
            <a:chExt cx="22433280" cy="6916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433280" cy="691642"/>
            </a:xfrm>
            <a:custGeom>
              <a:avLst/>
              <a:gdLst/>
              <a:ahLst/>
              <a:cxnLst/>
              <a:rect r="r" b="b" t="t" l="l"/>
              <a:pathLst>
                <a:path h="69164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91642"/>
                  </a:lnTo>
                  <a:lnTo>
                    <a:pt x="0" y="6916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557" r="0" b="-581551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83559" y="3365183"/>
            <a:ext cx="16824960" cy="561566"/>
            <a:chOff x="0" y="0"/>
            <a:chExt cx="22433280" cy="74875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433280" cy="748754"/>
            </a:xfrm>
            <a:custGeom>
              <a:avLst/>
              <a:gdLst/>
              <a:ahLst/>
              <a:cxnLst/>
              <a:rect r="r" b="b" t="t" l="l"/>
              <a:pathLst>
                <a:path h="74875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48754"/>
                  </a:lnTo>
                  <a:lnTo>
                    <a:pt x="0" y="748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3787" r="0" b="-53378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2433280" cy="805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[2]  Browne et al. — A Survey of Monte Carlo Tree Search Methods (IEEE, 2012)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87982" y="3852548"/>
            <a:ext cx="17216056" cy="464249"/>
          </a:xfrm>
          <a:custGeom>
            <a:avLst/>
            <a:gdLst/>
            <a:ahLst/>
            <a:cxnLst/>
            <a:rect r="r" b="b" t="t" l="l"/>
            <a:pathLst>
              <a:path h="464249" w="17216056">
                <a:moveTo>
                  <a:pt x="0" y="0"/>
                </a:moveTo>
                <a:lnTo>
                  <a:pt x="17216056" y="0"/>
                </a:lnTo>
                <a:lnTo>
                  <a:pt x="17216056" y="464249"/>
                </a:lnTo>
                <a:lnTo>
                  <a:pt x="0" y="4642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583559" y="3865245"/>
            <a:ext cx="16824960" cy="518703"/>
            <a:chOff x="0" y="0"/>
            <a:chExt cx="22433280" cy="69160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433280" cy="691642"/>
            </a:xfrm>
            <a:custGeom>
              <a:avLst/>
              <a:gdLst/>
              <a:ahLst/>
              <a:cxnLst/>
              <a:rect r="r" b="b" t="t" l="l"/>
              <a:pathLst>
                <a:path h="69164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91642"/>
                  </a:lnTo>
                  <a:lnTo>
                    <a:pt x="0" y="6916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557" r="0" b="-581551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83559" y="3822383"/>
            <a:ext cx="16824960" cy="561566"/>
            <a:chOff x="0" y="0"/>
            <a:chExt cx="22433280" cy="74875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433280" cy="748754"/>
            </a:xfrm>
            <a:custGeom>
              <a:avLst/>
              <a:gdLst/>
              <a:ahLst/>
              <a:cxnLst/>
              <a:rect r="r" b="b" t="t" l="l"/>
              <a:pathLst>
                <a:path h="74875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48754"/>
                  </a:lnTo>
                  <a:lnTo>
                    <a:pt x="0" y="748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3787" r="0" b="-53378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2433280" cy="805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[3]  Knuth &amp; Moore — An Analysis of Alpha-Beta Pruning (Artificial Intelligence, 1975)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87982" y="4309748"/>
            <a:ext cx="17216056" cy="464249"/>
          </a:xfrm>
          <a:custGeom>
            <a:avLst/>
            <a:gdLst/>
            <a:ahLst/>
            <a:cxnLst/>
            <a:rect r="r" b="b" t="t" l="l"/>
            <a:pathLst>
              <a:path h="464249" w="17216056">
                <a:moveTo>
                  <a:pt x="0" y="0"/>
                </a:moveTo>
                <a:lnTo>
                  <a:pt x="17216056" y="0"/>
                </a:lnTo>
                <a:lnTo>
                  <a:pt x="17216056" y="464249"/>
                </a:lnTo>
                <a:lnTo>
                  <a:pt x="0" y="4642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583559" y="4322445"/>
            <a:ext cx="16824960" cy="518703"/>
            <a:chOff x="0" y="0"/>
            <a:chExt cx="22433280" cy="6916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433280" cy="691642"/>
            </a:xfrm>
            <a:custGeom>
              <a:avLst/>
              <a:gdLst/>
              <a:ahLst/>
              <a:cxnLst/>
              <a:rect r="r" b="b" t="t" l="l"/>
              <a:pathLst>
                <a:path h="69164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91642"/>
                  </a:lnTo>
                  <a:lnTo>
                    <a:pt x="0" y="6916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557" r="0" b="-58155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83559" y="4279582"/>
            <a:ext cx="16824960" cy="561566"/>
            <a:chOff x="0" y="0"/>
            <a:chExt cx="22433280" cy="74875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433280" cy="748754"/>
            </a:xfrm>
            <a:custGeom>
              <a:avLst/>
              <a:gdLst/>
              <a:ahLst/>
              <a:cxnLst/>
              <a:rect r="r" b="b" t="t" l="l"/>
              <a:pathLst>
                <a:path h="74875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48754"/>
                  </a:lnTo>
                  <a:lnTo>
                    <a:pt x="0" y="748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3787" r="0" b="-53378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22433280" cy="805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[4]  Zadeh, L.A. — Fuzzy Sets (Information and Control, 1965)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387982" y="4766948"/>
            <a:ext cx="17216056" cy="464249"/>
          </a:xfrm>
          <a:custGeom>
            <a:avLst/>
            <a:gdLst/>
            <a:ahLst/>
            <a:cxnLst/>
            <a:rect r="r" b="b" t="t" l="l"/>
            <a:pathLst>
              <a:path h="464249" w="17216056">
                <a:moveTo>
                  <a:pt x="0" y="0"/>
                </a:moveTo>
                <a:lnTo>
                  <a:pt x="17216056" y="0"/>
                </a:lnTo>
                <a:lnTo>
                  <a:pt x="17216056" y="464249"/>
                </a:lnTo>
                <a:lnTo>
                  <a:pt x="0" y="4642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583559" y="4779645"/>
            <a:ext cx="16824960" cy="518703"/>
            <a:chOff x="0" y="0"/>
            <a:chExt cx="22433280" cy="6916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33280" cy="691642"/>
            </a:xfrm>
            <a:custGeom>
              <a:avLst/>
              <a:gdLst/>
              <a:ahLst/>
              <a:cxnLst/>
              <a:rect r="r" b="b" t="t" l="l"/>
              <a:pathLst>
                <a:path h="69164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691642"/>
                  </a:lnTo>
                  <a:lnTo>
                    <a:pt x="0" y="69164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81557" r="0" b="-581551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583559" y="4736782"/>
            <a:ext cx="16824960" cy="561566"/>
            <a:chOff x="0" y="0"/>
            <a:chExt cx="22433280" cy="7487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433280" cy="748754"/>
            </a:xfrm>
            <a:custGeom>
              <a:avLst/>
              <a:gdLst/>
              <a:ahLst/>
              <a:cxnLst/>
              <a:rect r="r" b="b" t="t" l="l"/>
              <a:pathLst>
                <a:path h="748754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748754"/>
                  </a:lnTo>
                  <a:lnTo>
                    <a:pt x="0" y="7487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33787" r="0" b="-53378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22433280" cy="8059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699">
                  <a:solidFill>
                    <a:srgbClr val="B0D4C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[5]  Hart, Nilsson &amp; Raphael — A* Pathfinding (IEEE, 1968)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167360" y="0"/>
            <a:ext cx="5120640" cy="1737360"/>
            <a:chOff x="0" y="0"/>
            <a:chExt cx="6827520" cy="231648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68275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316480"/>
                  </a:lnTo>
                  <a:lnTo>
                    <a:pt x="0" y="2316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87" r="0" b="-487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627383" y="1724663"/>
            <a:ext cx="3865816" cy="107632"/>
          </a:xfrm>
          <a:custGeom>
            <a:avLst/>
            <a:gdLst/>
            <a:ahLst/>
            <a:cxnLst/>
            <a:rect r="r" b="b" t="t" l="l"/>
            <a:pathLst>
              <a:path h="107632" w="3865816">
                <a:moveTo>
                  <a:pt x="0" y="0"/>
                </a:moveTo>
                <a:lnTo>
                  <a:pt x="3865817" y="0"/>
                </a:lnTo>
                <a:lnTo>
                  <a:pt x="386581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4467863" y="1724663"/>
            <a:ext cx="6426136" cy="107632"/>
          </a:xfrm>
          <a:custGeom>
            <a:avLst/>
            <a:gdLst/>
            <a:ahLst/>
            <a:cxnLst/>
            <a:rect r="r" b="b" t="t" l="l"/>
            <a:pathLst>
              <a:path h="107632" w="6426136">
                <a:moveTo>
                  <a:pt x="0" y="0"/>
                </a:moveTo>
                <a:lnTo>
                  <a:pt x="6426137" y="0"/>
                </a:lnTo>
                <a:lnTo>
                  <a:pt x="6426137" y="107633"/>
                </a:lnTo>
                <a:lnTo>
                  <a:pt x="0" y="10763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548640" y="146304"/>
            <a:ext cx="12801600" cy="1456563"/>
            <a:chOff x="0" y="0"/>
            <a:chExt cx="17068800" cy="19420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00" cy="1942084"/>
            </a:xfrm>
            <a:custGeom>
              <a:avLst/>
              <a:gdLst/>
              <a:ahLst/>
              <a:cxnLst/>
              <a:rect r="r" b="b" t="t" l="l"/>
              <a:pathLst>
                <a:path h="1942084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942084"/>
                  </a:lnTo>
                  <a:lnTo>
                    <a:pt x="0" y="19420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1133" r="0" b="-121133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48640" y="146304"/>
            <a:ext cx="12801600" cy="1456563"/>
            <a:chOff x="0" y="0"/>
            <a:chExt cx="17068800" cy="19420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068800" cy="1942084"/>
            </a:xfrm>
            <a:custGeom>
              <a:avLst/>
              <a:gdLst/>
              <a:ahLst/>
              <a:cxnLst/>
              <a:rect r="r" b="b" t="t" l="l"/>
              <a:pathLst>
                <a:path h="1942084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942084"/>
                  </a:lnTo>
                  <a:lnTo>
                    <a:pt x="0" y="19420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252" r="0" b="-12125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17068800" cy="1942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40"/>
                </a:lnSpc>
              </a:pPr>
              <a:r>
                <a:rPr lang="en-US" sz="7200" spc="-43">
                  <a:solidFill>
                    <a:srgbClr val="B0D4C8"/>
                  </a:solidFill>
                  <a:latin typeface="TT Rounds Condensed"/>
                  <a:ea typeface="TT Rounds Condensed"/>
                  <a:cs typeface="TT Rounds Condensed"/>
                  <a:sym typeface="TT Rounds Condensed"/>
                </a:rPr>
                <a:t>References 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84234" y="2114550"/>
            <a:ext cx="6505042" cy="1737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E8F5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52341" y="5784752"/>
            <a:ext cx="9783318" cy="982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8"/>
              </a:lnSpc>
            </a:pPr>
            <a:r>
              <a:rPr lang="en-US" sz="5198" b="true">
                <a:solidFill>
                  <a:srgbClr val="E8F5E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 you have any questions  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E8F5EF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DAHIIP4QVyg</dc:identifier>
  <dcterms:modified xsi:type="dcterms:W3CDTF">2011-08-01T06:04:30Z</dcterms:modified>
  <cp:revision>1</cp:revision>
  <dc:title>prison_break_ai.pptx</dc:title>
</cp:coreProperties>
</file>